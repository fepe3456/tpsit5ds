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12192000"/>
  <p:embeddedFontLst>
    <p:embeddedFont>
      <p:font typeface="IBM Plex Sans"/>
      <p:regular r:id="rId31"/>
      <p:bold r:id="rId32"/>
      <p:italic r:id="rId33"/>
      <p:boldItalic r:id="rId34"/>
    </p:embeddedFont>
    <p:embeddedFont>
      <p:font typeface="JetBrains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gUI7I6Fd5AJTLvHso5ThttEN/4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BMPlexSans-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IBMPlexSans-italic.fntdata"/><Relationship Id="rId10" Type="http://schemas.openxmlformats.org/officeDocument/2006/relationships/slide" Target="slides/slide6.xml"/><Relationship Id="rId32" Type="http://schemas.openxmlformats.org/officeDocument/2006/relationships/font" Target="fonts/IBMPlexSans-bold.fntdata"/><Relationship Id="rId13" Type="http://schemas.openxmlformats.org/officeDocument/2006/relationships/slide" Target="slides/slide9.xml"/><Relationship Id="rId35" Type="http://schemas.openxmlformats.org/officeDocument/2006/relationships/font" Target="fonts/JetBrainsMono-regular.fntdata"/><Relationship Id="rId12" Type="http://schemas.openxmlformats.org/officeDocument/2006/relationships/slide" Target="slides/slide8.xml"/><Relationship Id="rId34" Type="http://schemas.openxmlformats.org/officeDocument/2006/relationships/font" Target="fonts/IBMPlexSans-boldItalic.fntdata"/><Relationship Id="rId15" Type="http://schemas.openxmlformats.org/officeDocument/2006/relationships/slide" Target="slides/slide11.xml"/><Relationship Id="rId37" Type="http://schemas.openxmlformats.org/officeDocument/2006/relationships/font" Target="fonts/JetBrainsMono-italic.fntdata"/><Relationship Id="rId14" Type="http://schemas.openxmlformats.org/officeDocument/2006/relationships/slide" Target="slides/slide10.xml"/><Relationship Id="rId36" Type="http://schemas.openxmlformats.org/officeDocument/2006/relationships/font" Target="fonts/JetBrainsMono-bold.fntdata"/><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font" Target="fonts/JetBrainsMono-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1pPr>
            <a:lvl2pPr lvl="1"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2pPr>
            <a:lvl3pPr lvl="2"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3pPr>
            <a:lvl4pPr lvl="3"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4pPr>
            <a:lvl5pPr lvl="4"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5pPr>
            <a:lvl6pPr lvl="5"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6pPr>
            <a:lvl7pPr lvl="6"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7pPr>
            <a:lvl8pPr lvl="7"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8pPr>
            <a:lvl9pPr lvl="8"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1pPr>
            <a:lvl2pPr lvl="1"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2pPr>
            <a:lvl3pPr lvl="2"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3pPr>
            <a:lvl4pPr lvl="3"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4pPr>
            <a:lvl5pPr lvl="4"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5pPr>
            <a:lvl6pPr lvl="5"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6pPr>
            <a:lvl7pPr lvl="6"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7pPr>
            <a:lvl8pPr lvl="7"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8pPr>
            <a:lvl9pPr lvl="8"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1pPr>
            <a:lvl2pPr indent="-228600" lvl="1" marL="91440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2pPr>
            <a:lvl3pPr indent="-228600" lvl="2" marL="137160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3pPr>
            <a:lvl4pPr indent="-228600" lvl="3" marL="182880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4pPr>
            <a:lvl5pPr indent="-228600" lvl="4" marL="228600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5pPr>
            <a:lvl6pPr indent="-228600" lvl="5" marL="274320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6pPr>
            <a:lvl7pPr indent="-228600" lvl="6" marL="320040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7pPr>
            <a:lvl8pPr indent="-228600" lvl="7" marL="365760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8pPr>
            <a:lvl9pPr indent="-228600" lvl="8" marL="411480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JetBrains Mono"/>
                <a:ea typeface="JetBrains Mono"/>
                <a:cs typeface="JetBrains Mono"/>
                <a:sym typeface="JetBrains Mono"/>
              </a:defRPr>
            </a:lvl1pPr>
            <a:lvl2pPr lvl="1"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2pPr>
            <a:lvl3pPr lvl="2"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3pPr>
            <a:lvl4pPr lvl="3"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4pPr>
            <a:lvl5pPr lvl="4"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5pPr>
            <a:lvl6pPr lvl="5"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6pPr>
            <a:lvl7pPr lvl="6"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7pPr>
            <a:lvl8pPr lvl="7"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8pPr>
            <a:lvl9pPr lvl="8" marR="0" rtl="0" algn="l">
              <a:spcBef>
                <a:spcPts val="0"/>
              </a:spcBef>
              <a:spcAft>
                <a:spcPts val="0"/>
              </a:spcAft>
              <a:buSzPts val="1400"/>
              <a:buNone/>
              <a:defRPr b="0" i="0" sz="1800" u="none" cap="none" strike="noStrike">
                <a:solidFill>
                  <a:schemeClr val="dk1"/>
                </a:solidFill>
                <a:latin typeface="JetBrains Mono"/>
                <a:ea typeface="JetBrains Mono"/>
                <a:cs typeface="JetBrains Mono"/>
                <a:sym typeface="JetBrains Mono"/>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JetBrains Mono"/>
                <a:ea typeface="JetBrains Mono"/>
                <a:cs typeface="JetBrains Mono"/>
                <a:sym typeface="JetBrains Mono"/>
              </a:rPr>
              <a:t>‹#›</a:t>
            </a:fld>
            <a:endParaRPr b="0" i="0" sz="1200" u="none" cap="none" strike="noStrike">
              <a:solidFill>
                <a:schemeClr val="dk1"/>
              </a:solidFill>
              <a:latin typeface="JetBrains Mono"/>
              <a:ea typeface="JetBrains Mono"/>
              <a:cs typeface="JetBrains Mono"/>
              <a:sym typeface="JetBrains Mono"/>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Apertura. Costruiamo da zero una piccola applicazione client-server in Java: il client manda una frase, il server la restituisce in maiuscolo. Prima l'idea, poi gli oggetti che servono, poi il codice riga per riga.</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Il blu indica sempre il client, l'arancione sempre il server: i colori restano gli stessi in tutta la presentazione.</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 socket è l'astrazione che il sistema operativo offre a un processo per comunicare in rete. Con TCP la comunicazione è orientata alla connessione (va stabilita prima di scambiare dati), affidabile (i dati persi vengono ritrasmessi), ordinata e bidirezionale. I dati viaggiano come flusso di byte, senza confini di messaggio: per questo più avanti servirà un terminatore di riga. Con i socket TCP si realizzano applicazioni client-server di ogni tipo, ad esempio una chat o un gioco in rete.</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Il client deve conoscere entrambi i valori per raggiungere il server. Con localhost client e server girano sulla stessa macchina; per due macchine diverse si usa l'indirizzo IP o il nome host del server. La porta è un numero a 16 bit: quelle da 0 a 1023 sono riservate ai servizi di sistema, quindi per le proprie applicazioni si sceglie un valore superiore. 6789 è il valore usato negli esempi e deve essere identico nel codice del client e in quello del server.</a:t>
            </a:r>
            <a:endParaRPr/>
          </a:p>
        </p:txBody>
      </p:sp>
      <p:sp>
        <p:nvSpPr>
          <p:cNvPr id="74" name="Google Shape;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 cinque fasi valgono per qualsiasi applicazione TCP, in qualsiasi linguaggio. Il server deve essere in ascolto prima che il client invii la richiesta. Nella fase 2 avviene l'handshake a tre vie di TCP (SYN, SYN-ACK, ACK), gestito dal sistema operativo. Nella fase 4 i due lati eseguono le operazioni in ordine opposto: quando uno scrive, l'altro legge. Nelle sezioni successive vedremo quali istruzioni Java realizzano ciascuna fase.</a:t>
            </a:r>
            <a:endParaRPr/>
          </a:p>
        </p:txBody>
      </p:sp>
      <p:sp>
        <p:nvSpPr>
          <p:cNvPr id="90" name="Google Shape;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Client e Server contengono il lavoro vero: come collegarsi, come scambiare messaggi. I due main sono brevissimi e servono solo a far partire il programma. Sono due programmi distinti, che si avviano separatamente, anche su due computer diversi.</a:t>
            </a:r>
            <a:endParaRPr/>
          </a:p>
        </p:txBody>
      </p:sp>
      <p:sp>
        <p:nvSpPr>
          <p:cNvPr id="125" name="Google Shape;12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Negli esempi compaiono sempre gli stessi cinque tipi di oggetto. Prima di leggere il codice vediamo a cosa serve ciascuno: una slide a testa, tutte con la stessa struttura. Si trovano nei pacchetti java.net (i due socket) e java.io (gli altri tre).</a:t>
            </a:r>
            <a:endParaRPr/>
          </a:p>
        </p:txBody>
      </p:sp>
      <p:sp>
        <p:nvSpPr>
          <p:cNvPr id="149" name="Google Shape;1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mappa di tutti gli oggetti. Al centro il Socket, cioè la connessione. Sopra di esso viaggiano due flussi: quello blu va dal client al server, quello arancione torna indietro. Ogni flusso ha un'estremità di scrittura (DataOutputStream) e una di lettura (DataInputStream): quindi ogni lato possiede un oggetto di ciascun tipo. Ai lati i due oggetti presenti su un solo lato: nel client il BufferedReader che legge da System.in, nel server il ServerSocket che accetta le connessioni.</a:t>
            </a:r>
            <a:endParaRPr/>
          </a:p>
        </p:txBody>
      </p:sp>
      <p:sp>
        <p:nvSpPr>
          <p:cNvPr id="162" name="Google Shape;1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Classe java.net.Socket. Non espone direttamente operazioni di lettura e scrittura: getOutputStream() restituisce l'OutputStream su cui inviare byte, getInputStream() l'InputStream da cui riceverli. close() chiude la connessione e i relativi stream. Il costruttore lancia un'eccezione se la connessione non può essere stabilita. Nel codice del client l'attributo si chiama "mio", in quello del server "client".</a:t>
            </a:r>
            <a:endParaRPr/>
          </a:p>
        </p:txBody>
      </p:sp>
      <p:sp>
        <p:nvSpPr>
          <p:cNvPr id="188" name="Google Shape;1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Classe java.net.ServerSocket. Non trasporta dati: serve solo a stabilire le connessioni. accept() è bloccante: sospende l'esecuzione finché non arriva una richiesta, poi restituisce un oggetto Socket connesso a quel client, ed è su quel Socket che avviene lo scambio di dati. close() chiude il socket in ascolto: non vengono accettate altre connessioni, ma i Socket già restituiti da accept() restano attivi.</a:t>
            </a:r>
            <a:endParaRPr/>
          </a:p>
        </p:txBody>
      </p:sp>
      <p:sp>
        <p:nvSpPr>
          <p:cNvPr id="210" name="Google Shape;21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Classe java.io.DataOutputStream. L'OutputStream del socket permette di scrivere solo byte; DataOutputStream aggiunge metodi per scrivere tipi di dato Java, tra cui writeBytes(String) che invia un byte per ogni carattere della stringa. Il messaggio va terminato con "\n" se il ricevente legge con readLine(). Nel client l'attributo si chiama versoServer, nel server versoClient.</a:t>
            </a:r>
            <a:endParaRPr/>
          </a:p>
        </p:txBody>
      </p:sp>
      <p:sp>
        <p:nvSpPr>
          <p:cNvPr id="231" name="Google Shape;23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Classe java.io.DataInputStream. readLine() è bloccante: sospende l'esecuzione finché non riceve una riga completa, cioè terminata da "\n", e la restituisce come String. In DataInputStream il metodo è deprecato perché non converte correttamente i byte in caratteri per tutte le codifiche: per questo l'IDE lo mostra barrato. Funziona con testo ASCII, ma per leggere righe di testo la classe indicata è BufferedReader. Nel client l'attributo si chiama dalServer, nel server dalClient.</a:t>
            </a:r>
            <a:endParaRPr/>
          </a:p>
        </p:txBody>
      </p:sp>
      <p:sp>
        <p:nvSpPr>
          <p:cNvPr id="252" name="Google Shape;25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Classe java.io.BufferedReader. Tre oggetti concatenati: System.in è un InputStream di byte (lo standard input), InputStreamReader lo converte in stream di caratteri, BufferedReader aggiunge un buffer e il metodo readLine(). Lo stesso schema vale per la rete: passando mio.getInputStream() al posto di System.in si ottiene un BufferedReader che legge dal socket, alternativa non deprecata a DataInputStream.readLine().</a:t>
            </a:r>
            <a:endParaRPr/>
          </a:p>
        </p:txBody>
      </p:sp>
      <p:sp>
        <p:nvSpPr>
          <p:cNvPr id="273" name="Google Shape;27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Tre slide: cosa serve al client (gli attributi), come si collega (connetti), come scambia i messaggi (comunica). Gli oggetti sono quelli appena visti.</a:t>
            </a:r>
            <a:endParaRPr/>
          </a:p>
        </p:txBody>
      </p:sp>
      <p:sp>
        <p:nvSpPr>
          <p:cNvPr id="294" name="Google Shape;2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numeri a sinistra del codice rimandano alle spiegazioni a destra. Qui gli attributi sono solo dichiarati: i primi due hanno già un valore, gli altri vengono creati dentro connetti(). Servono gli import java.io.* e java.net.*. Al posto di DataInputStream si può usare un BufferedReader anche per leggere dal server.</a:t>
            </a:r>
            <a:endParaRPr/>
          </a:p>
        </p:txBody>
      </p:sp>
      <p:sp>
        <p:nvSpPr>
          <p:cNvPr id="305" name="Google Shape;30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connetti() crea gli oggetti dichiarati nella slide precedente. La riga chiave è la 2: new Socket fa partire la richiesta di connessione verso localhost sulla porta 6789. I due stream delle righe 3 e 4 non si creano dal nulla ma si chiedono al socket: sono le due direzioni dello stesso canale. Il try/catch è obbligatorio perché le operazioni di rete possono lanciare eccezioni.</a:t>
            </a:r>
            <a:endParaRPr/>
          </a:p>
        </p:txBody>
      </p:sp>
      <p:sp>
        <p:nvSpPr>
          <p:cNvPr id="335" name="Google Shape;33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È il cuore dell'esempio: una domanda e una risposta. L'ordine conta: il client prima scrive e poi legge, il server farà l'opposto. Se entrambi provassero a leggere per primi resterebbero bloccati ad aspettarsi a vicenda. Rispetto alle slide originali i testi dei println sono stati accorciati per stare in una riga; la logica è identica.</a:t>
            </a:r>
            <a:endParaRPr/>
          </a:p>
        </p:txBody>
      </p:sp>
      <p:sp>
        <p:nvSpPr>
          <p:cNvPr id="368" name="Google Shape;36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TCP è un flusso di byte senza confini di messaggio: il terminatore di riga è ciò che delimita un messaggio. readLine() restituisce il testo solo quando incontra un a capo: se chi scrive non lo aggiunge, chi legge resta bloccato su quella riga senza dare nessun errore. Vale in entrambe le direzioni: anche il server deve aggiungere "\n" quando risponde.</a:t>
            </a:r>
            <a:endParaRPr/>
          </a:p>
        </p:txBody>
      </p:sp>
      <p:sp>
        <p:nvSpPr>
          <p:cNvPr id="400" name="Google Shape;40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struttura è speculare a quella del client: stessi tre passaggi. Cambia solo il primo metodo: il client si connette, il server attende.</a:t>
            </a:r>
            <a:endParaRPr/>
          </a:p>
        </p:txBody>
      </p:sp>
      <p:sp>
        <p:nvSpPr>
          <p:cNvPr id="412" name="Google Shape;41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Attenzione ai due tipi di socket: ServerSocket accetta le connessioni, Socket è l'endpoint della connessione con un client specifico. Al ServerSocket verrà passato nel costruttore il numero di porta, che deve essere lo stesso scritto nella classe Client. Le slide originali mostravano due varianti equivalenti, una con BufferedReader e una con DataInputStream.</a:t>
            </a:r>
            <a:endParaRPr/>
          </a:p>
        </p:txBody>
      </p:sp>
      <p:sp>
        <p:nvSpPr>
          <p:cNvPr id="423" name="Google Shape;42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attendi() è il corrispettivo di connetti(). La riga 2 è quella da capire bene: accept() è bloccante, cioè il programma non va avanti finché non arriva un client. Quando arriva, restituisce un Socket nuovo dedicato a quel client. La riga 3 chiude il ServerSocket, non la conversazione: questo esempio serve un solo client. Per servirne molti si toglie quella riga e si richiama accept() in un ciclo.</a:t>
            </a:r>
            <a:endParaRPr/>
          </a:p>
        </p:txBody>
      </p:sp>
      <p:sp>
        <p:nvSpPr>
          <p:cNvPr id="451" name="Google Shape;45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riga 2 è l'unica davvero specifica di questo esempio: tutto il resto è l'impalcatura che serve in qualsiasi server. Cambiando quella riga si cambia il comportamento: un server che fa calcoli, che risponde a domande, che inoltra messaggi a un altro utente. Anche qui i testi dei println sono stati accorciati rispetto alle slide originali.</a:t>
            </a:r>
            <a:endParaRPr/>
          </a:p>
        </p:txBody>
      </p:sp>
      <p:sp>
        <p:nvSpPr>
          <p:cNvPr id="483" name="Google Shape;48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main non contengono logica: creano l'oggetto e chiamano i due metodi nell'ordine giusto. È il vantaggio di aver tenuto Client e Server in classi separate. Sono due programmi diversi, da avviare in due finestre o due console distinte.</a:t>
            </a:r>
            <a:endParaRPr/>
          </a:p>
        </p:txBody>
      </p:sp>
      <p:sp>
        <p:nvSpPr>
          <p:cNvPr id="514" name="Google Shape;51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 due console sono due finestre diverse: una per ogni programma. In alto ciò che compare a schermo, in basso cosa succede dietro le quinte, in ordine di tempo. L'output corrisponde al codice mostrato nelle slide precedenti; il messaggio "ciao" è solo un esempio di ciò che l'utente può scrivere.</a:t>
            </a:r>
            <a:endParaRPr/>
          </a:p>
        </p:txBody>
      </p:sp>
      <p:sp>
        <p:nvSpPr>
          <p:cNvPr id="543" name="Google Shape;54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È l'errore più comune in assoluto. new Socket nel client ha bisogno che dall'altra parte ci sia già un server fermo su accept(). Se non c'è nessuno in ascolto sulla porta, il sistema operativo rifiuta la connessione e il catch stampa l'errore. Il testo esatto può variare leggermente a seconda del sistema operativo.</a:t>
            </a:r>
            <a:endParaRPr/>
          </a:p>
        </p:txBody>
      </p:sp>
      <p:sp>
        <p:nvSpPr>
          <p:cNvPr id="573" name="Google Shape;57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Chiusura. La struttura a quattro classi resta la stessa per qualsiasi progetto. Il codice dentro comunica() era un esempio volutamente banale: si può cambiare liberamente. Si possono aggiungere altri metodi, pubblici o privati, e altri attributi: su cosa dichiarare nelle due classi esistono diverse scuole di pensiero. Idee per esercitarsi: far continuare la conversazione in un ciclo finché l'utente non scrive "fine", oppure far fare al server un calcolo invece del maiuscolo.</a:t>
            </a:r>
            <a:endParaRPr/>
          </a:p>
        </p:txBody>
      </p:sp>
      <p:sp>
        <p:nvSpPr>
          <p:cNvPr id="583" name="Google Shape;58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0E1320"/>
        </a:solidFill>
      </p:bgPr>
    </p:bg>
    <p:spTree>
      <p:nvGrpSpPr>
        <p:cNvPr id="12" name="Shape 12"/>
        <p:cNvGrpSpPr/>
        <p:nvPr/>
      </p:nvGrpSpPr>
      <p:grpSpPr>
        <a:xfrm>
          <a:off x="0" y="0"/>
          <a:ext cx="0" cy="0"/>
          <a:chOff x="0" y="0"/>
          <a:chExt cx="0" cy="0"/>
        </a:xfrm>
      </p:grpSpPr>
      <p:sp>
        <p:nvSpPr>
          <p:cNvPr id="13" name="Google Shape;13;p28"/>
          <p:cNvSpPr txBox="1"/>
          <p:nvPr>
            <p:ph type="title"/>
          </p:nvPr>
        </p:nvSpPr>
        <p:spPr>
          <a:xfrm>
            <a:off x="812800" y="1102320"/>
            <a:ext cx="10566400" cy="41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F2EFE6"/>
              </a:buClr>
              <a:buSzPts val="3000"/>
              <a:buFont typeface="IBM Plex Sans"/>
              <a:buNone/>
              <a:defRPr sz="3000">
                <a:solidFill>
                  <a:srgbClr val="F2EFE6"/>
                </a:solidFill>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8"/>
          <p:cNvSpPr txBox="1"/>
          <p:nvPr>
            <p:ph idx="1" type="body"/>
          </p:nvPr>
        </p:nvSpPr>
        <p:spPr>
          <a:xfrm>
            <a:off x="812800" y="1826220"/>
            <a:ext cx="10566400" cy="421898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F2EFE6"/>
              </a:buClr>
              <a:buSzPts val="1600"/>
              <a:buNone/>
              <a:defRPr sz="1600">
                <a:solidFill>
                  <a:srgbClr val="F2EFE6"/>
                </a:solidFill>
                <a:latin typeface="JetBrains Mono"/>
                <a:ea typeface="JetBrains Mono"/>
                <a:cs typeface="JetBrains Mono"/>
                <a:sym typeface="JetBrains Mono"/>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dk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12800" y="1102320"/>
            <a:ext cx="10566400" cy="4191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F2EFE6"/>
              </a:buClr>
              <a:buSzPts val="3000"/>
              <a:buFont typeface="IBM Plex Sans"/>
              <a:buNone/>
              <a:defRPr b="0" i="0" sz="3000" u="none" cap="none" strike="noStrike">
                <a:solidFill>
                  <a:srgbClr val="F2EFE6"/>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12800" y="1826220"/>
            <a:ext cx="10566400" cy="421898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F2EFE6"/>
              </a:buClr>
              <a:buSzPts val="1600"/>
              <a:buFont typeface="Arial"/>
              <a:buNone/>
              <a:defRPr b="0" i="0" sz="1600" u="none" cap="none" strike="noStrike">
                <a:solidFill>
                  <a:srgbClr val="F2EFE6"/>
                </a:solidFill>
                <a:latin typeface="JetBrains Mono"/>
                <a:ea typeface="JetBrains Mono"/>
                <a:cs typeface="JetBrains Mono"/>
                <a:sym typeface="JetBrains Mono"/>
              </a:defRPr>
            </a:lvl1pPr>
            <a:lvl2pPr indent="-406400" lvl="1" marL="914400" marR="0" rtl="0" algn="l">
              <a:spcBef>
                <a:spcPts val="560"/>
              </a:spcBef>
              <a:spcAft>
                <a:spcPts val="0"/>
              </a:spcAft>
              <a:buClr>
                <a:schemeClr val="lt1"/>
              </a:buClr>
              <a:buSzPts val="2800"/>
              <a:buFont typeface="Arial"/>
              <a:buChar char="–"/>
              <a:defRPr b="0" i="0" sz="2800" u="none" cap="none" strike="noStrike">
                <a:solidFill>
                  <a:schemeClr val="lt1"/>
                </a:solidFill>
                <a:latin typeface="JetBrains Mono"/>
                <a:ea typeface="JetBrains Mono"/>
                <a:cs typeface="JetBrains Mono"/>
                <a:sym typeface="JetBrains Mono"/>
              </a:defRPr>
            </a:lvl2pPr>
            <a:lvl3pPr indent="-381000" lvl="2" marL="1371600" marR="0" rtl="0" algn="l">
              <a:spcBef>
                <a:spcPts val="480"/>
              </a:spcBef>
              <a:spcAft>
                <a:spcPts val="0"/>
              </a:spcAft>
              <a:buClr>
                <a:schemeClr val="lt1"/>
              </a:buClr>
              <a:buSzPts val="2400"/>
              <a:buFont typeface="Arial"/>
              <a:buChar char="•"/>
              <a:defRPr b="0" i="0" sz="2400" u="none" cap="none" strike="noStrike">
                <a:solidFill>
                  <a:schemeClr val="lt1"/>
                </a:solidFill>
                <a:latin typeface="JetBrains Mono"/>
                <a:ea typeface="JetBrains Mono"/>
                <a:cs typeface="JetBrains Mono"/>
                <a:sym typeface="JetBrains Mono"/>
              </a:defRPr>
            </a:lvl3pPr>
            <a:lvl4pPr indent="-355600" lvl="3" marL="1828800" marR="0" rtl="0" algn="l">
              <a:spcBef>
                <a:spcPts val="400"/>
              </a:spcBef>
              <a:spcAft>
                <a:spcPts val="0"/>
              </a:spcAft>
              <a:buClr>
                <a:schemeClr val="lt1"/>
              </a:buClr>
              <a:buSzPts val="2000"/>
              <a:buFont typeface="Arial"/>
              <a:buChar char="–"/>
              <a:defRPr b="0" i="0" sz="2000" u="none" cap="none" strike="noStrike">
                <a:solidFill>
                  <a:schemeClr val="lt1"/>
                </a:solidFill>
                <a:latin typeface="JetBrains Mono"/>
                <a:ea typeface="JetBrains Mono"/>
                <a:cs typeface="JetBrains Mono"/>
                <a:sym typeface="JetBrains Mono"/>
              </a:defRPr>
            </a:lvl4pPr>
            <a:lvl5pPr indent="-355600" lvl="4" marL="2286000" marR="0" rtl="0" algn="l">
              <a:spcBef>
                <a:spcPts val="400"/>
              </a:spcBef>
              <a:spcAft>
                <a:spcPts val="0"/>
              </a:spcAft>
              <a:buClr>
                <a:schemeClr val="lt1"/>
              </a:buClr>
              <a:buSzPts val="2000"/>
              <a:buFont typeface="Arial"/>
              <a:buChar char="»"/>
              <a:defRPr b="0" i="0" sz="2000" u="none" cap="none" strike="noStrike">
                <a:solidFill>
                  <a:schemeClr val="lt1"/>
                </a:solidFill>
                <a:latin typeface="JetBrains Mono"/>
                <a:ea typeface="JetBrains Mono"/>
                <a:cs typeface="JetBrains Mono"/>
                <a:sym typeface="JetBrains Mono"/>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JetBrains Mono"/>
                <a:ea typeface="JetBrains Mono"/>
                <a:cs typeface="JetBrains Mono"/>
                <a:sym typeface="JetBrains Mono"/>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JetBrains Mono"/>
                <a:ea typeface="JetBrains Mono"/>
                <a:cs typeface="JetBrains Mono"/>
                <a:sym typeface="JetBrains Mono"/>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JetBrains Mono"/>
                <a:ea typeface="JetBrains Mono"/>
                <a:cs typeface="JetBrains Mono"/>
                <a:sym typeface="JetBrains Mono"/>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JetBrains Mono"/>
                <a:ea typeface="JetBrains Mono"/>
                <a:cs typeface="JetBrains Mono"/>
                <a:sym typeface="JetBrains Mon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20" name="Shape 20"/>
        <p:cNvGrpSpPr/>
        <p:nvPr/>
      </p:nvGrpSpPr>
      <p:grpSpPr>
        <a:xfrm>
          <a:off x="0" y="0"/>
          <a:ext cx="0" cy="0"/>
          <a:chOff x="0" y="0"/>
          <a:chExt cx="0" cy="0"/>
        </a:xfrm>
      </p:grpSpPr>
      <p:sp>
        <p:nvSpPr>
          <p:cNvPr id="21" name="Google Shape;21;p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GUIDA PRATICA</a:t>
            </a:r>
            <a:endParaRPr b="0" i="0" sz="1200" u="none" cap="none" strike="noStrike">
              <a:solidFill>
                <a:schemeClr val="lt1"/>
              </a:solidFill>
              <a:latin typeface="JetBrains Mono"/>
              <a:ea typeface="JetBrains Mono"/>
              <a:cs typeface="JetBrains Mono"/>
              <a:sym typeface="JetBrains Mono"/>
            </a:endParaRPr>
          </a:p>
        </p:txBody>
      </p:sp>
      <p:sp>
        <p:nvSpPr>
          <p:cNvPr id="22" name="Google Shape;22;p1"/>
          <p:cNvSpPr txBox="1"/>
          <p:nvPr>
            <p:ph type="title"/>
          </p:nvPr>
        </p:nvSpPr>
        <p:spPr>
          <a:xfrm>
            <a:off x="812800" y="2115840"/>
            <a:ext cx="10883392" cy="2438400"/>
          </a:xfrm>
          <a:prstGeom prst="rect">
            <a:avLst/>
          </a:prstGeom>
          <a:noFill/>
          <a:ln>
            <a:noFill/>
          </a:ln>
        </p:spPr>
        <p:txBody>
          <a:bodyPr anchorCtr="0" anchor="t" bIns="0" lIns="0" spcFirstLastPara="1" rIns="0" wrap="square" tIns="0">
            <a:normAutofit/>
          </a:bodyPr>
          <a:lstStyle/>
          <a:p>
            <a:pPr indent="0" lvl="0" marL="0" rtl="0" algn="l">
              <a:lnSpc>
                <a:spcPct val="95000"/>
              </a:lnSpc>
              <a:spcBef>
                <a:spcPts val="0"/>
              </a:spcBef>
              <a:spcAft>
                <a:spcPts val="0"/>
              </a:spcAft>
              <a:buClr>
                <a:srgbClr val="F2EFE6"/>
              </a:buClr>
              <a:buSzPts val="10000"/>
              <a:buFont typeface="IBM Plex Sans"/>
              <a:buNone/>
            </a:pPr>
            <a:r>
              <a:rPr b="1" i="0" lang="en-US" sz="10000">
                <a:solidFill>
                  <a:srgbClr val="F2EFE6"/>
                </a:solidFill>
                <a:latin typeface="IBM Plex Sans"/>
                <a:ea typeface="IBM Plex Sans"/>
                <a:cs typeface="IBM Plex Sans"/>
                <a:sym typeface="IBM Plex Sans"/>
              </a:rPr>
              <a:t>Socket TCP</a:t>
            </a:r>
            <a:endParaRPr sz="10000"/>
          </a:p>
          <a:p>
            <a:pPr indent="0" lvl="0" marL="0" rtl="0" algn="l">
              <a:lnSpc>
                <a:spcPct val="95000"/>
              </a:lnSpc>
              <a:spcBef>
                <a:spcPts val="0"/>
              </a:spcBef>
              <a:spcAft>
                <a:spcPts val="0"/>
              </a:spcAft>
              <a:buClr>
                <a:srgbClr val="FF9A5C"/>
              </a:buClr>
              <a:buSzPts val="10000"/>
              <a:buFont typeface="IBM Plex Sans"/>
              <a:buNone/>
            </a:pPr>
            <a:r>
              <a:rPr b="1" i="0" lang="en-US" sz="10000">
                <a:solidFill>
                  <a:srgbClr val="FF9A5C"/>
                </a:solidFill>
                <a:latin typeface="IBM Plex Sans"/>
                <a:ea typeface="IBM Plex Sans"/>
                <a:cs typeface="IBM Plex Sans"/>
                <a:sym typeface="IBM Plex Sans"/>
              </a:rPr>
              <a:t>in Java</a:t>
            </a:r>
            <a:endParaRPr sz="10000"/>
          </a:p>
        </p:txBody>
      </p:sp>
      <p:sp>
        <p:nvSpPr>
          <p:cNvPr id="23" name="Google Shape;23;p1"/>
          <p:cNvSpPr/>
          <p:nvPr/>
        </p:nvSpPr>
        <p:spPr>
          <a:xfrm>
            <a:off x="812800" y="5618510"/>
            <a:ext cx="995710" cy="426690"/>
          </a:xfrm>
          <a:prstGeom prst="roundRect">
            <a:avLst>
              <a:gd fmla="val 17858" name="adj"/>
            </a:avLst>
          </a:prstGeom>
          <a:solidFill>
            <a:srgbClr val="7FB2F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320"/>
              </a:buClr>
              <a:buSzPts val="1400"/>
              <a:buFont typeface="JetBrains Mono"/>
              <a:buNone/>
            </a:pPr>
            <a:r>
              <a:rPr b="1" i="0" lang="en-US" sz="1400" u="none" cap="none" strike="noStrike">
                <a:solidFill>
                  <a:srgbClr val="0E1320"/>
                </a:solidFill>
                <a:latin typeface="JetBrains Mono"/>
                <a:ea typeface="JetBrains Mono"/>
                <a:cs typeface="JetBrains Mono"/>
                <a:sym typeface="JetBrains Mono"/>
              </a:rPr>
              <a:t>Client</a:t>
            </a:r>
            <a:endParaRPr b="0" i="0" sz="1400" u="none" cap="none" strike="noStrike">
              <a:solidFill>
                <a:schemeClr val="lt1"/>
              </a:solidFill>
              <a:latin typeface="JetBrains Mono"/>
              <a:ea typeface="JetBrains Mono"/>
              <a:cs typeface="JetBrains Mono"/>
              <a:sym typeface="JetBrains Mono"/>
            </a:endParaRPr>
          </a:p>
        </p:txBody>
      </p:sp>
      <p:pic>
        <p:nvPicPr>
          <p:cNvPr descr="connector" id="24" name="Google Shape;24;p1"/>
          <p:cNvPicPr preferRelativeResize="0"/>
          <p:nvPr/>
        </p:nvPicPr>
        <p:blipFill rotWithShape="1">
          <a:blip r:embed="rId3">
            <a:alphaModFix/>
          </a:blip>
          <a:srcRect b="0" l="0" r="0" t="0"/>
          <a:stretch/>
        </p:blipFill>
        <p:spPr>
          <a:xfrm>
            <a:off x="1960910" y="5793730"/>
            <a:ext cx="1016000" cy="76200"/>
          </a:xfrm>
          <a:prstGeom prst="rect">
            <a:avLst/>
          </a:prstGeom>
          <a:noFill/>
          <a:ln>
            <a:noFill/>
          </a:ln>
        </p:spPr>
      </p:pic>
      <p:sp>
        <p:nvSpPr>
          <p:cNvPr id="25" name="Google Shape;25;p1"/>
          <p:cNvSpPr/>
          <p:nvPr/>
        </p:nvSpPr>
        <p:spPr>
          <a:xfrm>
            <a:off x="3129310" y="5707410"/>
            <a:ext cx="1645940"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EFE6"/>
              </a:buClr>
              <a:buSzPts val="1400"/>
              <a:buFont typeface="JetBrains Mono"/>
              <a:buNone/>
            </a:pPr>
            <a:r>
              <a:rPr b="0" i="0" lang="en-US" sz="1400" u="none" cap="none" strike="noStrike">
                <a:solidFill>
                  <a:srgbClr val="F2EFE6"/>
                </a:solidFill>
                <a:latin typeface="JetBrains Mono"/>
                <a:ea typeface="JetBrains Mono"/>
                <a:cs typeface="JetBrains Mono"/>
                <a:sym typeface="JetBrains Mono"/>
              </a:rPr>
              <a:t>localhost:6789</a:t>
            </a:r>
            <a:endParaRPr b="0" i="0" sz="1400" u="none" cap="none" strike="noStrike">
              <a:solidFill>
                <a:schemeClr val="lt1"/>
              </a:solidFill>
              <a:latin typeface="JetBrains Mono"/>
              <a:ea typeface="JetBrains Mono"/>
              <a:cs typeface="JetBrains Mono"/>
              <a:sym typeface="JetBrains Mono"/>
            </a:endParaRPr>
          </a:p>
        </p:txBody>
      </p:sp>
      <p:pic>
        <p:nvPicPr>
          <p:cNvPr descr="connector" id="26" name="Google Shape;26;p1"/>
          <p:cNvPicPr preferRelativeResize="0"/>
          <p:nvPr/>
        </p:nvPicPr>
        <p:blipFill rotWithShape="1">
          <a:blip r:embed="rId3">
            <a:alphaModFix/>
          </a:blip>
          <a:srcRect b="0" l="0" r="0" t="0"/>
          <a:stretch/>
        </p:blipFill>
        <p:spPr>
          <a:xfrm>
            <a:off x="4775250" y="5793730"/>
            <a:ext cx="1016000" cy="76200"/>
          </a:xfrm>
          <a:prstGeom prst="rect">
            <a:avLst/>
          </a:prstGeom>
          <a:noFill/>
          <a:ln>
            <a:noFill/>
          </a:ln>
        </p:spPr>
      </p:pic>
      <p:sp>
        <p:nvSpPr>
          <p:cNvPr id="27" name="Google Shape;27;p1"/>
          <p:cNvSpPr/>
          <p:nvPr/>
        </p:nvSpPr>
        <p:spPr>
          <a:xfrm>
            <a:off x="5943650" y="5618510"/>
            <a:ext cx="995710" cy="426690"/>
          </a:xfrm>
          <a:prstGeom prst="roundRect">
            <a:avLst>
              <a:gd fmla="val 17858" name="adj"/>
            </a:avLst>
          </a:prstGeom>
          <a:solidFill>
            <a:srgbClr val="FF9A5C"/>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320"/>
              </a:buClr>
              <a:buSzPts val="1400"/>
              <a:buFont typeface="JetBrains Mono"/>
              <a:buNone/>
            </a:pPr>
            <a:r>
              <a:rPr b="1" i="0" lang="en-US" sz="1400" u="none" cap="none" strike="noStrike">
                <a:solidFill>
                  <a:srgbClr val="0E1320"/>
                </a:solidFill>
                <a:latin typeface="JetBrains Mono"/>
                <a:ea typeface="JetBrains Mono"/>
                <a:cs typeface="JetBrains Mono"/>
                <a:sym typeface="JetBrains Mono"/>
              </a:rPr>
              <a:t>Server</a:t>
            </a:r>
            <a:endParaRPr b="0" i="0" sz="14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32" name="Shape 32"/>
        <p:cNvGrpSpPr/>
        <p:nvPr/>
      </p:nvGrpSpPr>
      <p:grpSpPr>
        <a:xfrm>
          <a:off x="0" y="0"/>
          <a:ext cx="0" cy="0"/>
          <a:chOff x="0" y="0"/>
          <a:chExt cx="0" cy="0"/>
        </a:xfrm>
      </p:grpSpPr>
      <p:sp>
        <p:nvSpPr>
          <p:cNvPr id="33" name="Google Shape;33;p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INDICE</a:t>
            </a:r>
            <a:endParaRPr b="0" i="0" sz="1200" u="none" cap="none" strike="noStrike">
              <a:solidFill>
                <a:schemeClr val="lt1"/>
              </a:solidFill>
              <a:latin typeface="JetBrains Mono"/>
              <a:ea typeface="JetBrains Mono"/>
              <a:cs typeface="JetBrains Mono"/>
              <a:sym typeface="JetBrains Mono"/>
            </a:endParaRPr>
          </a:p>
        </p:txBody>
      </p:sp>
      <p:sp>
        <p:nvSpPr>
          <p:cNvPr id="34" name="Google Shape;34;p2"/>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Cinque tappe</a:t>
            </a:r>
            <a:endParaRPr sz="3000"/>
          </a:p>
        </p:txBody>
      </p:sp>
      <p:sp>
        <p:nvSpPr>
          <p:cNvPr id="35" name="Google Shape;35;p2"/>
          <p:cNvSpPr/>
          <p:nvPr/>
        </p:nvSpPr>
        <p:spPr>
          <a:xfrm>
            <a:off x="812800" y="4445000"/>
            <a:ext cx="2051060" cy="838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2EFE6"/>
              </a:buClr>
              <a:buSzPts val="6400"/>
              <a:buFont typeface="JetBrains Mono"/>
              <a:buNone/>
            </a:pPr>
            <a:r>
              <a:rPr b="1" i="0" lang="en-US" sz="6400" u="none" cap="none" strike="noStrike">
                <a:solidFill>
                  <a:srgbClr val="F2EFE6"/>
                </a:solidFill>
                <a:latin typeface="JetBrains Mono"/>
                <a:ea typeface="JetBrains Mono"/>
                <a:cs typeface="JetBrains Mono"/>
                <a:sym typeface="JetBrains Mono"/>
              </a:rPr>
              <a:t>01</a:t>
            </a:r>
            <a:endParaRPr b="0" i="0" sz="6400" u="none" cap="none" strike="noStrike">
              <a:solidFill>
                <a:schemeClr val="lt1"/>
              </a:solidFill>
              <a:latin typeface="JetBrains Mono"/>
              <a:ea typeface="JetBrains Mono"/>
              <a:cs typeface="JetBrains Mono"/>
              <a:sym typeface="JetBrains Mono"/>
            </a:endParaRPr>
          </a:p>
        </p:txBody>
      </p:sp>
      <p:pic>
        <p:nvPicPr>
          <p:cNvPr descr="line" id="36" name="Google Shape;36;p2"/>
          <p:cNvPicPr preferRelativeResize="0"/>
          <p:nvPr/>
        </p:nvPicPr>
        <p:blipFill rotWithShape="1">
          <a:blip r:embed="rId3">
            <a:alphaModFix/>
          </a:blip>
          <a:srcRect b="-65" l="0" r="0" t="-65"/>
          <a:stretch/>
        </p:blipFill>
        <p:spPr>
          <a:xfrm>
            <a:off x="812800" y="5384800"/>
            <a:ext cx="1991320" cy="25400"/>
          </a:xfrm>
          <a:prstGeom prst="rect">
            <a:avLst/>
          </a:prstGeom>
          <a:noFill/>
          <a:ln>
            <a:noFill/>
          </a:ln>
        </p:spPr>
      </p:pic>
      <p:sp>
        <p:nvSpPr>
          <p:cNvPr id="37" name="Google Shape;37;p2"/>
          <p:cNvSpPr/>
          <p:nvPr/>
        </p:nvSpPr>
        <p:spPr>
          <a:xfrm>
            <a:off x="812800" y="5537200"/>
            <a:ext cx="2051060"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EFE6"/>
              </a:buClr>
              <a:buSzPts val="2000"/>
              <a:buFont typeface="IBM Plex Sans"/>
              <a:buNone/>
            </a:pPr>
            <a:r>
              <a:rPr b="1" i="0" lang="en-US" sz="2000" u="none" cap="none" strike="noStrike">
                <a:solidFill>
                  <a:srgbClr val="F2EFE6"/>
                </a:solidFill>
                <a:latin typeface="IBM Plex Sans"/>
                <a:ea typeface="IBM Plex Sans"/>
                <a:cs typeface="IBM Plex Sans"/>
                <a:sym typeface="IBM Plex Sans"/>
              </a:rPr>
              <a:t>L'idea</a:t>
            </a:r>
            <a:endParaRPr b="0" i="0" sz="2000" u="none" cap="none" strike="noStrike">
              <a:solidFill>
                <a:schemeClr val="lt1"/>
              </a:solidFill>
              <a:latin typeface="JetBrains Mono"/>
              <a:ea typeface="JetBrains Mono"/>
              <a:cs typeface="JetBrains Mono"/>
              <a:sym typeface="JetBrains Mono"/>
            </a:endParaRPr>
          </a:p>
        </p:txBody>
      </p:sp>
      <p:sp>
        <p:nvSpPr>
          <p:cNvPr id="38" name="Google Shape;38;p2"/>
          <p:cNvSpPr/>
          <p:nvPr/>
        </p:nvSpPr>
        <p:spPr>
          <a:xfrm>
            <a:off x="2956520" y="4445000"/>
            <a:ext cx="2051111" cy="838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2EFE6"/>
              </a:buClr>
              <a:buSzPts val="6400"/>
              <a:buFont typeface="JetBrains Mono"/>
              <a:buNone/>
            </a:pPr>
            <a:r>
              <a:rPr b="1" i="0" lang="en-US" sz="6400" u="none" cap="none" strike="noStrike">
                <a:solidFill>
                  <a:srgbClr val="F2EFE6"/>
                </a:solidFill>
                <a:latin typeface="JetBrains Mono"/>
                <a:ea typeface="JetBrains Mono"/>
                <a:cs typeface="JetBrains Mono"/>
                <a:sym typeface="JetBrains Mono"/>
              </a:rPr>
              <a:t>02</a:t>
            </a:r>
            <a:endParaRPr b="0" i="0" sz="6400" u="none" cap="none" strike="noStrike">
              <a:solidFill>
                <a:schemeClr val="lt1"/>
              </a:solidFill>
              <a:latin typeface="JetBrains Mono"/>
              <a:ea typeface="JetBrains Mono"/>
              <a:cs typeface="JetBrains Mono"/>
              <a:sym typeface="JetBrains Mono"/>
            </a:endParaRPr>
          </a:p>
        </p:txBody>
      </p:sp>
      <p:pic>
        <p:nvPicPr>
          <p:cNvPr descr="line" id="39" name="Google Shape;39;p2"/>
          <p:cNvPicPr preferRelativeResize="0"/>
          <p:nvPr/>
        </p:nvPicPr>
        <p:blipFill rotWithShape="1">
          <a:blip r:embed="rId3">
            <a:alphaModFix/>
          </a:blip>
          <a:srcRect b="-63" l="0" r="0" t="-63"/>
          <a:stretch/>
        </p:blipFill>
        <p:spPr>
          <a:xfrm>
            <a:off x="2956520" y="5384800"/>
            <a:ext cx="1991370" cy="25400"/>
          </a:xfrm>
          <a:prstGeom prst="rect">
            <a:avLst/>
          </a:prstGeom>
          <a:noFill/>
          <a:ln>
            <a:noFill/>
          </a:ln>
        </p:spPr>
      </p:pic>
      <p:sp>
        <p:nvSpPr>
          <p:cNvPr id="40" name="Google Shape;40;p2"/>
          <p:cNvSpPr/>
          <p:nvPr/>
        </p:nvSpPr>
        <p:spPr>
          <a:xfrm>
            <a:off x="2956520" y="5537200"/>
            <a:ext cx="2051111"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EFE6"/>
              </a:buClr>
              <a:buSzPts val="2000"/>
              <a:buFont typeface="IBM Plex Sans"/>
              <a:buNone/>
            </a:pPr>
            <a:r>
              <a:rPr b="1" i="0" lang="en-US" sz="2000" u="none" cap="none" strike="noStrike">
                <a:solidFill>
                  <a:srgbClr val="F2EFE6"/>
                </a:solidFill>
                <a:latin typeface="IBM Plex Sans"/>
                <a:ea typeface="IBM Plex Sans"/>
                <a:cs typeface="IBM Plex Sans"/>
                <a:sym typeface="IBM Plex Sans"/>
              </a:rPr>
              <a:t>Gli oggetti</a:t>
            </a:r>
            <a:endParaRPr b="0" i="0" sz="2000" u="none" cap="none" strike="noStrike">
              <a:solidFill>
                <a:schemeClr val="lt1"/>
              </a:solidFill>
              <a:latin typeface="JetBrains Mono"/>
              <a:ea typeface="JetBrains Mono"/>
              <a:cs typeface="JetBrains Mono"/>
              <a:sym typeface="JetBrains Mono"/>
            </a:endParaRPr>
          </a:p>
        </p:txBody>
      </p:sp>
      <p:sp>
        <p:nvSpPr>
          <p:cNvPr id="41" name="Google Shape;41;p2"/>
          <p:cNvSpPr/>
          <p:nvPr/>
        </p:nvSpPr>
        <p:spPr>
          <a:xfrm>
            <a:off x="5100290" y="4445000"/>
            <a:ext cx="2051111" cy="838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FB2FF"/>
              </a:buClr>
              <a:buSzPts val="6400"/>
              <a:buFont typeface="JetBrains Mono"/>
              <a:buNone/>
            </a:pPr>
            <a:r>
              <a:rPr b="1" i="0" lang="en-US" sz="6400" u="none" cap="none" strike="noStrike">
                <a:solidFill>
                  <a:srgbClr val="7FB2FF"/>
                </a:solidFill>
                <a:latin typeface="JetBrains Mono"/>
                <a:ea typeface="JetBrains Mono"/>
                <a:cs typeface="JetBrains Mono"/>
                <a:sym typeface="JetBrains Mono"/>
              </a:rPr>
              <a:t>03</a:t>
            </a:r>
            <a:endParaRPr b="0" i="0" sz="6400" u="none" cap="none" strike="noStrike">
              <a:solidFill>
                <a:schemeClr val="lt1"/>
              </a:solidFill>
              <a:latin typeface="JetBrains Mono"/>
              <a:ea typeface="JetBrains Mono"/>
              <a:cs typeface="JetBrains Mono"/>
              <a:sym typeface="JetBrains Mono"/>
            </a:endParaRPr>
          </a:p>
        </p:txBody>
      </p:sp>
      <p:pic>
        <p:nvPicPr>
          <p:cNvPr descr="line" id="42" name="Google Shape;42;p2"/>
          <p:cNvPicPr preferRelativeResize="0"/>
          <p:nvPr/>
        </p:nvPicPr>
        <p:blipFill rotWithShape="1">
          <a:blip r:embed="rId4">
            <a:alphaModFix/>
          </a:blip>
          <a:srcRect b="-63" l="0" r="0" t="-63"/>
          <a:stretch/>
        </p:blipFill>
        <p:spPr>
          <a:xfrm>
            <a:off x="5100290" y="5384800"/>
            <a:ext cx="1991370" cy="25400"/>
          </a:xfrm>
          <a:prstGeom prst="rect">
            <a:avLst/>
          </a:prstGeom>
          <a:noFill/>
          <a:ln>
            <a:noFill/>
          </a:ln>
        </p:spPr>
      </p:pic>
      <p:sp>
        <p:nvSpPr>
          <p:cNvPr id="43" name="Google Shape;43;p2"/>
          <p:cNvSpPr/>
          <p:nvPr/>
        </p:nvSpPr>
        <p:spPr>
          <a:xfrm>
            <a:off x="5100290" y="5537200"/>
            <a:ext cx="2051111"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EFE6"/>
              </a:buClr>
              <a:buSzPts val="2000"/>
              <a:buFont typeface="IBM Plex Sans"/>
              <a:buNone/>
            </a:pPr>
            <a:r>
              <a:rPr b="1" i="0" lang="en-US" sz="2000" u="none" cap="none" strike="noStrike">
                <a:solidFill>
                  <a:srgbClr val="F2EFE6"/>
                </a:solidFill>
                <a:latin typeface="IBM Plex Sans"/>
                <a:ea typeface="IBM Plex Sans"/>
                <a:cs typeface="IBM Plex Sans"/>
                <a:sym typeface="IBM Plex Sans"/>
              </a:rPr>
              <a:t>Il client</a:t>
            </a:r>
            <a:endParaRPr b="0" i="0" sz="2000" u="none" cap="none" strike="noStrike">
              <a:solidFill>
                <a:schemeClr val="lt1"/>
              </a:solidFill>
              <a:latin typeface="JetBrains Mono"/>
              <a:ea typeface="JetBrains Mono"/>
              <a:cs typeface="JetBrains Mono"/>
              <a:sym typeface="JetBrains Mono"/>
            </a:endParaRPr>
          </a:p>
        </p:txBody>
      </p:sp>
      <p:sp>
        <p:nvSpPr>
          <p:cNvPr id="44" name="Google Shape;44;p2"/>
          <p:cNvSpPr/>
          <p:nvPr/>
        </p:nvSpPr>
        <p:spPr>
          <a:xfrm>
            <a:off x="7244060" y="4445000"/>
            <a:ext cx="2051111" cy="838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F9A5C"/>
              </a:buClr>
              <a:buSzPts val="6400"/>
              <a:buFont typeface="JetBrains Mono"/>
              <a:buNone/>
            </a:pPr>
            <a:r>
              <a:rPr b="1" i="0" lang="en-US" sz="6400" u="none" cap="none" strike="noStrike">
                <a:solidFill>
                  <a:srgbClr val="FF9A5C"/>
                </a:solidFill>
                <a:latin typeface="JetBrains Mono"/>
                <a:ea typeface="JetBrains Mono"/>
                <a:cs typeface="JetBrains Mono"/>
                <a:sym typeface="JetBrains Mono"/>
              </a:rPr>
              <a:t>04</a:t>
            </a:r>
            <a:endParaRPr b="0" i="0" sz="6400" u="none" cap="none" strike="noStrike">
              <a:solidFill>
                <a:schemeClr val="lt1"/>
              </a:solidFill>
              <a:latin typeface="JetBrains Mono"/>
              <a:ea typeface="JetBrains Mono"/>
              <a:cs typeface="JetBrains Mono"/>
              <a:sym typeface="JetBrains Mono"/>
            </a:endParaRPr>
          </a:p>
        </p:txBody>
      </p:sp>
      <p:pic>
        <p:nvPicPr>
          <p:cNvPr descr="line" id="45" name="Google Shape;45;p2"/>
          <p:cNvPicPr preferRelativeResize="0"/>
          <p:nvPr/>
        </p:nvPicPr>
        <p:blipFill rotWithShape="1">
          <a:blip r:embed="rId5">
            <a:alphaModFix/>
          </a:blip>
          <a:srcRect b="-63" l="0" r="0" t="-63"/>
          <a:stretch/>
        </p:blipFill>
        <p:spPr>
          <a:xfrm>
            <a:off x="7244060" y="5384800"/>
            <a:ext cx="1991370" cy="25400"/>
          </a:xfrm>
          <a:prstGeom prst="rect">
            <a:avLst/>
          </a:prstGeom>
          <a:noFill/>
          <a:ln>
            <a:noFill/>
          </a:ln>
        </p:spPr>
      </p:pic>
      <p:sp>
        <p:nvSpPr>
          <p:cNvPr id="46" name="Google Shape;46;p2"/>
          <p:cNvSpPr/>
          <p:nvPr/>
        </p:nvSpPr>
        <p:spPr>
          <a:xfrm>
            <a:off x="7244060" y="5537200"/>
            <a:ext cx="2051111"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EFE6"/>
              </a:buClr>
              <a:buSzPts val="2000"/>
              <a:buFont typeface="IBM Plex Sans"/>
              <a:buNone/>
            </a:pPr>
            <a:r>
              <a:rPr b="1" i="0" lang="en-US" sz="2000" u="none" cap="none" strike="noStrike">
                <a:solidFill>
                  <a:srgbClr val="F2EFE6"/>
                </a:solidFill>
                <a:latin typeface="IBM Plex Sans"/>
                <a:ea typeface="IBM Plex Sans"/>
                <a:cs typeface="IBM Plex Sans"/>
                <a:sym typeface="IBM Plex Sans"/>
              </a:rPr>
              <a:t>Il server</a:t>
            </a:r>
            <a:endParaRPr b="0" i="0" sz="2000" u="none" cap="none" strike="noStrike">
              <a:solidFill>
                <a:schemeClr val="lt1"/>
              </a:solidFill>
              <a:latin typeface="JetBrains Mono"/>
              <a:ea typeface="JetBrains Mono"/>
              <a:cs typeface="JetBrains Mono"/>
              <a:sym typeface="JetBrains Mono"/>
            </a:endParaRPr>
          </a:p>
        </p:txBody>
      </p:sp>
      <p:sp>
        <p:nvSpPr>
          <p:cNvPr id="47" name="Google Shape;47;p2"/>
          <p:cNvSpPr/>
          <p:nvPr/>
        </p:nvSpPr>
        <p:spPr>
          <a:xfrm>
            <a:off x="9387830" y="4445000"/>
            <a:ext cx="2051111" cy="838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2EFE6"/>
              </a:buClr>
              <a:buSzPts val="6400"/>
              <a:buFont typeface="JetBrains Mono"/>
              <a:buNone/>
            </a:pPr>
            <a:r>
              <a:rPr b="1" i="0" lang="en-US" sz="6400" u="none" cap="none" strike="noStrike">
                <a:solidFill>
                  <a:srgbClr val="F2EFE6"/>
                </a:solidFill>
                <a:latin typeface="JetBrains Mono"/>
                <a:ea typeface="JetBrains Mono"/>
                <a:cs typeface="JetBrains Mono"/>
                <a:sym typeface="JetBrains Mono"/>
              </a:rPr>
              <a:t>05</a:t>
            </a:r>
            <a:endParaRPr b="0" i="0" sz="6400" u="none" cap="none" strike="noStrike">
              <a:solidFill>
                <a:schemeClr val="lt1"/>
              </a:solidFill>
              <a:latin typeface="JetBrains Mono"/>
              <a:ea typeface="JetBrains Mono"/>
              <a:cs typeface="JetBrains Mono"/>
              <a:sym typeface="JetBrains Mono"/>
            </a:endParaRPr>
          </a:p>
        </p:txBody>
      </p:sp>
      <p:pic>
        <p:nvPicPr>
          <p:cNvPr descr="line" id="48" name="Google Shape;48;p2"/>
          <p:cNvPicPr preferRelativeResize="0"/>
          <p:nvPr/>
        </p:nvPicPr>
        <p:blipFill rotWithShape="1">
          <a:blip r:embed="rId3">
            <a:alphaModFix/>
          </a:blip>
          <a:srcRect b="-63" l="0" r="0" t="-63"/>
          <a:stretch/>
        </p:blipFill>
        <p:spPr>
          <a:xfrm>
            <a:off x="9387830" y="5384800"/>
            <a:ext cx="1991370" cy="25400"/>
          </a:xfrm>
          <a:prstGeom prst="rect">
            <a:avLst/>
          </a:prstGeom>
          <a:noFill/>
          <a:ln>
            <a:noFill/>
          </a:ln>
        </p:spPr>
      </p:pic>
      <p:sp>
        <p:nvSpPr>
          <p:cNvPr id="49" name="Google Shape;49;p2"/>
          <p:cNvSpPr/>
          <p:nvPr/>
        </p:nvSpPr>
        <p:spPr>
          <a:xfrm>
            <a:off x="9387830" y="5537200"/>
            <a:ext cx="2051111"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EFE6"/>
              </a:buClr>
              <a:buSzPts val="2000"/>
              <a:buFont typeface="IBM Plex Sans"/>
              <a:buNone/>
            </a:pPr>
            <a:r>
              <a:rPr b="1" i="0" lang="en-US" sz="2000" u="none" cap="none" strike="noStrike">
                <a:solidFill>
                  <a:srgbClr val="F2EFE6"/>
                </a:solidFill>
                <a:latin typeface="IBM Plex Sans"/>
                <a:ea typeface="IBM Plex Sans"/>
                <a:cs typeface="IBM Plex Sans"/>
                <a:sym typeface="IBM Plex Sans"/>
              </a:rPr>
              <a:t>L'avvio</a:t>
            </a:r>
            <a:endParaRPr b="0" i="0" sz="2000" u="none" cap="none" strike="noStrike">
              <a:solidFill>
                <a:schemeClr val="lt1"/>
              </a:solidFill>
              <a:latin typeface="JetBrains Mono"/>
              <a:ea typeface="JetBrains Mono"/>
              <a:cs typeface="JetBrains Mono"/>
              <a:sym typeface="JetBrains Mono"/>
            </a:endParaRPr>
          </a:p>
        </p:txBody>
      </p:sp>
      <p:sp>
        <p:nvSpPr>
          <p:cNvPr id="50" name="Google Shape;50;p2"/>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51" name="Google Shape;51;p2"/>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02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56" name="Shape 56"/>
        <p:cNvGrpSpPr/>
        <p:nvPr/>
      </p:nvGrpSpPr>
      <p:grpSpPr>
        <a:xfrm>
          <a:off x="0" y="0"/>
          <a:ext cx="0" cy="0"/>
          <a:chOff x="0" y="0"/>
          <a:chExt cx="0" cy="0"/>
        </a:xfrm>
      </p:grpSpPr>
      <p:sp>
        <p:nvSpPr>
          <p:cNvPr id="57" name="Google Shape;57;p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01 · L'IDEA</a:t>
            </a:r>
            <a:endParaRPr b="0" i="0" sz="1200" u="none" cap="none" strike="noStrike">
              <a:solidFill>
                <a:schemeClr val="lt1"/>
              </a:solidFill>
              <a:latin typeface="JetBrains Mono"/>
              <a:ea typeface="JetBrains Mono"/>
              <a:cs typeface="JetBrains Mono"/>
              <a:sym typeface="JetBrains Mono"/>
            </a:endParaRPr>
          </a:p>
        </p:txBody>
      </p:sp>
      <p:sp>
        <p:nvSpPr>
          <p:cNvPr id="58" name="Google Shape;58;p3"/>
          <p:cNvSpPr txBox="1"/>
          <p:nvPr>
            <p:ph type="title"/>
          </p:nvPr>
        </p:nvSpPr>
        <p:spPr>
          <a:xfrm>
            <a:off x="812800" y="1890117"/>
            <a:ext cx="10883392" cy="1451769"/>
          </a:xfrm>
          <a:prstGeom prst="rect">
            <a:avLst/>
          </a:prstGeom>
          <a:noFill/>
          <a:ln>
            <a:noFill/>
          </a:ln>
        </p:spPr>
        <p:txBody>
          <a:bodyPr anchorCtr="0" anchor="t" bIns="0" lIns="0" spcFirstLastPara="1" rIns="0" wrap="square" tIns="0">
            <a:normAutofit/>
          </a:bodyPr>
          <a:lstStyle/>
          <a:p>
            <a:pPr indent="0" lvl="0" marL="0" rtl="0" algn="l">
              <a:lnSpc>
                <a:spcPct val="108000"/>
              </a:lnSpc>
              <a:spcBef>
                <a:spcPts val="0"/>
              </a:spcBef>
              <a:spcAft>
                <a:spcPts val="0"/>
              </a:spcAft>
              <a:buClr>
                <a:srgbClr val="F2EFE6"/>
              </a:buClr>
              <a:buSzPts val="5200"/>
              <a:buFont typeface="IBM Plex Sans"/>
              <a:buNone/>
            </a:pPr>
            <a:r>
              <a:rPr b="1" i="0" lang="en-US" sz="5200">
                <a:solidFill>
                  <a:srgbClr val="F2EFE6"/>
                </a:solidFill>
                <a:latin typeface="IBM Plex Sans"/>
                <a:ea typeface="IBM Plex Sans"/>
                <a:cs typeface="IBM Plex Sans"/>
                <a:sym typeface="IBM Plex Sans"/>
              </a:rPr>
              <a:t>Un socket è l'</a:t>
            </a:r>
            <a:r>
              <a:rPr b="1" i="0" lang="en-US" sz="5200">
                <a:solidFill>
                  <a:srgbClr val="FF9A5C"/>
                </a:solidFill>
                <a:latin typeface="IBM Plex Sans"/>
                <a:ea typeface="IBM Plex Sans"/>
                <a:cs typeface="IBM Plex Sans"/>
                <a:sym typeface="IBM Plex Sans"/>
              </a:rPr>
              <a:t>endpoint</a:t>
            </a:r>
            <a:r>
              <a:rPr b="1" i="0" lang="en-US" sz="5200">
                <a:solidFill>
                  <a:srgbClr val="F2EFE6"/>
                </a:solidFill>
                <a:latin typeface="IBM Plex Sans"/>
                <a:ea typeface="IBM Plex Sans"/>
                <a:cs typeface="IBM Plex Sans"/>
                <a:sym typeface="IBM Plex Sans"/>
              </a:rPr>
              <a:t> di una connessione tra due processi.</a:t>
            </a:r>
            <a:endParaRPr sz="5200"/>
          </a:p>
        </p:txBody>
      </p:sp>
      <p:sp>
        <p:nvSpPr>
          <p:cNvPr id="59" name="Google Shape;59;p3"/>
          <p:cNvSpPr/>
          <p:nvPr/>
        </p:nvSpPr>
        <p:spPr>
          <a:xfrm>
            <a:off x="812800" y="4180483"/>
            <a:ext cx="995710" cy="426690"/>
          </a:xfrm>
          <a:prstGeom prst="roundRect">
            <a:avLst>
              <a:gd fmla="val 17858" name="adj"/>
            </a:avLst>
          </a:prstGeom>
          <a:solidFill>
            <a:srgbClr val="7FB2F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320"/>
              </a:buClr>
              <a:buSzPts val="1400"/>
              <a:buFont typeface="JetBrains Mono"/>
              <a:buNone/>
            </a:pPr>
            <a:r>
              <a:rPr b="1" i="0" lang="en-US" sz="1400" u="none" cap="none" strike="noStrike">
                <a:solidFill>
                  <a:srgbClr val="0E1320"/>
                </a:solidFill>
                <a:latin typeface="JetBrains Mono"/>
                <a:ea typeface="JetBrains Mono"/>
                <a:cs typeface="JetBrains Mono"/>
                <a:sym typeface="JetBrains Mono"/>
              </a:rPr>
              <a:t>Client</a:t>
            </a:r>
            <a:endParaRPr b="0" i="0" sz="1400" u="none" cap="none" strike="noStrike">
              <a:solidFill>
                <a:schemeClr val="lt1"/>
              </a:solidFill>
              <a:latin typeface="JetBrains Mono"/>
              <a:ea typeface="JetBrains Mono"/>
              <a:cs typeface="JetBrains Mono"/>
              <a:sym typeface="JetBrains Mono"/>
            </a:endParaRPr>
          </a:p>
        </p:txBody>
      </p:sp>
      <p:pic>
        <p:nvPicPr>
          <p:cNvPr descr="connector" id="60" name="Google Shape;60;p3"/>
          <p:cNvPicPr preferRelativeResize="0"/>
          <p:nvPr/>
        </p:nvPicPr>
        <p:blipFill rotWithShape="1">
          <a:blip r:embed="rId3">
            <a:alphaModFix/>
          </a:blip>
          <a:srcRect b="0" l="0" r="0" t="0"/>
          <a:stretch/>
        </p:blipFill>
        <p:spPr>
          <a:xfrm>
            <a:off x="1960910" y="4355703"/>
            <a:ext cx="1778000" cy="76200"/>
          </a:xfrm>
          <a:prstGeom prst="rect">
            <a:avLst/>
          </a:prstGeom>
          <a:noFill/>
          <a:ln>
            <a:noFill/>
          </a:ln>
        </p:spPr>
      </p:pic>
      <p:sp>
        <p:nvSpPr>
          <p:cNvPr id="61" name="Google Shape;61;p3"/>
          <p:cNvSpPr/>
          <p:nvPr/>
        </p:nvSpPr>
        <p:spPr>
          <a:xfrm>
            <a:off x="3891310" y="4278263"/>
            <a:ext cx="2202954" cy="25653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300"/>
              <a:buFont typeface="IBM Plex Sans"/>
              <a:buNone/>
            </a:pPr>
            <a:r>
              <a:rPr b="0" i="0" lang="en-US" sz="1300" u="none" cap="none" strike="noStrike">
                <a:solidFill>
                  <a:srgbClr val="AEB6C4"/>
                </a:solidFill>
                <a:latin typeface="IBM Plex Sans"/>
                <a:ea typeface="IBM Plex Sans"/>
                <a:cs typeface="IBM Plex Sans"/>
                <a:sym typeface="IBM Plex Sans"/>
              </a:rPr>
              <a:t>stream di byte bidirezionale</a:t>
            </a:r>
            <a:endParaRPr b="0" i="0" sz="1300" u="none" cap="none" strike="noStrike">
              <a:solidFill>
                <a:schemeClr val="lt1"/>
              </a:solidFill>
              <a:latin typeface="JetBrains Mono"/>
              <a:ea typeface="JetBrains Mono"/>
              <a:cs typeface="JetBrains Mono"/>
              <a:sym typeface="JetBrains Mono"/>
            </a:endParaRPr>
          </a:p>
        </p:txBody>
      </p:sp>
      <p:pic>
        <p:nvPicPr>
          <p:cNvPr descr="connector" id="62" name="Google Shape;62;p3"/>
          <p:cNvPicPr preferRelativeResize="0"/>
          <p:nvPr/>
        </p:nvPicPr>
        <p:blipFill rotWithShape="1">
          <a:blip r:embed="rId3">
            <a:alphaModFix/>
          </a:blip>
          <a:srcRect b="0" l="0" r="0" t="0"/>
          <a:stretch/>
        </p:blipFill>
        <p:spPr>
          <a:xfrm>
            <a:off x="6094264" y="4355703"/>
            <a:ext cx="1778000" cy="76200"/>
          </a:xfrm>
          <a:prstGeom prst="rect">
            <a:avLst/>
          </a:prstGeom>
          <a:noFill/>
          <a:ln>
            <a:noFill/>
          </a:ln>
        </p:spPr>
      </p:pic>
      <p:sp>
        <p:nvSpPr>
          <p:cNvPr id="63" name="Google Shape;63;p3"/>
          <p:cNvSpPr/>
          <p:nvPr/>
        </p:nvSpPr>
        <p:spPr>
          <a:xfrm>
            <a:off x="8024664" y="4180483"/>
            <a:ext cx="995710" cy="426690"/>
          </a:xfrm>
          <a:prstGeom prst="roundRect">
            <a:avLst>
              <a:gd fmla="val 17858" name="adj"/>
            </a:avLst>
          </a:prstGeom>
          <a:solidFill>
            <a:srgbClr val="FF9A5C"/>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320"/>
              </a:buClr>
              <a:buSzPts val="1400"/>
              <a:buFont typeface="JetBrains Mono"/>
              <a:buNone/>
            </a:pPr>
            <a:r>
              <a:rPr b="1" i="0" lang="en-US" sz="1400" u="none" cap="none" strike="noStrike">
                <a:solidFill>
                  <a:srgbClr val="0E1320"/>
                </a:solidFill>
                <a:latin typeface="JetBrains Mono"/>
                <a:ea typeface="JetBrains Mono"/>
                <a:cs typeface="JetBrains Mono"/>
                <a:sym typeface="JetBrains Mono"/>
              </a:rPr>
              <a:t>Server</a:t>
            </a:r>
            <a:endParaRPr b="0" i="0" sz="1400" u="none" cap="none" strike="noStrike">
              <a:solidFill>
                <a:schemeClr val="lt1"/>
              </a:solidFill>
              <a:latin typeface="JetBrains Mono"/>
              <a:ea typeface="JetBrains Mono"/>
              <a:cs typeface="JetBrains Mono"/>
              <a:sym typeface="JetBrains Mono"/>
            </a:endParaRPr>
          </a:p>
        </p:txBody>
      </p:sp>
      <p:sp>
        <p:nvSpPr>
          <p:cNvPr id="64" name="Google Shape;64;p3"/>
          <p:cNvSpPr/>
          <p:nvPr/>
        </p:nvSpPr>
        <p:spPr>
          <a:xfrm>
            <a:off x="812800" y="5541020"/>
            <a:ext cx="356652" cy="25653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300"/>
              <a:buFont typeface="JetBrains Mono"/>
              <a:buNone/>
            </a:pPr>
            <a:r>
              <a:rPr b="1" i="0" lang="en-US" sz="1300" u="none" cap="none" strike="noStrike">
                <a:solidFill>
                  <a:srgbClr val="AEB6C4"/>
                </a:solidFill>
                <a:latin typeface="JetBrains Mono"/>
                <a:ea typeface="JetBrains Mono"/>
                <a:cs typeface="JetBrains Mono"/>
                <a:sym typeface="JetBrains Mono"/>
              </a:rPr>
              <a:t>TCP</a:t>
            </a:r>
            <a:endParaRPr b="0" i="0" sz="1300" u="none" cap="none" strike="noStrike">
              <a:solidFill>
                <a:schemeClr val="lt1"/>
              </a:solidFill>
              <a:latin typeface="JetBrains Mono"/>
              <a:ea typeface="JetBrains Mono"/>
              <a:cs typeface="JetBrains Mono"/>
              <a:sym typeface="JetBrains Mono"/>
            </a:endParaRPr>
          </a:p>
        </p:txBody>
      </p:sp>
      <p:sp>
        <p:nvSpPr>
          <p:cNvPr id="65" name="Google Shape;65;p3"/>
          <p:cNvSpPr/>
          <p:nvPr/>
        </p:nvSpPr>
        <p:spPr>
          <a:xfrm>
            <a:off x="1214785" y="5474345"/>
            <a:ext cx="2259707" cy="364480"/>
          </a:xfrm>
          <a:prstGeom prst="roundRect">
            <a:avLst>
              <a:gd fmla="val 50000" name="adj"/>
            </a:avLst>
          </a:prstGeom>
          <a:noFill/>
          <a:ln cap="flat" cmpd="sng" w="9525">
            <a:solidFill>
              <a:srgbClr val="3A4558"/>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2EFE6"/>
              </a:buClr>
              <a:buSzPts val="1300"/>
              <a:buFont typeface="IBM Plex Sans"/>
              <a:buNone/>
            </a:pPr>
            <a:r>
              <a:rPr b="0" i="0" lang="en-US" sz="1300" u="none" cap="none" strike="noStrike">
                <a:solidFill>
                  <a:srgbClr val="F2EFE6"/>
                </a:solidFill>
                <a:latin typeface="IBM Plex Sans"/>
                <a:ea typeface="IBM Plex Sans"/>
                <a:cs typeface="IBM Plex Sans"/>
                <a:sym typeface="IBM Plex Sans"/>
              </a:rPr>
              <a:t>orientato alla connessione</a:t>
            </a:r>
            <a:endParaRPr b="0" i="0" sz="1300" u="none" cap="none" strike="noStrike">
              <a:solidFill>
                <a:schemeClr val="lt1"/>
              </a:solidFill>
              <a:latin typeface="JetBrains Mono"/>
              <a:ea typeface="JetBrains Mono"/>
              <a:cs typeface="JetBrains Mono"/>
              <a:sym typeface="JetBrains Mono"/>
            </a:endParaRPr>
          </a:p>
        </p:txBody>
      </p:sp>
      <p:sp>
        <p:nvSpPr>
          <p:cNvPr id="66" name="Google Shape;66;p3"/>
          <p:cNvSpPr/>
          <p:nvPr/>
        </p:nvSpPr>
        <p:spPr>
          <a:xfrm>
            <a:off x="3582442" y="5474345"/>
            <a:ext cx="1792288" cy="364480"/>
          </a:xfrm>
          <a:prstGeom prst="roundRect">
            <a:avLst>
              <a:gd fmla="val 50000" name="adj"/>
            </a:avLst>
          </a:prstGeom>
          <a:noFill/>
          <a:ln cap="flat" cmpd="sng" w="9525">
            <a:solidFill>
              <a:srgbClr val="3A4558"/>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2EFE6"/>
              </a:buClr>
              <a:buSzPts val="1300"/>
              <a:buFont typeface="IBM Plex Sans"/>
              <a:buNone/>
            </a:pPr>
            <a:r>
              <a:rPr b="0" i="0" lang="en-US" sz="1300" u="none" cap="none" strike="noStrike">
                <a:solidFill>
                  <a:srgbClr val="F2EFE6"/>
                </a:solidFill>
                <a:latin typeface="IBM Plex Sans"/>
                <a:ea typeface="IBM Plex Sans"/>
                <a:cs typeface="IBM Plex Sans"/>
                <a:sym typeface="IBM Plex Sans"/>
              </a:rPr>
              <a:t>affidabile e ordinato</a:t>
            </a:r>
            <a:endParaRPr b="0" i="0" sz="1300" u="none" cap="none" strike="noStrike">
              <a:solidFill>
                <a:schemeClr val="lt1"/>
              </a:solidFill>
              <a:latin typeface="JetBrains Mono"/>
              <a:ea typeface="JetBrains Mono"/>
              <a:cs typeface="JetBrains Mono"/>
              <a:sym typeface="JetBrains Mono"/>
            </a:endParaRPr>
          </a:p>
        </p:txBody>
      </p:sp>
      <p:sp>
        <p:nvSpPr>
          <p:cNvPr id="67" name="Google Shape;67;p3"/>
          <p:cNvSpPr/>
          <p:nvPr/>
        </p:nvSpPr>
        <p:spPr>
          <a:xfrm>
            <a:off x="5482679" y="5474345"/>
            <a:ext cx="1262658" cy="364480"/>
          </a:xfrm>
          <a:prstGeom prst="roundRect">
            <a:avLst>
              <a:gd fmla="val 50000" name="adj"/>
            </a:avLst>
          </a:prstGeom>
          <a:noFill/>
          <a:ln cap="flat" cmpd="sng" w="9525">
            <a:solidFill>
              <a:srgbClr val="3A4558"/>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2EFE6"/>
              </a:buClr>
              <a:buSzPts val="1300"/>
              <a:buFont typeface="IBM Plex Sans"/>
              <a:buNone/>
            </a:pPr>
            <a:r>
              <a:rPr b="0" i="0" lang="en-US" sz="1300" u="none" cap="none" strike="noStrike">
                <a:solidFill>
                  <a:srgbClr val="F2EFE6"/>
                </a:solidFill>
                <a:latin typeface="IBM Plex Sans"/>
                <a:ea typeface="IBM Plex Sans"/>
                <a:cs typeface="IBM Plex Sans"/>
                <a:sym typeface="IBM Plex Sans"/>
              </a:rPr>
              <a:t>bidirezionale</a:t>
            </a:r>
            <a:endParaRPr b="0" i="0" sz="1300" u="none" cap="none" strike="noStrike">
              <a:solidFill>
                <a:schemeClr val="lt1"/>
              </a:solidFill>
              <a:latin typeface="JetBrains Mono"/>
              <a:ea typeface="JetBrains Mono"/>
              <a:cs typeface="JetBrains Mono"/>
              <a:sym typeface="JetBrains Mono"/>
            </a:endParaRPr>
          </a:p>
        </p:txBody>
      </p:sp>
      <p:sp>
        <p:nvSpPr>
          <p:cNvPr id="68" name="Google Shape;68;p3"/>
          <p:cNvSpPr/>
          <p:nvPr/>
        </p:nvSpPr>
        <p:spPr>
          <a:xfrm>
            <a:off x="6853287" y="5474345"/>
            <a:ext cx="1422946" cy="364480"/>
          </a:xfrm>
          <a:prstGeom prst="roundRect">
            <a:avLst>
              <a:gd fmla="val 50000" name="adj"/>
            </a:avLst>
          </a:prstGeom>
          <a:noFill/>
          <a:ln cap="flat" cmpd="sng" w="9525">
            <a:solidFill>
              <a:srgbClr val="3A4558"/>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2EFE6"/>
              </a:buClr>
              <a:buSzPts val="1300"/>
              <a:buFont typeface="IBM Plex Sans"/>
              <a:buNone/>
            </a:pPr>
            <a:r>
              <a:rPr b="0" i="0" lang="en-US" sz="1300" u="none" cap="none" strike="noStrike">
                <a:solidFill>
                  <a:srgbClr val="F2EFE6"/>
                </a:solidFill>
                <a:latin typeface="IBM Plex Sans"/>
                <a:ea typeface="IBM Plex Sans"/>
                <a:cs typeface="IBM Plex Sans"/>
                <a:sym typeface="IBM Plex Sans"/>
              </a:rPr>
              <a:t>a flusso di byte</a:t>
            </a:r>
            <a:endParaRPr b="0" i="0" sz="1300" u="none" cap="none" strike="noStrike">
              <a:solidFill>
                <a:schemeClr val="lt1"/>
              </a:solidFill>
              <a:latin typeface="JetBrains Mono"/>
              <a:ea typeface="JetBrains Mono"/>
              <a:cs typeface="JetBrains Mono"/>
              <a:sym typeface="JetBrains Mono"/>
            </a:endParaRPr>
          </a:p>
        </p:txBody>
      </p:sp>
      <p:sp>
        <p:nvSpPr>
          <p:cNvPr id="69" name="Google Shape;69;p3"/>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70" name="Google Shape;70;p3"/>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03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75" name="Shape 75"/>
        <p:cNvGrpSpPr/>
        <p:nvPr/>
      </p:nvGrpSpPr>
      <p:grpSpPr>
        <a:xfrm>
          <a:off x="0" y="0"/>
          <a:ext cx="0" cy="0"/>
          <a:chOff x="0" y="0"/>
          <a:chExt cx="0" cy="0"/>
        </a:xfrm>
      </p:grpSpPr>
      <p:sp>
        <p:nvSpPr>
          <p:cNvPr id="76" name="Google Shape;76;p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01 · L'IDEA</a:t>
            </a:r>
            <a:endParaRPr b="0" i="0" sz="1200" u="none" cap="none" strike="noStrike">
              <a:solidFill>
                <a:schemeClr val="lt1"/>
              </a:solidFill>
              <a:latin typeface="JetBrains Mono"/>
              <a:ea typeface="JetBrains Mono"/>
              <a:cs typeface="JetBrains Mono"/>
              <a:sym typeface="JetBrains Mono"/>
            </a:endParaRPr>
          </a:p>
        </p:txBody>
      </p:sp>
      <p:sp>
        <p:nvSpPr>
          <p:cNvPr id="77" name="Google Shape;77;p4"/>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Un socket è identificato da indirizzo IP e porta</a:t>
            </a:r>
            <a:endParaRPr sz="3000"/>
          </a:p>
        </p:txBody>
      </p:sp>
      <p:sp>
        <p:nvSpPr>
          <p:cNvPr id="78" name="Google Shape;78;p4"/>
          <p:cNvSpPr/>
          <p:nvPr/>
        </p:nvSpPr>
        <p:spPr>
          <a:xfrm>
            <a:off x="812800" y="3340199"/>
            <a:ext cx="6476950" cy="1168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FB2FF"/>
              </a:buClr>
              <a:buSzPts val="9000"/>
              <a:buFont typeface="JetBrains Mono"/>
              <a:buNone/>
            </a:pPr>
            <a:r>
              <a:rPr b="1" i="0" lang="en-US" sz="9000" u="none" cap="none" strike="noStrike">
                <a:solidFill>
                  <a:srgbClr val="7FB2FF"/>
                </a:solidFill>
                <a:latin typeface="JetBrains Mono"/>
                <a:ea typeface="JetBrains Mono"/>
                <a:cs typeface="JetBrains Mono"/>
                <a:sym typeface="JetBrains Mono"/>
              </a:rPr>
              <a:t>localhost</a:t>
            </a:r>
            <a:endParaRPr b="0" i="0" sz="9000" u="none" cap="none" strike="noStrike">
              <a:solidFill>
                <a:schemeClr val="lt1"/>
              </a:solidFill>
              <a:latin typeface="JetBrains Mono"/>
              <a:ea typeface="JetBrains Mono"/>
              <a:cs typeface="JetBrains Mono"/>
              <a:sym typeface="JetBrains Mono"/>
            </a:endParaRPr>
          </a:p>
        </p:txBody>
      </p:sp>
      <p:sp>
        <p:nvSpPr>
          <p:cNvPr id="79" name="Google Shape;79;p4"/>
          <p:cNvSpPr/>
          <p:nvPr/>
        </p:nvSpPr>
        <p:spPr>
          <a:xfrm>
            <a:off x="812800" y="4610199"/>
            <a:ext cx="635731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1" i="0" lang="en-US" sz="1200" u="none" cap="none" strike="noStrike">
                <a:solidFill>
                  <a:srgbClr val="7FB2FF"/>
                </a:solidFill>
                <a:latin typeface="JetBrains Mono"/>
                <a:ea typeface="JetBrains Mono"/>
                <a:cs typeface="JetBrains Mono"/>
                <a:sym typeface="JetBrains Mono"/>
              </a:rPr>
              <a:t>INDIRIZZO IP / NOME HOST</a:t>
            </a:r>
            <a:endParaRPr b="0" i="0" sz="1200" u="none" cap="none" strike="noStrike">
              <a:solidFill>
                <a:schemeClr val="lt1"/>
              </a:solidFill>
              <a:latin typeface="JetBrains Mono"/>
              <a:ea typeface="JetBrains Mono"/>
              <a:cs typeface="JetBrains Mono"/>
              <a:sym typeface="JetBrains Mono"/>
            </a:endParaRPr>
          </a:p>
        </p:txBody>
      </p:sp>
      <p:sp>
        <p:nvSpPr>
          <p:cNvPr id="80" name="Google Shape;80;p4"/>
          <p:cNvSpPr/>
          <p:nvPr/>
        </p:nvSpPr>
        <p:spPr>
          <a:xfrm>
            <a:off x="812800" y="4950520"/>
            <a:ext cx="5886450" cy="61972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2EFE6"/>
              </a:buClr>
              <a:buSzPts val="1800"/>
              <a:buFont typeface="IBM Plex Sans"/>
              <a:buNone/>
            </a:pPr>
            <a:r>
              <a:rPr b="0" i="0" lang="en-US" sz="1800" u="none" cap="none" strike="noStrike">
                <a:solidFill>
                  <a:srgbClr val="F2EFE6"/>
                </a:solidFill>
                <a:latin typeface="IBM Plex Sans"/>
                <a:ea typeface="IBM Plex Sans"/>
                <a:cs typeface="IBM Plex Sans"/>
                <a:sym typeface="IBM Plex Sans"/>
              </a:rPr>
              <a:t>Identifica l'host sulla rete. localhost corrisponde a 127.0.0.1, la macchina locale.</a:t>
            </a:r>
            <a:endParaRPr b="0" i="0" sz="1800" u="none" cap="none" strike="noStrike">
              <a:solidFill>
                <a:schemeClr val="lt1"/>
              </a:solidFill>
              <a:latin typeface="JetBrains Mono"/>
              <a:ea typeface="JetBrains Mono"/>
              <a:cs typeface="JetBrains Mono"/>
              <a:sym typeface="JetBrains Mono"/>
            </a:endParaRPr>
          </a:p>
        </p:txBody>
      </p:sp>
      <p:sp>
        <p:nvSpPr>
          <p:cNvPr id="81" name="Google Shape;81;p4"/>
          <p:cNvSpPr/>
          <p:nvPr/>
        </p:nvSpPr>
        <p:spPr>
          <a:xfrm>
            <a:off x="7289750" y="3340199"/>
            <a:ext cx="822960" cy="1168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8A93A4"/>
              </a:buClr>
              <a:buSzPts val="9000"/>
              <a:buFont typeface="JetBrains Mono"/>
              <a:buNone/>
            </a:pPr>
            <a:r>
              <a:rPr b="1" i="0" lang="en-US" sz="9000" u="none" cap="none" strike="noStrike">
                <a:solidFill>
                  <a:srgbClr val="8A93A4"/>
                </a:solidFill>
                <a:latin typeface="JetBrains Mono"/>
                <a:ea typeface="JetBrains Mono"/>
                <a:cs typeface="JetBrains Mono"/>
                <a:sym typeface="JetBrains Mono"/>
              </a:rPr>
              <a:t>:</a:t>
            </a:r>
            <a:endParaRPr b="0" i="0" sz="9000" u="none" cap="none" strike="noStrike">
              <a:solidFill>
                <a:schemeClr val="lt1"/>
              </a:solidFill>
              <a:latin typeface="JetBrains Mono"/>
              <a:ea typeface="JetBrains Mono"/>
              <a:cs typeface="JetBrains Mono"/>
              <a:sym typeface="JetBrains Mono"/>
            </a:endParaRPr>
          </a:p>
        </p:txBody>
      </p:sp>
      <p:sp>
        <p:nvSpPr>
          <p:cNvPr id="82" name="Google Shape;82;p4"/>
          <p:cNvSpPr/>
          <p:nvPr/>
        </p:nvSpPr>
        <p:spPr>
          <a:xfrm>
            <a:off x="8280350" y="3340199"/>
            <a:ext cx="3352800" cy="1168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F9A5C"/>
              </a:buClr>
              <a:buSzPts val="9000"/>
              <a:buFont typeface="JetBrains Mono"/>
              <a:buNone/>
            </a:pPr>
            <a:r>
              <a:rPr b="1" i="0" lang="en-US" sz="9000" u="none" cap="none" strike="noStrike">
                <a:solidFill>
                  <a:srgbClr val="FF9A5C"/>
                </a:solidFill>
                <a:latin typeface="JetBrains Mono"/>
                <a:ea typeface="JetBrains Mono"/>
                <a:cs typeface="JetBrains Mono"/>
                <a:sym typeface="JetBrains Mono"/>
              </a:rPr>
              <a:t>6789</a:t>
            </a:r>
            <a:endParaRPr b="0" i="0" sz="9000" u="none" cap="none" strike="noStrike">
              <a:solidFill>
                <a:schemeClr val="lt1"/>
              </a:solidFill>
              <a:latin typeface="JetBrains Mono"/>
              <a:ea typeface="JetBrains Mono"/>
              <a:cs typeface="JetBrains Mono"/>
              <a:sym typeface="JetBrains Mono"/>
            </a:endParaRPr>
          </a:p>
        </p:txBody>
      </p:sp>
      <p:sp>
        <p:nvSpPr>
          <p:cNvPr id="83" name="Google Shape;83;p4"/>
          <p:cNvSpPr/>
          <p:nvPr/>
        </p:nvSpPr>
        <p:spPr>
          <a:xfrm>
            <a:off x="8280350" y="4610199"/>
            <a:ext cx="287782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1" i="0" lang="en-US" sz="1200" u="none" cap="none" strike="noStrike">
                <a:solidFill>
                  <a:srgbClr val="FF9A5C"/>
                </a:solidFill>
                <a:latin typeface="JetBrains Mono"/>
                <a:ea typeface="JetBrains Mono"/>
                <a:cs typeface="JetBrains Mono"/>
                <a:sym typeface="JetBrains Mono"/>
              </a:rPr>
              <a:t>PORTA TCP</a:t>
            </a:r>
            <a:endParaRPr b="0" i="0" sz="1200" u="none" cap="none" strike="noStrike">
              <a:solidFill>
                <a:schemeClr val="lt1"/>
              </a:solidFill>
              <a:latin typeface="JetBrains Mono"/>
              <a:ea typeface="JetBrains Mono"/>
              <a:cs typeface="JetBrains Mono"/>
              <a:sym typeface="JetBrains Mono"/>
            </a:endParaRPr>
          </a:p>
        </p:txBody>
      </p:sp>
      <p:sp>
        <p:nvSpPr>
          <p:cNvPr id="84" name="Google Shape;84;p4"/>
          <p:cNvSpPr/>
          <p:nvPr/>
        </p:nvSpPr>
        <p:spPr>
          <a:xfrm>
            <a:off x="8280350" y="4950520"/>
            <a:ext cx="2877820" cy="9168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2EFE6"/>
              </a:buClr>
              <a:buSzPts val="1800"/>
              <a:buFont typeface="IBM Plex Sans"/>
              <a:buNone/>
            </a:pPr>
            <a:r>
              <a:rPr b="0" i="0" lang="en-US" sz="1800" u="none" cap="none" strike="noStrike">
                <a:solidFill>
                  <a:srgbClr val="F2EFE6"/>
                </a:solidFill>
                <a:latin typeface="IBM Plex Sans"/>
                <a:ea typeface="IBM Plex Sans"/>
                <a:cs typeface="IBM Plex Sans"/>
                <a:sym typeface="IBM Plex Sans"/>
              </a:rPr>
              <a:t>Identifica il processo sull'host. Intero tra 0 e 65535.</a:t>
            </a:r>
            <a:endParaRPr b="0" i="0" sz="1800" u="none" cap="none" strike="noStrike">
              <a:solidFill>
                <a:schemeClr val="lt1"/>
              </a:solidFill>
              <a:latin typeface="JetBrains Mono"/>
              <a:ea typeface="JetBrains Mono"/>
              <a:cs typeface="JetBrains Mono"/>
              <a:sym typeface="JetBrains Mono"/>
            </a:endParaRPr>
          </a:p>
        </p:txBody>
      </p:sp>
      <p:sp>
        <p:nvSpPr>
          <p:cNvPr id="85" name="Google Shape;85;p4"/>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86" name="Google Shape;86;p4"/>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04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91" name="Shape 91"/>
        <p:cNvGrpSpPr/>
        <p:nvPr/>
      </p:nvGrpSpPr>
      <p:grpSpPr>
        <a:xfrm>
          <a:off x="0" y="0"/>
          <a:ext cx="0" cy="0"/>
          <a:chOff x="0" y="0"/>
          <a:chExt cx="0" cy="0"/>
        </a:xfrm>
      </p:grpSpPr>
      <p:sp>
        <p:nvSpPr>
          <p:cNvPr id="92" name="Google Shape;92;p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01 · L'IDEA</a:t>
            </a:r>
            <a:endParaRPr b="0" i="0" sz="1200" u="none" cap="none" strike="noStrike">
              <a:solidFill>
                <a:schemeClr val="lt1"/>
              </a:solidFill>
              <a:latin typeface="JetBrains Mono"/>
              <a:ea typeface="JetBrains Mono"/>
              <a:cs typeface="JetBrains Mono"/>
              <a:sym typeface="JetBrains Mono"/>
            </a:endParaRPr>
          </a:p>
        </p:txBody>
      </p:sp>
      <p:sp>
        <p:nvSpPr>
          <p:cNvPr id="93" name="Google Shape;93;p5"/>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Le fasi di una connessione TCP</a:t>
            </a:r>
            <a:endParaRPr sz="3000"/>
          </a:p>
        </p:txBody>
      </p:sp>
      <p:sp>
        <p:nvSpPr>
          <p:cNvPr id="94" name="Google Shape;94;p5"/>
          <p:cNvSpPr/>
          <p:nvPr/>
        </p:nvSpPr>
        <p:spPr>
          <a:xfrm>
            <a:off x="812800" y="1750020"/>
            <a:ext cx="544169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1" i="0" lang="en-US" sz="1200" u="none" cap="none" strike="noStrike">
                <a:solidFill>
                  <a:srgbClr val="FF9A5C"/>
                </a:solidFill>
                <a:latin typeface="JetBrains Mono"/>
                <a:ea typeface="JetBrains Mono"/>
                <a:cs typeface="JetBrains Mono"/>
                <a:sym typeface="JetBrains Mono"/>
              </a:rPr>
              <a:t>SERVER</a:t>
            </a:r>
            <a:endParaRPr b="0" i="0" sz="1200" u="none" cap="none" strike="noStrike">
              <a:solidFill>
                <a:schemeClr val="lt1"/>
              </a:solidFill>
              <a:latin typeface="JetBrains Mono"/>
              <a:ea typeface="JetBrains Mono"/>
              <a:cs typeface="JetBrains Mono"/>
              <a:sym typeface="JetBrains Mono"/>
            </a:endParaRPr>
          </a:p>
        </p:txBody>
      </p:sp>
      <p:sp>
        <p:nvSpPr>
          <p:cNvPr id="95" name="Google Shape;95;p5"/>
          <p:cNvSpPr/>
          <p:nvPr/>
        </p:nvSpPr>
        <p:spPr>
          <a:xfrm>
            <a:off x="6096000" y="1750020"/>
            <a:ext cx="544169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1" i="0" lang="en-US" sz="1200" u="none" cap="none" strike="noStrike">
                <a:solidFill>
                  <a:srgbClr val="7FB2FF"/>
                </a:solidFill>
                <a:latin typeface="JetBrains Mono"/>
                <a:ea typeface="JetBrains Mono"/>
                <a:cs typeface="JetBrains Mono"/>
                <a:sym typeface="JetBrains Mono"/>
              </a:rPr>
              <a:t>CLIENT</a:t>
            </a:r>
            <a:endParaRPr b="0" i="0" sz="1200" u="none" cap="none" strike="noStrike">
              <a:solidFill>
                <a:schemeClr val="lt1"/>
              </a:solidFill>
              <a:latin typeface="JetBrains Mono"/>
              <a:ea typeface="JetBrains Mono"/>
              <a:cs typeface="JetBrains Mono"/>
              <a:sym typeface="JetBrains Mono"/>
            </a:endParaRPr>
          </a:p>
        </p:txBody>
      </p:sp>
      <p:sp>
        <p:nvSpPr>
          <p:cNvPr id="96" name="Google Shape;96;p5"/>
          <p:cNvSpPr/>
          <p:nvPr/>
        </p:nvSpPr>
        <p:spPr>
          <a:xfrm>
            <a:off x="815975" y="1966516"/>
            <a:ext cx="5276850" cy="645716"/>
          </a:xfrm>
          <a:prstGeom prst="roundRect">
            <a:avLst>
              <a:gd fmla="val 15243" name="adj"/>
            </a:avLst>
          </a:prstGeom>
          <a:solidFill>
            <a:srgbClr val="2E1D12"/>
          </a:solidFill>
          <a:ln cap="flat" cmpd="sng" w="9525">
            <a:solidFill>
              <a:srgbClr val="6B3F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971550" y="2071291"/>
            <a:ext cx="5114671" cy="24824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300"/>
              <a:buFont typeface="IBM Plex Sans"/>
              <a:buNone/>
            </a:pPr>
            <a:r>
              <a:rPr b="1" i="0" lang="en-US" sz="1300" u="none" cap="none" strike="noStrike">
                <a:solidFill>
                  <a:srgbClr val="F2EFE6"/>
                </a:solidFill>
                <a:latin typeface="IBM Plex Sans"/>
                <a:ea typeface="IBM Plex Sans"/>
                <a:cs typeface="IBM Plex Sans"/>
                <a:sym typeface="IBM Plex Sans"/>
              </a:rPr>
              <a:t>1 · Ascolto</a:t>
            </a:r>
            <a:endParaRPr b="0" i="0" sz="1300" u="none" cap="none" strike="noStrike">
              <a:solidFill>
                <a:schemeClr val="lt1"/>
              </a:solidFill>
              <a:latin typeface="JetBrains Mono"/>
              <a:ea typeface="JetBrains Mono"/>
              <a:cs typeface="JetBrains Mono"/>
              <a:sym typeface="JetBrains Mono"/>
            </a:endParaRPr>
          </a:p>
        </p:txBody>
      </p:sp>
      <p:sp>
        <p:nvSpPr>
          <p:cNvPr id="98" name="Google Shape;98;p5"/>
          <p:cNvSpPr/>
          <p:nvPr/>
        </p:nvSpPr>
        <p:spPr>
          <a:xfrm>
            <a:off x="971550" y="2294136"/>
            <a:ext cx="511467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Si associa a una porta TCP e resta in attesa di richieste.</a:t>
            </a:r>
            <a:endParaRPr b="0" i="0" sz="1200" u="none" cap="none" strike="noStrike">
              <a:solidFill>
                <a:schemeClr val="lt1"/>
              </a:solidFill>
              <a:latin typeface="JetBrains Mono"/>
              <a:ea typeface="JetBrains Mono"/>
              <a:cs typeface="JetBrains Mono"/>
              <a:sym typeface="JetBrains Mono"/>
            </a:endParaRPr>
          </a:p>
        </p:txBody>
      </p:sp>
      <p:sp>
        <p:nvSpPr>
          <p:cNvPr id="99" name="Google Shape;99;p5"/>
          <p:cNvSpPr/>
          <p:nvPr/>
        </p:nvSpPr>
        <p:spPr>
          <a:xfrm>
            <a:off x="6099175" y="1966516"/>
            <a:ext cx="5276850" cy="645716"/>
          </a:xfrm>
          <a:prstGeom prst="roundRect">
            <a:avLst>
              <a:gd fmla="val 15243" name="adj"/>
            </a:avLst>
          </a:prstGeom>
          <a:noFill/>
          <a:ln cap="flat" cmpd="sng" w="9525">
            <a:solidFill>
              <a:srgbClr val="3A455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6254750" y="2071291"/>
            <a:ext cx="5114671" cy="24824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8A93A4"/>
              </a:buClr>
              <a:buSzPts val="1300"/>
              <a:buFont typeface="IBM Plex Sans"/>
              <a:buNone/>
            </a:pPr>
            <a:r>
              <a:rPr b="1" i="0" lang="en-US" sz="1300" u="none" cap="none" strike="noStrike">
                <a:solidFill>
                  <a:srgbClr val="8A93A4"/>
                </a:solidFill>
                <a:latin typeface="IBM Plex Sans"/>
                <a:ea typeface="IBM Plex Sans"/>
                <a:cs typeface="IBM Plex Sans"/>
                <a:sym typeface="IBM Plex Sans"/>
              </a:rPr>
              <a:t>—</a:t>
            </a:r>
            <a:endParaRPr b="0" i="0" sz="1300" u="none" cap="none" strike="noStrike">
              <a:solidFill>
                <a:schemeClr val="lt1"/>
              </a:solidFill>
              <a:latin typeface="JetBrains Mono"/>
              <a:ea typeface="JetBrains Mono"/>
              <a:cs typeface="JetBrains Mono"/>
              <a:sym typeface="JetBrains Mono"/>
            </a:endParaRPr>
          </a:p>
        </p:txBody>
      </p:sp>
      <p:sp>
        <p:nvSpPr>
          <p:cNvPr id="101" name="Google Shape;101;p5"/>
          <p:cNvSpPr/>
          <p:nvPr/>
        </p:nvSpPr>
        <p:spPr>
          <a:xfrm>
            <a:off x="6254750" y="2294136"/>
            <a:ext cx="511467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IBM Plex Sans"/>
              <a:buNone/>
            </a:pPr>
            <a:r>
              <a:rPr b="0" i="0" lang="en-US" sz="1200" u="none" cap="none" strike="noStrike">
                <a:solidFill>
                  <a:srgbClr val="8A93A4"/>
                </a:solidFill>
                <a:latin typeface="IBM Plex Sans"/>
                <a:ea typeface="IBM Plex Sans"/>
                <a:cs typeface="IBM Plex Sans"/>
                <a:sym typeface="IBM Plex Sans"/>
              </a:rPr>
              <a:t>Non ancora avviato.</a:t>
            </a:r>
            <a:endParaRPr b="0" i="0" sz="1200" u="none" cap="none" strike="noStrike">
              <a:solidFill>
                <a:schemeClr val="lt1"/>
              </a:solidFill>
              <a:latin typeface="JetBrains Mono"/>
              <a:ea typeface="JetBrains Mono"/>
              <a:cs typeface="JetBrains Mono"/>
              <a:sym typeface="JetBrains Mono"/>
            </a:endParaRPr>
          </a:p>
        </p:txBody>
      </p:sp>
      <p:sp>
        <p:nvSpPr>
          <p:cNvPr id="102" name="Google Shape;102;p5"/>
          <p:cNvSpPr/>
          <p:nvPr/>
        </p:nvSpPr>
        <p:spPr>
          <a:xfrm>
            <a:off x="815975" y="2618581"/>
            <a:ext cx="5276850" cy="645716"/>
          </a:xfrm>
          <a:prstGeom prst="roundRect">
            <a:avLst>
              <a:gd fmla="val 15243" name="adj"/>
            </a:avLst>
          </a:prstGeom>
          <a:solidFill>
            <a:srgbClr val="2E1D12"/>
          </a:solidFill>
          <a:ln cap="flat" cmpd="sng" w="9525">
            <a:solidFill>
              <a:srgbClr val="6B3F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971550" y="2723356"/>
            <a:ext cx="5114671" cy="24824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300"/>
              <a:buFont typeface="IBM Plex Sans"/>
              <a:buNone/>
            </a:pPr>
            <a:r>
              <a:rPr b="1" i="0" lang="en-US" sz="1300" u="none" cap="none" strike="noStrike">
                <a:solidFill>
                  <a:srgbClr val="F2EFE6"/>
                </a:solidFill>
                <a:latin typeface="IBM Plex Sans"/>
                <a:ea typeface="IBM Plex Sans"/>
                <a:cs typeface="IBM Plex Sans"/>
                <a:sym typeface="IBM Plex Sans"/>
              </a:rPr>
              <a:t>2 · Accettazione</a:t>
            </a:r>
            <a:endParaRPr b="0" i="0" sz="1300" u="none" cap="none" strike="noStrike">
              <a:solidFill>
                <a:schemeClr val="lt1"/>
              </a:solidFill>
              <a:latin typeface="JetBrains Mono"/>
              <a:ea typeface="JetBrains Mono"/>
              <a:cs typeface="JetBrains Mono"/>
              <a:sym typeface="JetBrains Mono"/>
            </a:endParaRPr>
          </a:p>
        </p:txBody>
      </p:sp>
      <p:sp>
        <p:nvSpPr>
          <p:cNvPr id="104" name="Google Shape;104;p5"/>
          <p:cNvSpPr/>
          <p:nvPr/>
        </p:nvSpPr>
        <p:spPr>
          <a:xfrm>
            <a:off x="971550" y="2946202"/>
            <a:ext cx="511467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Accetta la richiesta: ottiene un socket per quel client.</a:t>
            </a:r>
            <a:endParaRPr b="0" i="0" sz="1200" u="none" cap="none" strike="noStrike">
              <a:solidFill>
                <a:schemeClr val="lt1"/>
              </a:solidFill>
              <a:latin typeface="JetBrains Mono"/>
              <a:ea typeface="JetBrains Mono"/>
              <a:cs typeface="JetBrains Mono"/>
              <a:sym typeface="JetBrains Mono"/>
            </a:endParaRPr>
          </a:p>
        </p:txBody>
      </p:sp>
      <p:sp>
        <p:nvSpPr>
          <p:cNvPr id="105" name="Google Shape;105;p5"/>
          <p:cNvSpPr/>
          <p:nvPr/>
        </p:nvSpPr>
        <p:spPr>
          <a:xfrm>
            <a:off x="6099175" y="2618581"/>
            <a:ext cx="5276850" cy="645716"/>
          </a:xfrm>
          <a:prstGeom prst="roundRect">
            <a:avLst>
              <a:gd fmla="val 15243" name="adj"/>
            </a:avLst>
          </a:prstGeom>
          <a:solidFill>
            <a:srgbClr val="14233F"/>
          </a:solidFill>
          <a:ln cap="flat" cmpd="sng" w="9525">
            <a:solidFill>
              <a:srgbClr val="2C4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6254750" y="2723356"/>
            <a:ext cx="5114671" cy="24824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300"/>
              <a:buFont typeface="IBM Plex Sans"/>
              <a:buNone/>
            </a:pPr>
            <a:r>
              <a:rPr b="1" i="0" lang="en-US" sz="1300" u="none" cap="none" strike="noStrike">
                <a:solidFill>
                  <a:srgbClr val="F2EFE6"/>
                </a:solidFill>
                <a:latin typeface="IBM Plex Sans"/>
                <a:ea typeface="IBM Plex Sans"/>
                <a:cs typeface="IBM Plex Sans"/>
                <a:sym typeface="IBM Plex Sans"/>
              </a:rPr>
              <a:t>2 · Richiesta di connessione</a:t>
            </a:r>
            <a:endParaRPr b="0" i="0" sz="1300" u="none" cap="none" strike="noStrike">
              <a:solidFill>
                <a:schemeClr val="lt1"/>
              </a:solidFill>
              <a:latin typeface="JetBrains Mono"/>
              <a:ea typeface="JetBrains Mono"/>
              <a:cs typeface="JetBrains Mono"/>
              <a:sym typeface="JetBrains Mono"/>
            </a:endParaRPr>
          </a:p>
        </p:txBody>
      </p:sp>
      <p:sp>
        <p:nvSpPr>
          <p:cNvPr id="107" name="Google Shape;107;p5"/>
          <p:cNvSpPr/>
          <p:nvPr/>
        </p:nvSpPr>
        <p:spPr>
          <a:xfrm>
            <a:off x="6254750" y="2946202"/>
            <a:ext cx="511467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Contatta il server all'indirizzo e alla porta noti.</a:t>
            </a:r>
            <a:endParaRPr b="0" i="0" sz="1200" u="none" cap="none" strike="noStrike">
              <a:solidFill>
                <a:schemeClr val="lt1"/>
              </a:solidFill>
              <a:latin typeface="JetBrains Mono"/>
              <a:ea typeface="JetBrains Mono"/>
              <a:cs typeface="JetBrains Mono"/>
              <a:sym typeface="JetBrains Mono"/>
            </a:endParaRPr>
          </a:p>
        </p:txBody>
      </p:sp>
      <p:sp>
        <p:nvSpPr>
          <p:cNvPr id="108" name="Google Shape;108;p5"/>
          <p:cNvSpPr/>
          <p:nvPr/>
        </p:nvSpPr>
        <p:spPr>
          <a:xfrm>
            <a:off x="815975" y="3270647"/>
            <a:ext cx="10560050" cy="645716"/>
          </a:xfrm>
          <a:prstGeom prst="roundRect">
            <a:avLst>
              <a:gd fmla="val 15243"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971550" y="3375422"/>
            <a:ext cx="10556367" cy="24824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300"/>
              <a:buFont typeface="IBM Plex Sans"/>
              <a:buNone/>
            </a:pPr>
            <a:r>
              <a:rPr b="1" i="0" lang="en-US" sz="1300" u="none" cap="none" strike="noStrike">
                <a:solidFill>
                  <a:srgbClr val="F2EFE6"/>
                </a:solidFill>
                <a:latin typeface="IBM Plex Sans"/>
                <a:ea typeface="IBM Plex Sans"/>
                <a:cs typeface="IBM Plex Sans"/>
                <a:sym typeface="IBM Plex Sans"/>
              </a:rPr>
              <a:t>3 · Connessione stabilita</a:t>
            </a:r>
            <a:endParaRPr b="0" i="0" sz="1300" u="none" cap="none" strike="noStrike">
              <a:solidFill>
                <a:schemeClr val="lt1"/>
              </a:solidFill>
              <a:latin typeface="JetBrains Mono"/>
              <a:ea typeface="JetBrains Mono"/>
              <a:cs typeface="JetBrains Mono"/>
              <a:sym typeface="JetBrains Mono"/>
            </a:endParaRPr>
          </a:p>
        </p:txBody>
      </p:sp>
      <p:sp>
        <p:nvSpPr>
          <p:cNvPr id="110" name="Google Shape;110;p5"/>
          <p:cNvSpPr/>
          <p:nvPr/>
        </p:nvSpPr>
        <p:spPr>
          <a:xfrm>
            <a:off x="971550" y="3598267"/>
            <a:ext cx="1055636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Handshake TCP completato: ogni lato dispone di uno stream di input e di uno stream di output.</a:t>
            </a:r>
            <a:endParaRPr b="0" i="0" sz="1200" u="none" cap="none" strike="noStrike">
              <a:solidFill>
                <a:schemeClr val="lt1"/>
              </a:solidFill>
              <a:latin typeface="JetBrains Mono"/>
              <a:ea typeface="JetBrains Mono"/>
              <a:cs typeface="JetBrains Mono"/>
              <a:sym typeface="JetBrains Mono"/>
            </a:endParaRPr>
          </a:p>
        </p:txBody>
      </p:sp>
      <p:sp>
        <p:nvSpPr>
          <p:cNvPr id="111" name="Google Shape;111;p5"/>
          <p:cNvSpPr/>
          <p:nvPr/>
        </p:nvSpPr>
        <p:spPr>
          <a:xfrm>
            <a:off x="815975" y="3922713"/>
            <a:ext cx="5276850" cy="645716"/>
          </a:xfrm>
          <a:prstGeom prst="roundRect">
            <a:avLst>
              <a:gd fmla="val 15243" name="adj"/>
            </a:avLst>
          </a:prstGeom>
          <a:solidFill>
            <a:srgbClr val="2E1D12"/>
          </a:solidFill>
          <a:ln cap="flat" cmpd="sng" w="9525">
            <a:solidFill>
              <a:srgbClr val="6B3F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971550" y="4027488"/>
            <a:ext cx="5114671" cy="24824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300"/>
              <a:buFont typeface="IBM Plex Sans"/>
              <a:buNone/>
            </a:pPr>
            <a:r>
              <a:rPr b="1" i="0" lang="en-US" sz="1300" u="none" cap="none" strike="noStrike">
                <a:solidFill>
                  <a:srgbClr val="F2EFE6"/>
                </a:solidFill>
                <a:latin typeface="IBM Plex Sans"/>
                <a:ea typeface="IBM Plex Sans"/>
                <a:cs typeface="IBM Plex Sans"/>
                <a:sym typeface="IBM Plex Sans"/>
              </a:rPr>
              <a:t>4 · Ricezione, poi invio</a:t>
            </a:r>
            <a:endParaRPr b="0" i="0" sz="1300" u="none" cap="none" strike="noStrike">
              <a:solidFill>
                <a:schemeClr val="lt1"/>
              </a:solidFill>
              <a:latin typeface="JetBrains Mono"/>
              <a:ea typeface="JetBrains Mono"/>
              <a:cs typeface="JetBrains Mono"/>
              <a:sym typeface="JetBrains Mono"/>
            </a:endParaRPr>
          </a:p>
        </p:txBody>
      </p:sp>
      <p:sp>
        <p:nvSpPr>
          <p:cNvPr id="113" name="Google Shape;113;p5"/>
          <p:cNvSpPr/>
          <p:nvPr/>
        </p:nvSpPr>
        <p:spPr>
          <a:xfrm>
            <a:off x="971550" y="4250333"/>
            <a:ext cx="511467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Legge la richiesta, la elabora, scrive la risposta.</a:t>
            </a:r>
            <a:endParaRPr b="0" i="0" sz="1200" u="none" cap="none" strike="noStrike">
              <a:solidFill>
                <a:schemeClr val="lt1"/>
              </a:solidFill>
              <a:latin typeface="JetBrains Mono"/>
              <a:ea typeface="JetBrains Mono"/>
              <a:cs typeface="JetBrains Mono"/>
              <a:sym typeface="JetBrains Mono"/>
            </a:endParaRPr>
          </a:p>
        </p:txBody>
      </p:sp>
      <p:sp>
        <p:nvSpPr>
          <p:cNvPr id="114" name="Google Shape;114;p5"/>
          <p:cNvSpPr/>
          <p:nvPr/>
        </p:nvSpPr>
        <p:spPr>
          <a:xfrm>
            <a:off x="6099175" y="3922713"/>
            <a:ext cx="5276850" cy="645716"/>
          </a:xfrm>
          <a:prstGeom prst="roundRect">
            <a:avLst>
              <a:gd fmla="val 15243" name="adj"/>
            </a:avLst>
          </a:prstGeom>
          <a:solidFill>
            <a:srgbClr val="14233F"/>
          </a:solidFill>
          <a:ln cap="flat" cmpd="sng" w="9525">
            <a:solidFill>
              <a:srgbClr val="2C4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6254750" y="4027488"/>
            <a:ext cx="5114671" cy="24824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300"/>
              <a:buFont typeface="IBM Plex Sans"/>
              <a:buNone/>
            </a:pPr>
            <a:r>
              <a:rPr b="1" i="0" lang="en-US" sz="1300" u="none" cap="none" strike="noStrike">
                <a:solidFill>
                  <a:srgbClr val="F2EFE6"/>
                </a:solidFill>
                <a:latin typeface="IBM Plex Sans"/>
                <a:ea typeface="IBM Plex Sans"/>
                <a:cs typeface="IBM Plex Sans"/>
                <a:sym typeface="IBM Plex Sans"/>
              </a:rPr>
              <a:t>4 · Invio, poi ricezione</a:t>
            </a:r>
            <a:endParaRPr b="0" i="0" sz="1300" u="none" cap="none" strike="noStrike">
              <a:solidFill>
                <a:schemeClr val="lt1"/>
              </a:solidFill>
              <a:latin typeface="JetBrains Mono"/>
              <a:ea typeface="JetBrains Mono"/>
              <a:cs typeface="JetBrains Mono"/>
              <a:sym typeface="JetBrains Mono"/>
            </a:endParaRPr>
          </a:p>
        </p:txBody>
      </p:sp>
      <p:sp>
        <p:nvSpPr>
          <p:cNvPr id="116" name="Google Shape;116;p5"/>
          <p:cNvSpPr/>
          <p:nvPr/>
        </p:nvSpPr>
        <p:spPr>
          <a:xfrm>
            <a:off x="6254750" y="4250333"/>
            <a:ext cx="511467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Scrive la richiesta, poi legge la risposta.</a:t>
            </a:r>
            <a:endParaRPr b="0" i="0" sz="1200" u="none" cap="none" strike="noStrike">
              <a:solidFill>
                <a:schemeClr val="lt1"/>
              </a:solidFill>
              <a:latin typeface="JetBrains Mono"/>
              <a:ea typeface="JetBrains Mono"/>
              <a:cs typeface="JetBrains Mono"/>
              <a:sym typeface="JetBrains Mono"/>
            </a:endParaRPr>
          </a:p>
        </p:txBody>
      </p:sp>
      <p:sp>
        <p:nvSpPr>
          <p:cNvPr id="117" name="Google Shape;117;p5"/>
          <p:cNvSpPr/>
          <p:nvPr/>
        </p:nvSpPr>
        <p:spPr>
          <a:xfrm>
            <a:off x="815975" y="4574778"/>
            <a:ext cx="10560050" cy="645716"/>
          </a:xfrm>
          <a:prstGeom prst="roundRect">
            <a:avLst>
              <a:gd fmla="val 15243"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971550" y="4679553"/>
            <a:ext cx="10556367" cy="24824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300"/>
              <a:buFont typeface="IBM Plex Sans"/>
              <a:buNone/>
            </a:pPr>
            <a:r>
              <a:rPr b="1" i="0" lang="en-US" sz="1300" u="none" cap="none" strike="noStrike">
                <a:solidFill>
                  <a:srgbClr val="F2EFE6"/>
                </a:solidFill>
                <a:latin typeface="IBM Plex Sans"/>
                <a:ea typeface="IBM Plex Sans"/>
                <a:cs typeface="IBM Plex Sans"/>
                <a:sym typeface="IBM Plex Sans"/>
              </a:rPr>
              <a:t>5 · Chiusura</a:t>
            </a:r>
            <a:endParaRPr b="0" i="0" sz="1300" u="none" cap="none" strike="noStrike">
              <a:solidFill>
                <a:schemeClr val="lt1"/>
              </a:solidFill>
              <a:latin typeface="JetBrains Mono"/>
              <a:ea typeface="JetBrains Mono"/>
              <a:cs typeface="JetBrains Mono"/>
              <a:sym typeface="JetBrains Mono"/>
            </a:endParaRPr>
          </a:p>
        </p:txBody>
      </p:sp>
      <p:sp>
        <p:nvSpPr>
          <p:cNvPr id="119" name="Google Shape;119;p5"/>
          <p:cNvSpPr/>
          <p:nvPr/>
        </p:nvSpPr>
        <p:spPr>
          <a:xfrm>
            <a:off x="971550" y="4902398"/>
            <a:ext cx="1055636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Ogni lato chiude il proprio socket e rilascia le risorse.</a:t>
            </a:r>
            <a:endParaRPr b="0" i="0" sz="1200" u="none" cap="none" strike="noStrike">
              <a:solidFill>
                <a:schemeClr val="lt1"/>
              </a:solidFill>
              <a:latin typeface="JetBrains Mono"/>
              <a:ea typeface="JetBrains Mono"/>
              <a:cs typeface="JetBrains Mono"/>
              <a:sym typeface="JetBrains Mono"/>
            </a:endParaRPr>
          </a:p>
        </p:txBody>
      </p:sp>
      <p:sp>
        <p:nvSpPr>
          <p:cNvPr id="120" name="Google Shape;120;p5"/>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121" name="Google Shape;121;p5"/>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05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126" name="Shape 126"/>
        <p:cNvGrpSpPr/>
        <p:nvPr/>
      </p:nvGrpSpPr>
      <p:grpSpPr>
        <a:xfrm>
          <a:off x="0" y="0"/>
          <a:ext cx="0" cy="0"/>
          <a:chOff x="0" y="0"/>
          <a:chExt cx="0" cy="0"/>
        </a:xfrm>
      </p:grpSpPr>
      <p:sp>
        <p:nvSpPr>
          <p:cNvPr id="127" name="Google Shape;127;p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01 · L'IDEA</a:t>
            </a:r>
            <a:endParaRPr b="0" i="0" sz="1200" u="none" cap="none" strike="noStrike">
              <a:solidFill>
                <a:schemeClr val="lt1"/>
              </a:solidFill>
              <a:latin typeface="JetBrains Mono"/>
              <a:ea typeface="JetBrains Mono"/>
              <a:cs typeface="JetBrains Mono"/>
              <a:sym typeface="JetBrains Mono"/>
            </a:endParaRPr>
          </a:p>
        </p:txBody>
      </p:sp>
      <p:sp>
        <p:nvSpPr>
          <p:cNvPr id="128" name="Google Shape;128;p6"/>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Quattro classi, due per lato</a:t>
            </a:r>
            <a:endParaRPr sz="3000"/>
          </a:p>
        </p:txBody>
      </p:sp>
      <p:sp>
        <p:nvSpPr>
          <p:cNvPr id="129" name="Google Shape;129;p6"/>
          <p:cNvSpPr/>
          <p:nvPr/>
        </p:nvSpPr>
        <p:spPr>
          <a:xfrm>
            <a:off x="815975" y="2453680"/>
            <a:ext cx="5175250" cy="2207220"/>
          </a:xfrm>
          <a:prstGeom prst="roundRect">
            <a:avLst>
              <a:gd fmla="val 6761" name="adj"/>
            </a:avLst>
          </a:prstGeom>
          <a:solidFill>
            <a:srgbClr val="14233F"/>
          </a:solidFill>
          <a:ln cap="flat" cmpd="sng" w="9525">
            <a:solidFill>
              <a:srgbClr val="2C4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1123950" y="2761655"/>
            <a:ext cx="469607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1" i="0" lang="en-US" sz="1200" u="none" cap="none" strike="noStrike">
                <a:solidFill>
                  <a:srgbClr val="7FB2FF"/>
                </a:solidFill>
                <a:latin typeface="JetBrains Mono"/>
                <a:ea typeface="JetBrains Mono"/>
                <a:cs typeface="JetBrains Mono"/>
                <a:sym typeface="JetBrains Mono"/>
              </a:rPr>
              <a:t>LATO CLIENT</a:t>
            </a:r>
            <a:endParaRPr b="0" i="0" sz="1200" u="none" cap="none" strike="noStrike">
              <a:solidFill>
                <a:schemeClr val="lt1"/>
              </a:solidFill>
              <a:latin typeface="JetBrains Mono"/>
              <a:ea typeface="JetBrains Mono"/>
              <a:cs typeface="JetBrains Mono"/>
              <a:sym typeface="JetBrains Mono"/>
            </a:endParaRPr>
          </a:p>
        </p:txBody>
      </p:sp>
      <p:sp>
        <p:nvSpPr>
          <p:cNvPr id="131" name="Google Shape;131;p6"/>
          <p:cNvSpPr/>
          <p:nvPr/>
        </p:nvSpPr>
        <p:spPr>
          <a:xfrm>
            <a:off x="1123950" y="3152775"/>
            <a:ext cx="1645920" cy="444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2EFE6"/>
              </a:buClr>
              <a:buSzPts val="3000"/>
              <a:buFont typeface="JetBrains Mono"/>
              <a:buNone/>
            </a:pPr>
            <a:r>
              <a:rPr b="1" i="0" lang="en-US" sz="3000" u="none" cap="none" strike="noStrike">
                <a:solidFill>
                  <a:srgbClr val="F2EFE6"/>
                </a:solidFill>
                <a:latin typeface="JetBrains Mono"/>
                <a:ea typeface="JetBrains Mono"/>
                <a:cs typeface="JetBrains Mono"/>
                <a:sym typeface="JetBrains Mono"/>
              </a:rPr>
              <a:t>Client</a:t>
            </a:r>
            <a:endParaRPr b="0" i="0" sz="3000" u="none" cap="none" strike="noStrike">
              <a:solidFill>
                <a:schemeClr val="lt1"/>
              </a:solidFill>
              <a:latin typeface="JetBrains Mono"/>
              <a:ea typeface="JetBrains Mono"/>
              <a:cs typeface="JetBrains Mono"/>
              <a:sym typeface="JetBrains Mono"/>
            </a:endParaRPr>
          </a:p>
        </p:txBody>
      </p:sp>
      <p:sp>
        <p:nvSpPr>
          <p:cNvPr id="132" name="Google Shape;132;p6"/>
          <p:cNvSpPr/>
          <p:nvPr/>
        </p:nvSpPr>
        <p:spPr>
          <a:xfrm>
            <a:off x="4455120" y="3308350"/>
            <a:ext cx="1228130" cy="27429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AEB6C4"/>
              </a:buClr>
              <a:buSzPts val="1400"/>
              <a:buFont typeface="IBM Plex Sans"/>
              <a:buNone/>
            </a:pPr>
            <a:r>
              <a:rPr b="0" i="0" lang="en-US" sz="1400" u="none" cap="none" strike="noStrike">
                <a:solidFill>
                  <a:srgbClr val="AEB6C4"/>
                </a:solidFill>
                <a:latin typeface="IBM Plex Sans"/>
                <a:ea typeface="IBM Plex Sans"/>
                <a:cs typeface="IBM Plex Sans"/>
                <a:sym typeface="IBM Plex Sans"/>
              </a:rPr>
              <a:t>logica di rete</a:t>
            </a:r>
            <a:endParaRPr b="0" i="0" sz="1400" u="none" cap="none" strike="noStrike">
              <a:solidFill>
                <a:schemeClr val="lt1"/>
              </a:solidFill>
              <a:latin typeface="JetBrains Mono"/>
              <a:ea typeface="JetBrains Mono"/>
              <a:cs typeface="JetBrains Mono"/>
              <a:sym typeface="JetBrains Mono"/>
            </a:endParaRPr>
          </a:p>
        </p:txBody>
      </p:sp>
      <p:pic>
        <p:nvPicPr>
          <p:cNvPr descr="line" id="133" name="Google Shape;133;p6"/>
          <p:cNvPicPr preferRelativeResize="0"/>
          <p:nvPr/>
        </p:nvPicPr>
        <p:blipFill rotWithShape="1">
          <a:blip r:embed="rId3">
            <a:alphaModFix/>
          </a:blip>
          <a:srcRect b="0" l="0" r="0" t="0"/>
          <a:stretch/>
        </p:blipFill>
        <p:spPr>
          <a:xfrm>
            <a:off x="1123950" y="3749675"/>
            <a:ext cx="4559300" cy="6350"/>
          </a:xfrm>
          <a:prstGeom prst="rect">
            <a:avLst/>
          </a:prstGeom>
          <a:noFill/>
          <a:ln>
            <a:noFill/>
          </a:ln>
        </p:spPr>
      </p:pic>
      <p:sp>
        <p:nvSpPr>
          <p:cNvPr id="134" name="Google Shape;134;p6"/>
          <p:cNvSpPr/>
          <p:nvPr/>
        </p:nvSpPr>
        <p:spPr>
          <a:xfrm>
            <a:off x="1123950" y="3933825"/>
            <a:ext cx="2743200" cy="444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2EFE6"/>
              </a:buClr>
              <a:buSzPts val="3000"/>
              <a:buFont typeface="JetBrains Mono"/>
              <a:buNone/>
            </a:pPr>
            <a:r>
              <a:rPr b="1" i="0" lang="en-US" sz="3000" u="none" cap="none" strike="noStrike">
                <a:solidFill>
                  <a:srgbClr val="F2EFE6"/>
                </a:solidFill>
                <a:latin typeface="JetBrains Mono"/>
                <a:ea typeface="JetBrains Mono"/>
                <a:cs typeface="JetBrains Mono"/>
                <a:sym typeface="JetBrains Mono"/>
              </a:rPr>
              <a:t>MainClient</a:t>
            </a:r>
            <a:endParaRPr b="0" i="0" sz="3000" u="none" cap="none" strike="noStrike">
              <a:solidFill>
                <a:schemeClr val="lt1"/>
              </a:solidFill>
              <a:latin typeface="JetBrains Mono"/>
              <a:ea typeface="JetBrains Mono"/>
              <a:cs typeface="JetBrains Mono"/>
              <a:sym typeface="JetBrains Mono"/>
            </a:endParaRPr>
          </a:p>
        </p:txBody>
      </p:sp>
      <p:sp>
        <p:nvSpPr>
          <p:cNvPr id="135" name="Google Shape;135;p6"/>
          <p:cNvSpPr/>
          <p:nvPr/>
        </p:nvSpPr>
        <p:spPr>
          <a:xfrm>
            <a:off x="4417973" y="4089400"/>
            <a:ext cx="1265277" cy="27429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AEB6C4"/>
              </a:buClr>
              <a:buSzPts val="1400"/>
              <a:buFont typeface="IBM Plex Sans"/>
              <a:buNone/>
            </a:pPr>
            <a:r>
              <a:rPr b="0" i="0" lang="en-US" sz="1400" u="none" cap="none" strike="noStrike">
                <a:solidFill>
                  <a:srgbClr val="AEB6C4"/>
                </a:solidFill>
                <a:latin typeface="IBM Plex Sans"/>
                <a:ea typeface="IBM Plex Sans"/>
                <a:cs typeface="IBM Plex Sans"/>
                <a:sym typeface="IBM Plex Sans"/>
              </a:rPr>
              <a:t>metodo main</a:t>
            </a:r>
            <a:endParaRPr b="0" i="0" sz="1400" u="none" cap="none" strike="noStrike">
              <a:solidFill>
                <a:schemeClr val="lt1"/>
              </a:solidFill>
              <a:latin typeface="JetBrains Mono"/>
              <a:ea typeface="JetBrains Mono"/>
              <a:cs typeface="JetBrains Mono"/>
              <a:sym typeface="JetBrains Mono"/>
            </a:endParaRPr>
          </a:p>
        </p:txBody>
      </p:sp>
      <p:sp>
        <p:nvSpPr>
          <p:cNvPr id="136" name="Google Shape;136;p6"/>
          <p:cNvSpPr/>
          <p:nvPr/>
        </p:nvSpPr>
        <p:spPr>
          <a:xfrm>
            <a:off x="6200775" y="2453680"/>
            <a:ext cx="5175250" cy="2207220"/>
          </a:xfrm>
          <a:prstGeom prst="roundRect">
            <a:avLst>
              <a:gd fmla="val 6761" name="adj"/>
            </a:avLst>
          </a:prstGeom>
          <a:solidFill>
            <a:srgbClr val="2E1D12"/>
          </a:solidFill>
          <a:ln cap="flat" cmpd="sng" w="9525">
            <a:solidFill>
              <a:srgbClr val="6B3F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6508750" y="2761655"/>
            <a:ext cx="469607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1" i="0" lang="en-US" sz="1200" u="none" cap="none" strike="noStrike">
                <a:solidFill>
                  <a:srgbClr val="FF9A5C"/>
                </a:solidFill>
                <a:latin typeface="JetBrains Mono"/>
                <a:ea typeface="JetBrains Mono"/>
                <a:cs typeface="JetBrains Mono"/>
                <a:sym typeface="JetBrains Mono"/>
              </a:rPr>
              <a:t>LATO SERVER</a:t>
            </a:r>
            <a:endParaRPr b="0" i="0" sz="1200" u="none" cap="none" strike="noStrike">
              <a:solidFill>
                <a:schemeClr val="lt1"/>
              </a:solidFill>
              <a:latin typeface="JetBrains Mono"/>
              <a:ea typeface="JetBrains Mono"/>
              <a:cs typeface="JetBrains Mono"/>
              <a:sym typeface="JetBrains Mono"/>
            </a:endParaRPr>
          </a:p>
        </p:txBody>
      </p:sp>
      <p:sp>
        <p:nvSpPr>
          <p:cNvPr id="138" name="Google Shape;138;p6"/>
          <p:cNvSpPr/>
          <p:nvPr/>
        </p:nvSpPr>
        <p:spPr>
          <a:xfrm>
            <a:off x="6508750" y="3152775"/>
            <a:ext cx="1645920" cy="444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2EFE6"/>
              </a:buClr>
              <a:buSzPts val="3000"/>
              <a:buFont typeface="JetBrains Mono"/>
              <a:buNone/>
            </a:pPr>
            <a:r>
              <a:rPr b="1" i="0" lang="en-US" sz="3000" u="none" cap="none" strike="noStrike">
                <a:solidFill>
                  <a:srgbClr val="F2EFE6"/>
                </a:solidFill>
                <a:latin typeface="JetBrains Mono"/>
                <a:ea typeface="JetBrains Mono"/>
                <a:cs typeface="JetBrains Mono"/>
                <a:sym typeface="JetBrains Mono"/>
              </a:rPr>
              <a:t>Server</a:t>
            </a:r>
            <a:endParaRPr b="0" i="0" sz="3000" u="none" cap="none" strike="noStrike">
              <a:solidFill>
                <a:schemeClr val="lt1"/>
              </a:solidFill>
              <a:latin typeface="JetBrains Mono"/>
              <a:ea typeface="JetBrains Mono"/>
              <a:cs typeface="JetBrains Mono"/>
              <a:sym typeface="JetBrains Mono"/>
            </a:endParaRPr>
          </a:p>
        </p:txBody>
      </p:sp>
      <p:sp>
        <p:nvSpPr>
          <p:cNvPr id="139" name="Google Shape;139;p6"/>
          <p:cNvSpPr/>
          <p:nvPr/>
        </p:nvSpPr>
        <p:spPr>
          <a:xfrm>
            <a:off x="9839920" y="3308350"/>
            <a:ext cx="1228130" cy="27429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AEB6C4"/>
              </a:buClr>
              <a:buSzPts val="1400"/>
              <a:buFont typeface="IBM Plex Sans"/>
              <a:buNone/>
            </a:pPr>
            <a:r>
              <a:rPr b="0" i="0" lang="en-US" sz="1400" u="none" cap="none" strike="noStrike">
                <a:solidFill>
                  <a:srgbClr val="AEB6C4"/>
                </a:solidFill>
                <a:latin typeface="IBM Plex Sans"/>
                <a:ea typeface="IBM Plex Sans"/>
                <a:cs typeface="IBM Plex Sans"/>
                <a:sym typeface="IBM Plex Sans"/>
              </a:rPr>
              <a:t>logica di rete</a:t>
            </a:r>
            <a:endParaRPr b="0" i="0" sz="1400" u="none" cap="none" strike="noStrike">
              <a:solidFill>
                <a:schemeClr val="lt1"/>
              </a:solidFill>
              <a:latin typeface="JetBrains Mono"/>
              <a:ea typeface="JetBrains Mono"/>
              <a:cs typeface="JetBrains Mono"/>
              <a:sym typeface="JetBrains Mono"/>
            </a:endParaRPr>
          </a:p>
        </p:txBody>
      </p:sp>
      <p:pic>
        <p:nvPicPr>
          <p:cNvPr descr="line" id="140" name="Google Shape;140;p6"/>
          <p:cNvPicPr preferRelativeResize="0"/>
          <p:nvPr/>
        </p:nvPicPr>
        <p:blipFill rotWithShape="1">
          <a:blip r:embed="rId4">
            <a:alphaModFix/>
          </a:blip>
          <a:srcRect b="0" l="0" r="0" t="0"/>
          <a:stretch/>
        </p:blipFill>
        <p:spPr>
          <a:xfrm>
            <a:off x="6508750" y="3749675"/>
            <a:ext cx="4559300" cy="6350"/>
          </a:xfrm>
          <a:prstGeom prst="rect">
            <a:avLst/>
          </a:prstGeom>
          <a:noFill/>
          <a:ln>
            <a:noFill/>
          </a:ln>
        </p:spPr>
      </p:pic>
      <p:sp>
        <p:nvSpPr>
          <p:cNvPr id="141" name="Google Shape;141;p6"/>
          <p:cNvSpPr/>
          <p:nvPr/>
        </p:nvSpPr>
        <p:spPr>
          <a:xfrm>
            <a:off x="6508750" y="3933825"/>
            <a:ext cx="2743200" cy="4445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2EFE6"/>
              </a:buClr>
              <a:buSzPts val="3000"/>
              <a:buFont typeface="JetBrains Mono"/>
              <a:buNone/>
            </a:pPr>
            <a:r>
              <a:rPr b="1" i="0" lang="en-US" sz="3000" u="none" cap="none" strike="noStrike">
                <a:solidFill>
                  <a:srgbClr val="F2EFE6"/>
                </a:solidFill>
                <a:latin typeface="JetBrains Mono"/>
                <a:ea typeface="JetBrains Mono"/>
                <a:cs typeface="JetBrains Mono"/>
                <a:sym typeface="JetBrains Mono"/>
              </a:rPr>
              <a:t>MainServer</a:t>
            </a:r>
            <a:endParaRPr b="0" i="0" sz="3000" u="none" cap="none" strike="noStrike">
              <a:solidFill>
                <a:schemeClr val="lt1"/>
              </a:solidFill>
              <a:latin typeface="JetBrains Mono"/>
              <a:ea typeface="JetBrains Mono"/>
              <a:cs typeface="JetBrains Mono"/>
              <a:sym typeface="JetBrains Mono"/>
            </a:endParaRPr>
          </a:p>
        </p:txBody>
      </p:sp>
      <p:sp>
        <p:nvSpPr>
          <p:cNvPr id="142" name="Google Shape;142;p6"/>
          <p:cNvSpPr/>
          <p:nvPr/>
        </p:nvSpPr>
        <p:spPr>
          <a:xfrm>
            <a:off x="9802773" y="4089400"/>
            <a:ext cx="1265277" cy="27429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AEB6C4"/>
              </a:buClr>
              <a:buSzPts val="1400"/>
              <a:buFont typeface="IBM Plex Sans"/>
              <a:buNone/>
            </a:pPr>
            <a:r>
              <a:rPr b="0" i="0" lang="en-US" sz="1400" u="none" cap="none" strike="noStrike">
                <a:solidFill>
                  <a:srgbClr val="AEB6C4"/>
                </a:solidFill>
                <a:latin typeface="IBM Plex Sans"/>
                <a:ea typeface="IBM Plex Sans"/>
                <a:cs typeface="IBM Plex Sans"/>
                <a:sym typeface="IBM Plex Sans"/>
              </a:rPr>
              <a:t>metodo main</a:t>
            </a:r>
            <a:endParaRPr b="0" i="0" sz="1400" u="none" cap="none" strike="noStrike">
              <a:solidFill>
                <a:schemeClr val="lt1"/>
              </a:solidFill>
              <a:latin typeface="JetBrains Mono"/>
              <a:ea typeface="JetBrains Mono"/>
              <a:cs typeface="JetBrains Mono"/>
              <a:sym typeface="JetBrains Mono"/>
            </a:endParaRPr>
          </a:p>
        </p:txBody>
      </p:sp>
      <p:sp>
        <p:nvSpPr>
          <p:cNvPr id="143" name="Google Shape;143;p6"/>
          <p:cNvSpPr/>
          <p:nvPr/>
        </p:nvSpPr>
        <p:spPr>
          <a:xfrm>
            <a:off x="812800" y="559311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400"/>
              <a:buFont typeface="IBM Plex Sans"/>
              <a:buNone/>
            </a:pPr>
            <a:r>
              <a:rPr b="0" i="0" lang="en-US" sz="1400" u="none" cap="none" strike="noStrike">
                <a:solidFill>
                  <a:srgbClr val="AEB6C4"/>
                </a:solidFill>
                <a:latin typeface="IBM Plex Sans"/>
                <a:ea typeface="IBM Plex Sans"/>
                <a:cs typeface="IBM Plex Sans"/>
                <a:sym typeface="IBM Plex Sans"/>
              </a:rPr>
              <a:t>Si potrebbe scrivere tutto nei main. Separare rende il codice leggibile e riutilizzabile.</a:t>
            </a:r>
            <a:endParaRPr b="0" i="0" sz="1400" u="none" cap="none" strike="noStrike">
              <a:solidFill>
                <a:schemeClr val="lt1"/>
              </a:solidFill>
              <a:latin typeface="JetBrains Mono"/>
              <a:ea typeface="JetBrains Mono"/>
              <a:cs typeface="JetBrains Mono"/>
              <a:sym typeface="JetBrains Mono"/>
            </a:endParaRPr>
          </a:p>
        </p:txBody>
      </p:sp>
      <p:sp>
        <p:nvSpPr>
          <p:cNvPr id="144" name="Google Shape;144;p6"/>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145" name="Google Shape;145;p6"/>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06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6"/>
        </a:solidFill>
      </p:bgPr>
    </p:bg>
    <p:spTree>
      <p:nvGrpSpPr>
        <p:cNvPr id="150" name="Shape 150"/>
        <p:cNvGrpSpPr/>
        <p:nvPr/>
      </p:nvGrpSpPr>
      <p:grpSpPr>
        <a:xfrm>
          <a:off x="0" y="0"/>
          <a:ext cx="0" cy="0"/>
          <a:chOff x="0" y="0"/>
          <a:chExt cx="0" cy="0"/>
        </a:xfrm>
      </p:grpSpPr>
      <p:sp>
        <p:nvSpPr>
          <p:cNvPr id="151" name="Google Shape;151;p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470F"/>
              </a:buClr>
              <a:buSzPts val="1200"/>
              <a:buFont typeface="JetBrains Mono"/>
              <a:buNone/>
            </a:pPr>
            <a:r>
              <a:rPr b="1" i="0" lang="en-US" sz="1200" u="none" cap="none" strike="noStrike">
                <a:solidFill>
                  <a:srgbClr val="B4470F"/>
                </a:solidFill>
                <a:latin typeface="JetBrains Mono"/>
                <a:ea typeface="JetBrains Mono"/>
                <a:cs typeface="JetBrains Mono"/>
                <a:sym typeface="JetBrains Mono"/>
              </a:rPr>
              <a:t>02 · PRIMA DEL CODICE</a:t>
            </a:r>
            <a:endParaRPr b="0" i="0" sz="1200" u="none" cap="none" strike="noStrike">
              <a:solidFill>
                <a:schemeClr val="lt1"/>
              </a:solidFill>
              <a:latin typeface="JetBrains Mono"/>
              <a:ea typeface="JetBrains Mono"/>
              <a:cs typeface="JetBrains Mono"/>
              <a:sym typeface="JetBrains Mono"/>
            </a:endParaRPr>
          </a:p>
        </p:txBody>
      </p:sp>
      <p:sp>
        <p:nvSpPr>
          <p:cNvPr id="152" name="Google Shape;152;p7"/>
          <p:cNvSpPr txBox="1"/>
          <p:nvPr>
            <p:ph type="title"/>
          </p:nvPr>
        </p:nvSpPr>
        <p:spPr>
          <a:xfrm>
            <a:off x="812800" y="2482850"/>
            <a:ext cx="10883392" cy="1231900"/>
          </a:xfrm>
          <a:prstGeom prst="rect">
            <a:avLst/>
          </a:prstGeom>
          <a:noFill/>
          <a:ln>
            <a:noFill/>
          </a:ln>
        </p:spPr>
        <p:txBody>
          <a:bodyPr anchorCtr="0" anchor="t" bIns="0" lIns="0" spcFirstLastPara="1" rIns="0" wrap="square" tIns="0">
            <a:normAutofit/>
          </a:bodyPr>
          <a:lstStyle/>
          <a:p>
            <a:pPr indent="0" lvl="0" marL="0" rtl="0" algn="l">
              <a:lnSpc>
                <a:spcPct val="95000"/>
              </a:lnSpc>
              <a:spcBef>
                <a:spcPts val="0"/>
              </a:spcBef>
              <a:spcAft>
                <a:spcPts val="0"/>
              </a:spcAft>
              <a:buClr>
                <a:srgbClr val="141A24"/>
              </a:buClr>
              <a:buSzPts val="10000"/>
              <a:buFont typeface="IBM Plex Sans"/>
              <a:buNone/>
            </a:pPr>
            <a:r>
              <a:rPr b="1" i="0" lang="en-US" sz="10000">
                <a:solidFill>
                  <a:srgbClr val="141A24"/>
                </a:solidFill>
                <a:latin typeface="IBM Plex Sans"/>
                <a:ea typeface="IBM Plex Sans"/>
                <a:cs typeface="IBM Plex Sans"/>
                <a:sym typeface="IBM Plex Sans"/>
              </a:rPr>
              <a:t>Gli oggetti</a:t>
            </a:r>
            <a:endParaRPr sz="10000"/>
          </a:p>
        </p:txBody>
      </p:sp>
      <p:sp>
        <p:nvSpPr>
          <p:cNvPr id="153" name="Google Shape;153;p7"/>
          <p:cNvSpPr/>
          <p:nvPr/>
        </p:nvSpPr>
        <p:spPr>
          <a:xfrm>
            <a:off x="812800" y="3867150"/>
            <a:ext cx="8502650" cy="3556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3A4250"/>
              </a:buClr>
              <a:buSzPts val="2000"/>
              <a:buFont typeface="IBM Plex Sans"/>
              <a:buNone/>
            </a:pPr>
            <a:r>
              <a:rPr b="0" i="0" lang="en-US" sz="2000" u="none" cap="none" strike="noStrike">
                <a:solidFill>
                  <a:srgbClr val="3A4250"/>
                </a:solidFill>
                <a:latin typeface="IBM Plex Sans"/>
                <a:ea typeface="IBM Plex Sans"/>
                <a:cs typeface="IBM Plex Sans"/>
                <a:sym typeface="IBM Plex Sans"/>
              </a:rPr>
              <a:t>Le cinque classi di java.net e java.io usate nel codice.</a:t>
            </a:r>
            <a:endParaRPr b="0" i="0" sz="2000" u="none" cap="none" strike="noStrike">
              <a:solidFill>
                <a:schemeClr val="lt1"/>
              </a:solidFill>
              <a:latin typeface="JetBrains Mono"/>
              <a:ea typeface="JetBrains Mono"/>
              <a:cs typeface="JetBrains Mono"/>
              <a:sym typeface="JetBrains Mono"/>
            </a:endParaRPr>
          </a:p>
        </p:txBody>
      </p:sp>
      <p:sp>
        <p:nvSpPr>
          <p:cNvPr id="154" name="Google Shape;154;p7"/>
          <p:cNvSpPr/>
          <p:nvPr/>
        </p:nvSpPr>
        <p:spPr>
          <a:xfrm>
            <a:off x="819150" y="5660430"/>
            <a:ext cx="840780" cy="378420"/>
          </a:xfrm>
          <a:prstGeom prst="roundRect">
            <a:avLst>
              <a:gd fmla="val 18458" name="adj"/>
            </a:avLst>
          </a:prstGeom>
          <a:noFill/>
          <a:ln cap="flat" cmpd="sng" w="12700">
            <a:solidFill>
              <a:srgbClr val="141A24"/>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41A24"/>
              </a:buClr>
              <a:buSzPts val="1200"/>
              <a:buFont typeface="JetBrains Mono"/>
              <a:buNone/>
            </a:pPr>
            <a:r>
              <a:rPr b="0" i="0" lang="en-US" sz="1200" u="none" cap="none" strike="noStrike">
                <a:solidFill>
                  <a:srgbClr val="141A24"/>
                </a:solidFill>
                <a:latin typeface="JetBrains Mono"/>
                <a:ea typeface="JetBrains Mono"/>
                <a:cs typeface="JetBrains Mono"/>
                <a:sym typeface="JetBrains Mono"/>
              </a:rPr>
              <a:t>Socket</a:t>
            </a:r>
            <a:endParaRPr b="0" i="0" sz="1200" u="none" cap="none" strike="noStrike">
              <a:solidFill>
                <a:schemeClr val="lt1"/>
              </a:solidFill>
              <a:latin typeface="JetBrains Mono"/>
              <a:ea typeface="JetBrains Mono"/>
              <a:cs typeface="JetBrains Mono"/>
              <a:sym typeface="JetBrains Mono"/>
            </a:endParaRPr>
          </a:p>
        </p:txBody>
      </p:sp>
      <p:sp>
        <p:nvSpPr>
          <p:cNvPr id="155" name="Google Shape;155;p7"/>
          <p:cNvSpPr/>
          <p:nvPr/>
        </p:nvSpPr>
        <p:spPr>
          <a:xfrm>
            <a:off x="1774230" y="5660430"/>
            <a:ext cx="1389410" cy="378420"/>
          </a:xfrm>
          <a:prstGeom prst="roundRect">
            <a:avLst>
              <a:gd fmla="val 18458" name="adj"/>
            </a:avLst>
          </a:prstGeom>
          <a:noFill/>
          <a:ln cap="flat" cmpd="sng" w="12700">
            <a:solidFill>
              <a:srgbClr val="141A24"/>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41A24"/>
              </a:buClr>
              <a:buSzPts val="1200"/>
              <a:buFont typeface="JetBrains Mono"/>
              <a:buNone/>
            </a:pPr>
            <a:r>
              <a:rPr b="0" i="0" lang="en-US" sz="1200" u="none" cap="none" strike="noStrike">
                <a:solidFill>
                  <a:srgbClr val="141A24"/>
                </a:solidFill>
                <a:latin typeface="JetBrains Mono"/>
                <a:ea typeface="JetBrains Mono"/>
                <a:cs typeface="JetBrains Mono"/>
                <a:sym typeface="JetBrains Mono"/>
              </a:rPr>
              <a:t>ServerSocket</a:t>
            </a:r>
            <a:endParaRPr b="0" i="0" sz="1200" u="none" cap="none" strike="noStrike">
              <a:solidFill>
                <a:schemeClr val="lt1"/>
              </a:solidFill>
              <a:latin typeface="JetBrains Mono"/>
              <a:ea typeface="JetBrains Mono"/>
              <a:cs typeface="JetBrains Mono"/>
              <a:sym typeface="JetBrains Mono"/>
            </a:endParaRPr>
          </a:p>
        </p:txBody>
      </p:sp>
      <p:sp>
        <p:nvSpPr>
          <p:cNvPr id="156" name="Google Shape;156;p7"/>
          <p:cNvSpPr/>
          <p:nvPr/>
        </p:nvSpPr>
        <p:spPr>
          <a:xfrm>
            <a:off x="3277939" y="5660430"/>
            <a:ext cx="1755130" cy="378420"/>
          </a:xfrm>
          <a:prstGeom prst="roundRect">
            <a:avLst>
              <a:gd fmla="val 18458" name="adj"/>
            </a:avLst>
          </a:prstGeom>
          <a:noFill/>
          <a:ln cap="flat" cmpd="sng" w="12700">
            <a:solidFill>
              <a:srgbClr val="141A24"/>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41A24"/>
              </a:buClr>
              <a:buSzPts val="1200"/>
              <a:buFont typeface="JetBrains Mono"/>
              <a:buNone/>
            </a:pPr>
            <a:r>
              <a:rPr b="0" i="0" lang="en-US" sz="1200" u="none" cap="none" strike="noStrike">
                <a:solidFill>
                  <a:srgbClr val="141A24"/>
                </a:solidFill>
                <a:latin typeface="JetBrains Mono"/>
                <a:ea typeface="JetBrains Mono"/>
                <a:cs typeface="JetBrains Mono"/>
                <a:sym typeface="JetBrains Mono"/>
              </a:rPr>
              <a:t>DataOutputStream</a:t>
            </a:r>
            <a:endParaRPr b="0" i="0" sz="1200" u="none" cap="none" strike="noStrike">
              <a:solidFill>
                <a:schemeClr val="lt1"/>
              </a:solidFill>
              <a:latin typeface="JetBrains Mono"/>
              <a:ea typeface="JetBrains Mono"/>
              <a:cs typeface="JetBrains Mono"/>
              <a:sym typeface="JetBrains Mono"/>
            </a:endParaRPr>
          </a:p>
        </p:txBody>
      </p:sp>
      <p:sp>
        <p:nvSpPr>
          <p:cNvPr id="157" name="Google Shape;157;p7"/>
          <p:cNvSpPr/>
          <p:nvPr/>
        </p:nvSpPr>
        <p:spPr>
          <a:xfrm>
            <a:off x="5147370" y="5660430"/>
            <a:ext cx="1663700" cy="378420"/>
          </a:xfrm>
          <a:prstGeom prst="roundRect">
            <a:avLst>
              <a:gd fmla="val 18458" name="adj"/>
            </a:avLst>
          </a:prstGeom>
          <a:noFill/>
          <a:ln cap="flat" cmpd="sng" w="12700">
            <a:solidFill>
              <a:srgbClr val="141A24"/>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41A24"/>
              </a:buClr>
              <a:buSzPts val="1200"/>
              <a:buFont typeface="JetBrains Mono"/>
              <a:buNone/>
            </a:pPr>
            <a:r>
              <a:rPr b="0" i="0" lang="en-US" sz="1200" u="none" cap="none" strike="noStrike">
                <a:solidFill>
                  <a:srgbClr val="141A24"/>
                </a:solidFill>
                <a:latin typeface="JetBrains Mono"/>
                <a:ea typeface="JetBrains Mono"/>
                <a:cs typeface="JetBrains Mono"/>
                <a:sym typeface="JetBrains Mono"/>
              </a:rPr>
              <a:t>DataInputStream</a:t>
            </a:r>
            <a:endParaRPr b="0" i="0" sz="1200" u="none" cap="none" strike="noStrike">
              <a:solidFill>
                <a:schemeClr val="lt1"/>
              </a:solidFill>
              <a:latin typeface="JetBrains Mono"/>
              <a:ea typeface="JetBrains Mono"/>
              <a:cs typeface="JetBrains Mono"/>
              <a:sym typeface="JetBrains Mono"/>
            </a:endParaRPr>
          </a:p>
        </p:txBody>
      </p:sp>
      <p:sp>
        <p:nvSpPr>
          <p:cNvPr id="158" name="Google Shape;158;p7"/>
          <p:cNvSpPr/>
          <p:nvPr/>
        </p:nvSpPr>
        <p:spPr>
          <a:xfrm>
            <a:off x="6925370" y="5660430"/>
            <a:ext cx="1572270" cy="378420"/>
          </a:xfrm>
          <a:prstGeom prst="roundRect">
            <a:avLst>
              <a:gd fmla="val 18458" name="adj"/>
            </a:avLst>
          </a:prstGeom>
          <a:noFill/>
          <a:ln cap="flat" cmpd="sng" w="12700">
            <a:solidFill>
              <a:srgbClr val="141A24"/>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41A24"/>
              </a:buClr>
              <a:buSzPts val="1200"/>
              <a:buFont typeface="JetBrains Mono"/>
              <a:buNone/>
            </a:pPr>
            <a:r>
              <a:rPr b="0" i="0" lang="en-US" sz="1200" u="none" cap="none" strike="noStrike">
                <a:solidFill>
                  <a:srgbClr val="141A24"/>
                </a:solidFill>
                <a:latin typeface="JetBrains Mono"/>
                <a:ea typeface="JetBrains Mono"/>
                <a:cs typeface="JetBrains Mono"/>
                <a:sym typeface="JetBrains Mono"/>
              </a:rPr>
              <a:t>BufferedReader</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163" name="Shape 163"/>
        <p:cNvGrpSpPr/>
        <p:nvPr/>
      </p:nvGrpSpPr>
      <p:grpSpPr>
        <a:xfrm>
          <a:off x="0" y="0"/>
          <a:ext cx="0" cy="0"/>
          <a:chOff x="0" y="0"/>
          <a:chExt cx="0" cy="0"/>
        </a:xfrm>
      </p:grpSpPr>
      <p:sp>
        <p:nvSpPr>
          <p:cNvPr id="164" name="Google Shape;164;p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02 · GLI OGGETTI</a:t>
            </a:r>
            <a:endParaRPr b="0" i="0" sz="1200" u="none" cap="none" strike="noStrike">
              <a:solidFill>
                <a:schemeClr val="lt1"/>
              </a:solidFill>
              <a:latin typeface="JetBrains Mono"/>
              <a:ea typeface="JetBrains Mono"/>
              <a:cs typeface="JetBrains Mono"/>
              <a:sym typeface="JetBrains Mono"/>
            </a:endParaRPr>
          </a:p>
        </p:txBody>
      </p:sp>
      <p:sp>
        <p:nvSpPr>
          <p:cNvPr id="165" name="Google Shape;165;p8"/>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Dove si colloca ogni oggetto</a:t>
            </a:r>
            <a:endParaRPr sz="3000"/>
          </a:p>
        </p:txBody>
      </p:sp>
      <p:sp>
        <p:nvSpPr>
          <p:cNvPr id="166" name="Google Shape;166;p8"/>
          <p:cNvSpPr/>
          <p:nvPr/>
        </p:nvSpPr>
        <p:spPr>
          <a:xfrm>
            <a:off x="819150" y="2684859"/>
            <a:ext cx="2146300" cy="1729581"/>
          </a:xfrm>
          <a:prstGeom prst="roundRect">
            <a:avLst>
              <a:gd fmla="val 8444" name="adj"/>
            </a:avLst>
          </a:prstGeom>
          <a:solidFill>
            <a:srgbClr val="14233F"/>
          </a:solidFill>
          <a:ln cap="flat" cmpd="sng" w="12700">
            <a:solidFill>
              <a:srgbClr val="7FB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1054100" y="2919809"/>
            <a:ext cx="1727200" cy="38859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7FB2FF"/>
              </a:buClr>
              <a:buSzPts val="2600"/>
              <a:buFont typeface="IBM Plex Sans"/>
              <a:buNone/>
            </a:pPr>
            <a:r>
              <a:rPr b="1" i="0" lang="en-US" sz="2600" u="none" cap="none" strike="noStrike">
                <a:solidFill>
                  <a:srgbClr val="7FB2FF"/>
                </a:solidFill>
                <a:latin typeface="IBM Plex Sans"/>
                <a:ea typeface="IBM Plex Sans"/>
                <a:cs typeface="IBM Plex Sans"/>
                <a:sym typeface="IBM Plex Sans"/>
              </a:rPr>
              <a:t>Client</a:t>
            </a:r>
            <a:endParaRPr b="0" i="0" sz="2600" u="none" cap="none" strike="noStrike">
              <a:solidFill>
                <a:schemeClr val="lt1"/>
              </a:solidFill>
              <a:latin typeface="JetBrains Mono"/>
              <a:ea typeface="JetBrains Mono"/>
              <a:cs typeface="JetBrains Mono"/>
              <a:sym typeface="JetBrains Mono"/>
            </a:endParaRPr>
          </a:p>
        </p:txBody>
      </p:sp>
      <p:sp>
        <p:nvSpPr>
          <p:cNvPr id="168" name="Google Shape;168;p8"/>
          <p:cNvSpPr/>
          <p:nvPr/>
        </p:nvSpPr>
        <p:spPr>
          <a:xfrm>
            <a:off x="1054100" y="3714750"/>
            <a:ext cx="1727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EFE6"/>
              </a:buClr>
              <a:buSzPts val="1200"/>
              <a:buFont typeface="JetBrains Mono"/>
              <a:buNone/>
            </a:pPr>
            <a:r>
              <a:rPr b="1" i="0" lang="en-US" sz="1200" u="none" cap="none" strike="noStrike">
                <a:solidFill>
                  <a:srgbClr val="F2EFE6"/>
                </a:solidFill>
                <a:latin typeface="JetBrains Mono"/>
                <a:ea typeface="JetBrains Mono"/>
                <a:cs typeface="JetBrains Mono"/>
                <a:sym typeface="JetBrains Mono"/>
              </a:rPr>
              <a:t>BufferedReader</a:t>
            </a:r>
            <a:endParaRPr b="0" i="0" sz="1200" u="none" cap="none" strike="noStrike">
              <a:solidFill>
                <a:schemeClr val="lt1"/>
              </a:solidFill>
              <a:latin typeface="JetBrains Mono"/>
              <a:ea typeface="JetBrains Mono"/>
              <a:cs typeface="JetBrains Mono"/>
              <a:sym typeface="JetBrains Mono"/>
            </a:endParaRPr>
          </a:p>
        </p:txBody>
      </p:sp>
      <p:sp>
        <p:nvSpPr>
          <p:cNvPr id="169" name="Google Shape;169;p8"/>
          <p:cNvSpPr/>
          <p:nvPr/>
        </p:nvSpPr>
        <p:spPr>
          <a:xfrm>
            <a:off x="1054100" y="3966170"/>
            <a:ext cx="1727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legge da System.in</a:t>
            </a:r>
            <a:endParaRPr b="0" i="0" sz="1200" u="none" cap="none" strike="noStrike">
              <a:solidFill>
                <a:schemeClr val="lt1"/>
              </a:solidFill>
              <a:latin typeface="JetBrains Mono"/>
              <a:ea typeface="JetBrains Mono"/>
              <a:cs typeface="JetBrains Mono"/>
              <a:sym typeface="JetBrains Mono"/>
            </a:endParaRPr>
          </a:p>
        </p:txBody>
      </p:sp>
      <p:sp>
        <p:nvSpPr>
          <p:cNvPr id="170" name="Google Shape;170;p8"/>
          <p:cNvSpPr/>
          <p:nvPr/>
        </p:nvSpPr>
        <p:spPr>
          <a:xfrm>
            <a:off x="3307060" y="2754709"/>
            <a:ext cx="156468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DataOutputStream</a:t>
            </a:r>
            <a:endParaRPr b="0" i="0" sz="1200" u="none" cap="none" strike="noStrike">
              <a:solidFill>
                <a:schemeClr val="lt1"/>
              </a:solidFill>
              <a:latin typeface="JetBrains Mono"/>
              <a:ea typeface="JetBrains Mono"/>
              <a:cs typeface="JetBrains Mono"/>
              <a:sym typeface="JetBrains Mono"/>
            </a:endParaRPr>
          </a:p>
        </p:txBody>
      </p:sp>
      <p:pic>
        <p:nvPicPr>
          <p:cNvPr descr="connector" id="171" name="Google Shape;171;p8"/>
          <p:cNvPicPr preferRelativeResize="0"/>
          <p:nvPr/>
        </p:nvPicPr>
        <p:blipFill rotWithShape="1">
          <a:blip r:embed="rId3">
            <a:alphaModFix/>
          </a:blip>
          <a:srcRect b="0" l="0" r="0" t="0"/>
          <a:stretch/>
        </p:blipFill>
        <p:spPr>
          <a:xfrm>
            <a:off x="4871740" y="2797870"/>
            <a:ext cx="2540000" cy="127000"/>
          </a:xfrm>
          <a:prstGeom prst="rect">
            <a:avLst/>
          </a:prstGeom>
          <a:noFill/>
          <a:ln>
            <a:noFill/>
          </a:ln>
        </p:spPr>
      </p:pic>
      <p:sp>
        <p:nvSpPr>
          <p:cNvPr id="172" name="Google Shape;172;p8"/>
          <p:cNvSpPr/>
          <p:nvPr/>
        </p:nvSpPr>
        <p:spPr>
          <a:xfrm>
            <a:off x="7513340" y="2754709"/>
            <a:ext cx="164592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DataInputStream</a:t>
            </a:r>
            <a:endParaRPr b="0" i="0" sz="1200" u="none" cap="none" strike="noStrike">
              <a:solidFill>
                <a:schemeClr val="lt1"/>
              </a:solidFill>
              <a:latin typeface="JetBrains Mono"/>
              <a:ea typeface="JetBrains Mono"/>
              <a:cs typeface="JetBrains Mono"/>
              <a:sym typeface="JetBrains Mono"/>
            </a:endParaRPr>
          </a:p>
        </p:txBody>
      </p:sp>
      <p:sp>
        <p:nvSpPr>
          <p:cNvPr id="173" name="Google Shape;173;p8"/>
          <p:cNvSpPr/>
          <p:nvPr/>
        </p:nvSpPr>
        <p:spPr>
          <a:xfrm>
            <a:off x="5339060" y="3145830"/>
            <a:ext cx="1513830" cy="543520"/>
          </a:xfrm>
          <a:prstGeom prst="roundRect">
            <a:avLst>
              <a:gd fmla="val 18693" name="adj"/>
            </a:avLst>
          </a:prstGeom>
          <a:solidFill>
            <a:srgbClr val="F2EFE6"/>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320"/>
              </a:buClr>
              <a:buSzPts val="2200"/>
              <a:buFont typeface="JetBrains Mono"/>
              <a:buNone/>
            </a:pPr>
            <a:r>
              <a:rPr b="1" i="0" lang="en-US" sz="2200" u="none" cap="none" strike="noStrike">
                <a:solidFill>
                  <a:srgbClr val="0E1320"/>
                </a:solidFill>
                <a:latin typeface="JetBrains Mono"/>
                <a:ea typeface="JetBrains Mono"/>
                <a:cs typeface="JetBrains Mono"/>
                <a:sym typeface="JetBrains Mono"/>
              </a:rPr>
              <a:t>Socket</a:t>
            </a:r>
            <a:endParaRPr b="0" i="0" sz="2200" u="none" cap="none" strike="noStrike">
              <a:solidFill>
                <a:schemeClr val="lt1"/>
              </a:solidFill>
              <a:latin typeface="JetBrains Mono"/>
              <a:ea typeface="JetBrains Mono"/>
              <a:cs typeface="JetBrains Mono"/>
              <a:sym typeface="JetBrains Mono"/>
            </a:endParaRPr>
          </a:p>
        </p:txBody>
      </p:sp>
      <p:sp>
        <p:nvSpPr>
          <p:cNvPr id="174" name="Google Shape;174;p8"/>
          <p:cNvSpPr/>
          <p:nvPr/>
        </p:nvSpPr>
        <p:spPr>
          <a:xfrm>
            <a:off x="5055791" y="3740150"/>
            <a:ext cx="249650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connessione TCP bidirezionale</a:t>
            </a:r>
            <a:endParaRPr b="0" i="0" sz="1200" u="none" cap="none" strike="noStrike">
              <a:solidFill>
                <a:schemeClr val="lt1"/>
              </a:solidFill>
              <a:latin typeface="JetBrains Mono"/>
              <a:ea typeface="JetBrains Mono"/>
              <a:cs typeface="JetBrains Mono"/>
              <a:sym typeface="JetBrains Mono"/>
            </a:endParaRPr>
          </a:p>
        </p:txBody>
      </p:sp>
      <p:sp>
        <p:nvSpPr>
          <p:cNvPr id="175" name="Google Shape;175;p8"/>
          <p:cNvSpPr/>
          <p:nvPr/>
        </p:nvSpPr>
        <p:spPr>
          <a:xfrm>
            <a:off x="3307060" y="4131270"/>
            <a:ext cx="1473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DataInputStream</a:t>
            </a:r>
            <a:endParaRPr b="0" i="0" sz="1200" u="none" cap="none" strike="noStrike">
              <a:solidFill>
                <a:schemeClr val="lt1"/>
              </a:solidFill>
              <a:latin typeface="JetBrains Mono"/>
              <a:ea typeface="JetBrains Mono"/>
              <a:cs typeface="JetBrains Mono"/>
              <a:sym typeface="JetBrains Mono"/>
            </a:endParaRPr>
          </a:p>
        </p:txBody>
      </p:sp>
      <p:pic>
        <p:nvPicPr>
          <p:cNvPr descr="connector" id="176" name="Google Shape;176;p8"/>
          <p:cNvPicPr preferRelativeResize="0"/>
          <p:nvPr/>
        </p:nvPicPr>
        <p:blipFill rotWithShape="1">
          <a:blip r:embed="rId4">
            <a:alphaModFix/>
          </a:blip>
          <a:srcRect b="0" l="0" r="0" t="0"/>
          <a:stretch/>
        </p:blipFill>
        <p:spPr>
          <a:xfrm>
            <a:off x="4780260" y="4174430"/>
            <a:ext cx="2540000" cy="127000"/>
          </a:xfrm>
          <a:prstGeom prst="rect">
            <a:avLst/>
          </a:prstGeom>
          <a:noFill/>
          <a:ln>
            <a:noFill/>
          </a:ln>
        </p:spPr>
      </p:pic>
      <p:sp>
        <p:nvSpPr>
          <p:cNvPr id="177" name="Google Shape;177;p8"/>
          <p:cNvSpPr/>
          <p:nvPr/>
        </p:nvSpPr>
        <p:spPr>
          <a:xfrm>
            <a:off x="7421860" y="4131270"/>
            <a:ext cx="175569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DataOutputStream</a:t>
            </a:r>
            <a:endParaRPr b="0" i="0" sz="1200" u="none" cap="none" strike="noStrike">
              <a:solidFill>
                <a:schemeClr val="lt1"/>
              </a:solidFill>
              <a:latin typeface="JetBrains Mono"/>
              <a:ea typeface="JetBrains Mono"/>
              <a:cs typeface="JetBrains Mono"/>
              <a:sym typeface="JetBrains Mono"/>
            </a:endParaRPr>
          </a:p>
        </p:txBody>
      </p:sp>
      <p:sp>
        <p:nvSpPr>
          <p:cNvPr id="178" name="Google Shape;178;p8"/>
          <p:cNvSpPr/>
          <p:nvPr/>
        </p:nvSpPr>
        <p:spPr>
          <a:xfrm>
            <a:off x="9226550" y="2684859"/>
            <a:ext cx="2146300" cy="1729581"/>
          </a:xfrm>
          <a:prstGeom prst="roundRect">
            <a:avLst>
              <a:gd fmla="val 8444" name="adj"/>
            </a:avLst>
          </a:prstGeom>
          <a:solidFill>
            <a:srgbClr val="2E1D12"/>
          </a:solidFill>
          <a:ln cap="flat" cmpd="sng" w="12700">
            <a:solidFill>
              <a:srgbClr val="FF9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9461500" y="2919809"/>
            <a:ext cx="1727200" cy="38859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F9A5C"/>
              </a:buClr>
              <a:buSzPts val="2600"/>
              <a:buFont typeface="IBM Plex Sans"/>
              <a:buNone/>
            </a:pPr>
            <a:r>
              <a:rPr b="1" i="0" lang="en-US" sz="2600" u="none" cap="none" strike="noStrike">
                <a:solidFill>
                  <a:srgbClr val="FF9A5C"/>
                </a:solidFill>
                <a:latin typeface="IBM Plex Sans"/>
                <a:ea typeface="IBM Plex Sans"/>
                <a:cs typeface="IBM Plex Sans"/>
                <a:sym typeface="IBM Plex Sans"/>
              </a:rPr>
              <a:t>Server</a:t>
            </a:r>
            <a:endParaRPr b="0" i="0" sz="2600" u="none" cap="none" strike="noStrike">
              <a:solidFill>
                <a:schemeClr val="lt1"/>
              </a:solidFill>
              <a:latin typeface="JetBrains Mono"/>
              <a:ea typeface="JetBrains Mono"/>
              <a:cs typeface="JetBrains Mono"/>
              <a:sym typeface="JetBrains Mono"/>
            </a:endParaRPr>
          </a:p>
        </p:txBody>
      </p:sp>
      <p:sp>
        <p:nvSpPr>
          <p:cNvPr id="180" name="Google Shape;180;p8"/>
          <p:cNvSpPr/>
          <p:nvPr/>
        </p:nvSpPr>
        <p:spPr>
          <a:xfrm>
            <a:off x="9461500" y="3714750"/>
            <a:ext cx="1727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EFE6"/>
              </a:buClr>
              <a:buSzPts val="1200"/>
              <a:buFont typeface="JetBrains Mono"/>
              <a:buNone/>
            </a:pPr>
            <a:r>
              <a:rPr b="1" i="0" lang="en-US" sz="1200" u="none" cap="none" strike="noStrike">
                <a:solidFill>
                  <a:srgbClr val="F2EFE6"/>
                </a:solidFill>
                <a:latin typeface="JetBrains Mono"/>
                <a:ea typeface="JetBrains Mono"/>
                <a:cs typeface="JetBrains Mono"/>
                <a:sym typeface="JetBrains Mono"/>
              </a:rPr>
              <a:t>ServerSocket</a:t>
            </a:r>
            <a:endParaRPr b="0" i="0" sz="1200" u="none" cap="none" strike="noStrike">
              <a:solidFill>
                <a:schemeClr val="lt1"/>
              </a:solidFill>
              <a:latin typeface="JetBrains Mono"/>
              <a:ea typeface="JetBrains Mono"/>
              <a:cs typeface="JetBrains Mono"/>
              <a:sym typeface="JetBrains Mono"/>
            </a:endParaRPr>
          </a:p>
        </p:txBody>
      </p:sp>
      <p:sp>
        <p:nvSpPr>
          <p:cNvPr id="181" name="Google Shape;181;p8"/>
          <p:cNvSpPr/>
          <p:nvPr/>
        </p:nvSpPr>
        <p:spPr>
          <a:xfrm>
            <a:off x="9461500" y="3966170"/>
            <a:ext cx="1727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accetta le connessioni</a:t>
            </a:r>
            <a:endParaRPr b="0" i="0" sz="1200" u="none" cap="none" strike="noStrike">
              <a:solidFill>
                <a:schemeClr val="lt1"/>
              </a:solidFill>
              <a:latin typeface="JetBrains Mono"/>
              <a:ea typeface="JetBrains Mono"/>
              <a:cs typeface="JetBrains Mono"/>
              <a:sym typeface="JetBrains Mono"/>
            </a:endParaRPr>
          </a:p>
        </p:txBody>
      </p:sp>
      <p:sp>
        <p:nvSpPr>
          <p:cNvPr id="182" name="Google Shape;182;p8"/>
          <p:cNvSpPr/>
          <p:nvPr/>
        </p:nvSpPr>
        <p:spPr>
          <a:xfrm>
            <a:off x="812800" y="5577880"/>
            <a:ext cx="10883392" cy="28952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2EFE6"/>
              </a:buClr>
              <a:buSzPts val="1600"/>
              <a:buFont typeface="IBM Plex Sans"/>
              <a:buNone/>
            </a:pPr>
            <a:r>
              <a:rPr b="0" i="0" lang="en-US" sz="1600" u="none" cap="none" strike="noStrike">
                <a:solidFill>
                  <a:srgbClr val="F2EFE6"/>
                </a:solidFill>
                <a:latin typeface="IBM Plex Sans"/>
                <a:ea typeface="IBM Plex Sans"/>
                <a:cs typeface="IBM Plex Sans"/>
                <a:sym typeface="IBM Plex Sans"/>
              </a:rPr>
              <a:t>Ogni lato scrive su un </a:t>
            </a:r>
            <a:r>
              <a:rPr b="0" i="0" lang="en-US" sz="1600" u="none" cap="none" strike="noStrike">
                <a:solidFill>
                  <a:srgbClr val="9FD89A"/>
                </a:solidFill>
                <a:latin typeface="IBM Plex Sans"/>
                <a:ea typeface="IBM Plex Sans"/>
                <a:cs typeface="IBM Plex Sans"/>
                <a:sym typeface="IBM Plex Sans"/>
              </a:rPr>
              <a:t>DataOutputStream</a:t>
            </a:r>
            <a:r>
              <a:rPr b="0" i="0" lang="en-US" sz="1600" u="none" cap="none" strike="noStrike">
                <a:solidFill>
                  <a:srgbClr val="F2EFE6"/>
                </a:solidFill>
                <a:latin typeface="IBM Plex Sans"/>
                <a:ea typeface="IBM Plex Sans"/>
                <a:cs typeface="IBM Plex Sans"/>
                <a:sym typeface="IBM Plex Sans"/>
              </a:rPr>
              <a:t> e legge da un </a:t>
            </a:r>
            <a:r>
              <a:rPr b="0" i="0" lang="en-US" sz="1600" u="none" cap="none" strike="noStrike">
                <a:solidFill>
                  <a:srgbClr val="9FD89A"/>
                </a:solidFill>
                <a:latin typeface="IBM Plex Sans"/>
                <a:ea typeface="IBM Plex Sans"/>
                <a:cs typeface="IBM Plex Sans"/>
                <a:sym typeface="IBM Plex Sans"/>
              </a:rPr>
              <a:t>DataInputStream</a:t>
            </a:r>
            <a:r>
              <a:rPr b="0" i="0" lang="en-US" sz="1600" u="none" cap="none" strike="noStrike">
                <a:solidFill>
                  <a:srgbClr val="F2EFE6"/>
                </a:solidFill>
                <a:latin typeface="IBM Plex Sans"/>
                <a:ea typeface="IBM Plex Sans"/>
                <a:cs typeface="IBM Plex Sans"/>
                <a:sym typeface="IBM Plex Sans"/>
              </a:rPr>
              <a:t>.</a:t>
            </a:r>
            <a:endParaRPr b="0" i="0" sz="1600" u="none" cap="none" strike="noStrike">
              <a:solidFill>
                <a:schemeClr val="lt1"/>
              </a:solidFill>
              <a:latin typeface="JetBrains Mono"/>
              <a:ea typeface="JetBrains Mono"/>
              <a:cs typeface="JetBrains Mono"/>
              <a:sym typeface="JetBrains Mono"/>
            </a:endParaRPr>
          </a:p>
        </p:txBody>
      </p:sp>
      <p:sp>
        <p:nvSpPr>
          <p:cNvPr id="183" name="Google Shape;183;p8"/>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184" name="Google Shape;184;p8"/>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08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189" name="Shape 189"/>
        <p:cNvGrpSpPr/>
        <p:nvPr/>
      </p:nvGrpSpPr>
      <p:grpSpPr>
        <a:xfrm>
          <a:off x="0" y="0"/>
          <a:ext cx="0" cy="0"/>
          <a:chOff x="0" y="0"/>
          <a:chExt cx="0" cy="0"/>
        </a:xfrm>
      </p:grpSpPr>
      <p:sp>
        <p:nvSpPr>
          <p:cNvPr id="190" name="Google Shape;190;p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02 · GLI OGGETTI · 1 DI 5</a:t>
            </a:r>
            <a:endParaRPr b="0" i="0" sz="1200" u="none" cap="none" strike="noStrike">
              <a:solidFill>
                <a:schemeClr val="lt1"/>
              </a:solidFill>
              <a:latin typeface="JetBrains Mono"/>
              <a:ea typeface="JetBrains Mono"/>
              <a:cs typeface="JetBrains Mono"/>
              <a:sym typeface="JetBrains Mono"/>
            </a:endParaRPr>
          </a:p>
        </p:txBody>
      </p:sp>
      <p:sp>
        <p:nvSpPr>
          <p:cNvPr id="191" name="Google Shape;191;p9"/>
          <p:cNvSpPr txBox="1"/>
          <p:nvPr>
            <p:ph type="title"/>
          </p:nvPr>
        </p:nvSpPr>
        <p:spPr>
          <a:xfrm>
            <a:off x="812800" y="2035175"/>
            <a:ext cx="10883392" cy="8382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2EFE6"/>
              </a:buClr>
              <a:buSzPts val="6400"/>
              <a:buFont typeface="JetBrains Mono"/>
              <a:buNone/>
            </a:pPr>
            <a:r>
              <a:rPr b="1" i="0" lang="en-US" sz="6400">
                <a:solidFill>
                  <a:srgbClr val="F2EFE6"/>
                </a:solidFill>
                <a:latin typeface="JetBrains Mono"/>
                <a:ea typeface="JetBrains Mono"/>
                <a:cs typeface="JetBrains Mono"/>
                <a:sym typeface="JetBrains Mono"/>
              </a:rPr>
              <a:t>Socket</a:t>
            </a:r>
            <a:endParaRPr sz="6400"/>
          </a:p>
        </p:txBody>
      </p:sp>
      <p:sp>
        <p:nvSpPr>
          <p:cNvPr id="192" name="Google Shape;192;p9"/>
          <p:cNvSpPr/>
          <p:nvPr/>
        </p:nvSpPr>
        <p:spPr>
          <a:xfrm>
            <a:off x="812800" y="3025775"/>
            <a:ext cx="9156700" cy="3746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F2EFE6"/>
              </a:buClr>
              <a:buSzPts val="2200"/>
              <a:buFont typeface="IBM Plex Sans"/>
              <a:buNone/>
            </a:pPr>
            <a:r>
              <a:rPr b="0" i="0" lang="en-US" sz="2200" u="none" cap="none" strike="noStrike">
                <a:solidFill>
                  <a:srgbClr val="F2EFE6"/>
                </a:solidFill>
                <a:latin typeface="IBM Plex Sans"/>
                <a:ea typeface="IBM Plex Sans"/>
                <a:cs typeface="IBM Plex Sans"/>
                <a:sym typeface="IBM Plex Sans"/>
              </a:rPr>
              <a:t>Rappresenta un endpoint della connessione TCP tra client e server.</a:t>
            </a:r>
            <a:endParaRPr b="0" i="0" sz="2200" u="none" cap="none" strike="noStrike">
              <a:solidFill>
                <a:schemeClr val="lt1"/>
              </a:solidFill>
              <a:latin typeface="JetBrains Mono"/>
              <a:ea typeface="JetBrains Mono"/>
              <a:cs typeface="JetBrains Mono"/>
              <a:sym typeface="JetBrains Mono"/>
            </a:endParaRPr>
          </a:p>
        </p:txBody>
      </p:sp>
      <p:sp>
        <p:nvSpPr>
          <p:cNvPr id="193" name="Google Shape;193;p9"/>
          <p:cNvSpPr/>
          <p:nvPr/>
        </p:nvSpPr>
        <p:spPr>
          <a:xfrm>
            <a:off x="815975" y="4387255"/>
            <a:ext cx="2559050" cy="1451570"/>
          </a:xfrm>
          <a:prstGeom prst="roundRect">
            <a:avLst>
              <a:gd fmla="val 8530"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1022350" y="456823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CHI LO USA</a:t>
            </a:r>
            <a:endParaRPr b="0" i="0" sz="1200" u="none" cap="none" strike="noStrike">
              <a:solidFill>
                <a:schemeClr val="lt1"/>
              </a:solidFill>
              <a:latin typeface="JetBrains Mono"/>
              <a:ea typeface="JetBrains Mono"/>
              <a:cs typeface="JetBrains Mono"/>
              <a:sym typeface="JetBrains Mono"/>
            </a:endParaRPr>
          </a:p>
        </p:txBody>
      </p:sp>
      <p:sp>
        <p:nvSpPr>
          <p:cNvPr id="195" name="Google Shape;195;p9"/>
          <p:cNvSpPr/>
          <p:nvPr/>
        </p:nvSpPr>
        <p:spPr>
          <a:xfrm>
            <a:off x="1022350" y="4845050"/>
            <a:ext cx="2210689" cy="74543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400"/>
              <a:buFont typeface="IBM Plex Sans"/>
              <a:buNone/>
            </a:pPr>
            <a:r>
              <a:rPr b="0" i="0" lang="en-US" sz="1400" u="none" cap="none" strike="noStrike">
                <a:solidFill>
                  <a:srgbClr val="F2EFE6"/>
                </a:solidFill>
                <a:latin typeface="IBM Plex Sans"/>
                <a:ea typeface="IBM Plex Sans"/>
                <a:cs typeface="IBM Plex Sans"/>
                <a:sym typeface="IBM Plex Sans"/>
              </a:rPr>
              <a:t>Client e server. Il client lo istanzia, il server lo ottiene da accept().</a:t>
            </a:r>
            <a:endParaRPr b="0" i="0" sz="1400" u="none" cap="none" strike="noStrike">
              <a:solidFill>
                <a:schemeClr val="lt1"/>
              </a:solidFill>
              <a:latin typeface="JetBrains Mono"/>
              <a:ea typeface="JetBrains Mono"/>
              <a:cs typeface="JetBrains Mono"/>
              <a:sym typeface="JetBrains Mono"/>
            </a:endParaRPr>
          </a:p>
        </p:txBody>
      </p:sp>
      <p:sp>
        <p:nvSpPr>
          <p:cNvPr id="196" name="Google Shape;196;p9"/>
          <p:cNvSpPr/>
          <p:nvPr/>
        </p:nvSpPr>
        <p:spPr>
          <a:xfrm>
            <a:off x="3533775" y="4387255"/>
            <a:ext cx="5124450" cy="1451570"/>
          </a:xfrm>
          <a:prstGeom prst="roundRect">
            <a:avLst>
              <a:gd fmla="val 8530"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3740150" y="4568230"/>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COSTRUTTORE</a:t>
            </a:r>
            <a:endParaRPr b="0" i="0" sz="1200" u="none" cap="none" strike="noStrike">
              <a:solidFill>
                <a:schemeClr val="lt1"/>
              </a:solidFill>
              <a:latin typeface="JetBrains Mono"/>
              <a:ea typeface="JetBrains Mono"/>
              <a:cs typeface="JetBrains Mono"/>
              <a:sym typeface="JetBrains Mono"/>
            </a:endParaRPr>
          </a:p>
        </p:txBody>
      </p:sp>
      <p:sp>
        <p:nvSpPr>
          <p:cNvPr id="198" name="Google Shape;198;p9"/>
          <p:cNvSpPr/>
          <p:nvPr/>
        </p:nvSpPr>
        <p:spPr>
          <a:xfrm>
            <a:off x="3740150" y="4845050"/>
            <a:ext cx="4853051"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9FD89A"/>
              </a:buClr>
              <a:buSzPts val="1200"/>
              <a:buFont typeface="JetBrains Mono"/>
              <a:buNone/>
            </a:pPr>
            <a:r>
              <a:rPr b="0" i="0" lang="en-US" sz="1200" u="none" cap="none" strike="noStrike">
                <a:solidFill>
                  <a:srgbClr val="9FD89A"/>
                </a:solidFill>
                <a:latin typeface="JetBrains Mono"/>
                <a:ea typeface="JetBrains Mono"/>
                <a:cs typeface="JetBrains Mono"/>
                <a:sym typeface="JetBrains Mono"/>
              </a:rPr>
              <a:t>new Socket("localhost", 6789)</a:t>
            </a:r>
            <a:endParaRPr b="0" i="0" sz="1200" u="none" cap="none" strike="noStrike">
              <a:solidFill>
                <a:schemeClr val="lt1"/>
              </a:solidFill>
              <a:latin typeface="JetBrains Mono"/>
              <a:ea typeface="JetBrains Mono"/>
              <a:cs typeface="JetBrains Mono"/>
              <a:sym typeface="JetBrains Mono"/>
            </a:endParaRPr>
          </a:p>
        </p:txBody>
      </p:sp>
      <p:sp>
        <p:nvSpPr>
          <p:cNvPr id="199" name="Google Shape;199;p9"/>
          <p:cNvSpPr/>
          <p:nvPr/>
        </p:nvSpPr>
        <p:spPr>
          <a:xfrm>
            <a:off x="3740150" y="5137150"/>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Apre la connessione verso l'host e la porta indicati.</a:t>
            </a:r>
            <a:endParaRPr b="0" i="0" sz="1200" u="none" cap="none" strike="noStrike">
              <a:solidFill>
                <a:schemeClr val="lt1"/>
              </a:solidFill>
              <a:latin typeface="JetBrains Mono"/>
              <a:ea typeface="JetBrains Mono"/>
              <a:cs typeface="JetBrains Mono"/>
              <a:sym typeface="JetBrains Mono"/>
            </a:endParaRPr>
          </a:p>
        </p:txBody>
      </p:sp>
      <p:sp>
        <p:nvSpPr>
          <p:cNvPr id="200" name="Google Shape;200;p9"/>
          <p:cNvSpPr/>
          <p:nvPr/>
        </p:nvSpPr>
        <p:spPr>
          <a:xfrm>
            <a:off x="8816975" y="4387255"/>
            <a:ext cx="2559050" cy="1451570"/>
          </a:xfrm>
          <a:prstGeom prst="roundRect">
            <a:avLst>
              <a:gd fmla="val 8530"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9023350" y="456823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METODI USATI</a:t>
            </a:r>
            <a:endParaRPr b="0" i="0" sz="1200" u="none" cap="none" strike="noStrike">
              <a:solidFill>
                <a:schemeClr val="lt1"/>
              </a:solidFill>
              <a:latin typeface="JetBrains Mono"/>
              <a:ea typeface="JetBrains Mono"/>
              <a:cs typeface="JetBrains Mono"/>
              <a:sym typeface="JetBrains Mono"/>
            </a:endParaRPr>
          </a:p>
        </p:txBody>
      </p:sp>
      <p:sp>
        <p:nvSpPr>
          <p:cNvPr id="202" name="Google Shape;202;p9"/>
          <p:cNvSpPr/>
          <p:nvPr/>
        </p:nvSpPr>
        <p:spPr>
          <a:xfrm>
            <a:off x="9023350" y="4845050"/>
            <a:ext cx="221068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getOutputStream()</a:t>
            </a:r>
            <a:endParaRPr b="0" i="0" sz="1200" u="none" cap="none" strike="noStrike">
              <a:solidFill>
                <a:schemeClr val="lt1"/>
              </a:solidFill>
              <a:latin typeface="JetBrains Mono"/>
              <a:ea typeface="JetBrains Mono"/>
              <a:cs typeface="JetBrains Mono"/>
              <a:sym typeface="JetBrains Mono"/>
            </a:endParaRPr>
          </a:p>
        </p:txBody>
      </p:sp>
      <p:sp>
        <p:nvSpPr>
          <p:cNvPr id="203" name="Google Shape;203;p9"/>
          <p:cNvSpPr/>
          <p:nvPr/>
        </p:nvSpPr>
        <p:spPr>
          <a:xfrm>
            <a:off x="9023350" y="5137150"/>
            <a:ext cx="221068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getInputStream()</a:t>
            </a:r>
            <a:endParaRPr b="0" i="0" sz="1200" u="none" cap="none" strike="noStrike">
              <a:solidFill>
                <a:schemeClr val="lt1"/>
              </a:solidFill>
              <a:latin typeface="JetBrains Mono"/>
              <a:ea typeface="JetBrains Mono"/>
              <a:cs typeface="JetBrains Mono"/>
              <a:sym typeface="JetBrains Mono"/>
            </a:endParaRPr>
          </a:p>
        </p:txBody>
      </p:sp>
      <p:sp>
        <p:nvSpPr>
          <p:cNvPr id="204" name="Google Shape;204;p9"/>
          <p:cNvSpPr/>
          <p:nvPr/>
        </p:nvSpPr>
        <p:spPr>
          <a:xfrm>
            <a:off x="9023350" y="5429250"/>
            <a:ext cx="221068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close()</a:t>
            </a:r>
            <a:endParaRPr b="0" i="0" sz="1200" u="none" cap="none" strike="noStrike">
              <a:solidFill>
                <a:schemeClr val="lt1"/>
              </a:solidFill>
              <a:latin typeface="JetBrains Mono"/>
              <a:ea typeface="JetBrains Mono"/>
              <a:cs typeface="JetBrains Mono"/>
              <a:sym typeface="JetBrains Mono"/>
            </a:endParaRPr>
          </a:p>
        </p:txBody>
      </p:sp>
      <p:sp>
        <p:nvSpPr>
          <p:cNvPr id="205" name="Google Shape;205;p9"/>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206" name="Google Shape;206;p9"/>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09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211" name="Shape 211"/>
        <p:cNvGrpSpPr/>
        <p:nvPr/>
      </p:nvGrpSpPr>
      <p:grpSpPr>
        <a:xfrm>
          <a:off x="0" y="0"/>
          <a:ext cx="0" cy="0"/>
          <a:chOff x="0" y="0"/>
          <a:chExt cx="0" cy="0"/>
        </a:xfrm>
      </p:grpSpPr>
      <p:sp>
        <p:nvSpPr>
          <p:cNvPr id="212" name="Google Shape;212;p1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02 · GLI OGGETTI · 2 DI 5</a:t>
            </a:r>
            <a:endParaRPr b="0" i="0" sz="1200" u="none" cap="none" strike="noStrike">
              <a:solidFill>
                <a:schemeClr val="lt1"/>
              </a:solidFill>
              <a:latin typeface="JetBrains Mono"/>
              <a:ea typeface="JetBrains Mono"/>
              <a:cs typeface="JetBrains Mono"/>
              <a:sym typeface="JetBrains Mono"/>
            </a:endParaRPr>
          </a:p>
        </p:txBody>
      </p:sp>
      <p:sp>
        <p:nvSpPr>
          <p:cNvPr id="213" name="Google Shape;213;p10"/>
          <p:cNvSpPr txBox="1"/>
          <p:nvPr>
            <p:ph type="title"/>
          </p:nvPr>
        </p:nvSpPr>
        <p:spPr>
          <a:xfrm>
            <a:off x="812800" y="2006600"/>
            <a:ext cx="10883392" cy="8382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F9A5C"/>
              </a:buClr>
              <a:buSzPts val="6400"/>
              <a:buFont typeface="JetBrains Mono"/>
              <a:buNone/>
            </a:pPr>
            <a:r>
              <a:rPr b="1" i="0" lang="en-US" sz="6400">
                <a:solidFill>
                  <a:srgbClr val="FF9A5C"/>
                </a:solidFill>
                <a:latin typeface="JetBrains Mono"/>
                <a:ea typeface="JetBrains Mono"/>
                <a:cs typeface="JetBrains Mono"/>
                <a:sym typeface="JetBrains Mono"/>
              </a:rPr>
              <a:t>ServerSocket</a:t>
            </a:r>
            <a:endParaRPr sz="6400"/>
          </a:p>
        </p:txBody>
      </p:sp>
      <p:sp>
        <p:nvSpPr>
          <p:cNvPr id="214" name="Google Shape;214;p10"/>
          <p:cNvSpPr/>
          <p:nvPr/>
        </p:nvSpPr>
        <p:spPr>
          <a:xfrm>
            <a:off x="812800" y="2997200"/>
            <a:ext cx="9156700" cy="7239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F2EFE6"/>
              </a:buClr>
              <a:buSzPts val="2200"/>
              <a:buFont typeface="IBM Plex Sans"/>
              <a:buNone/>
            </a:pPr>
            <a:r>
              <a:rPr b="0" i="0" lang="en-US" sz="2200" u="none" cap="none" strike="noStrike">
                <a:solidFill>
                  <a:srgbClr val="F2EFE6"/>
                </a:solidFill>
                <a:latin typeface="IBM Plex Sans"/>
                <a:ea typeface="IBM Plex Sans"/>
                <a:cs typeface="IBM Plex Sans"/>
                <a:sym typeface="IBM Plex Sans"/>
              </a:rPr>
              <a:t>Socket in ascolto su una porta: accetta le richieste di connessione dei client.</a:t>
            </a:r>
            <a:endParaRPr b="0" i="0" sz="2200" u="none" cap="none" strike="noStrike">
              <a:solidFill>
                <a:schemeClr val="lt1"/>
              </a:solidFill>
              <a:latin typeface="JetBrains Mono"/>
              <a:ea typeface="JetBrains Mono"/>
              <a:cs typeface="JetBrains Mono"/>
              <a:sym typeface="JetBrains Mono"/>
            </a:endParaRPr>
          </a:p>
        </p:txBody>
      </p:sp>
      <p:sp>
        <p:nvSpPr>
          <p:cNvPr id="215" name="Google Shape;215;p10"/>
          <p:cNvSpPr/>
          <p:nvPr/>
        </p:nvSpPr>
        <p:spPr>
          <a:xfrm>
            <a:off x="815975" y="4679355"/>
            <a:ext cx="2559050" cy="1159470"/>
          </a:xfrm>
          <a:prstGeom prst="roundRect">
            <a:avLst>
              <a:gd fmla="val 10679"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1022350" y="486033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CHI LO USA</a:t>
            </a:r>
            <a:endParaRPr b="0" i="0" sz="1200" u="none" cap="none" strike="noStrike">
              <a:solidFill>
                <a:schemeClr val="lt1"/>
              </a:solidFill>
              <a:latin typeface="JetBrains Mono"/>
              <a:ea typeface="JetBrains Mono"/>
              <a:cs typeface="JetBrains Mono"/>
              <a:sym typeface="JetBrains Mono"/>
            </a:endParaRPr>
          </a:p>
        </p:txBody>
      </p:sp>
      <p:sp>
        <p:nvSpPr>
          <p:cNvPr id="217" name="Google Shape;217;p10"/>
          <p:cNvSpPr/>
          <p:nvPr/>
        </p:nvSpPr>
        <p:spPr>
          <a:xfrm>
            <a:off x="1022350" y="5137150"/>
            <a:ext cx="2210689"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400"/>
              <a:buFont typeface="IBM Plex Sans"/>
              <a:buNone/>
            </a:pPr>
            <a:r>
              <a:rPr b="0" i="0" lang="en-US" sz="1400" u="none" cap="none" strike="noStrike">
                <a:solidFill>
                  <a:srgbClr val="F2EFE6"/>
                </a:solidFill>
                <a:latin typeface="IBM Plex Sans"/>
                <a:ea typeface="IBM Plex Sans"/>
                <a:cs typeface="IBM Plex Sans"/>
                <a:sym typeface="IBM Plex Sans"/>
              </a:rPr>
              <a:t>Solo il server.</a:t>
            </a:r>
            <a:endParaRPr b="0" i="0" sz="1400" u="none" cap="none" strike="noStrike">
              <a:solidFill>
                <a:schemeClr val="lt1"/>
              </a:solidFill>
              <a:latin typeface="JetBrains Mono"/>
              <a:ea typeface="JetBrains Mono"/>
              <a:cs typeface="JetBrains Mono"/>
              <a:sym typeface="JetBrains Mono"/>
            </a:endParaRPr>
          </a:p>
        </p:txBody>
      </p:sp>
      <p:sp>
        <p:nvSpPr>
          <p:cNvPr id="218" name="Google Shape;218;p10"/>
          <p:cNvSpPr/>
          <p:nvPr/>
        </p:nvSpPr>
        <p:spPr>
          <a:xfrm>
            <a:off x="3533775" y="4679355"/>
            <a:ext cx="5124450" cy="1159470"/>
          </a:xfrm>
          <a:prstGeom prst="roundRect">
            <a:avLst>
              <a:gd fmla="val 10679"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3740150" y="4860330"/>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COSTRUTTORE</a:t>
            </a:r>
            <a:endParaRPr b="0" i="0" sz="1200" u="none" cap="none" strike="noStrike">
              <a:solidFill>
                <a:schemeClr val="lt1"/>
              </a:solidFill>
              <a:latin typeface="JetBrains Mono"/>
              <a:ea typeface="JetBrains Mono"/>
              <a:cs typeface="JetBrains Mono"/>
              <a:sym typeface="JetBrains Mono"/>
            </a:endParaRPr>
          </a:p>
        </p:txBody>
      </p:sp>
      <p:sp>
        <p:nvSpPr>
          <p:cNvPr id="220" name="Google Shape;220;p10"/>
          <p:cNvSpPr/>
          <p:nvPr/>
        </p:nvSpPr>
        <p:spPr>
          <a:xfrm>
            <a:off x="3740150" y="5137150"/>
            <a:ext cx="4853051"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9FD89A"/>
              </a:buClr>
              <a:buSzPts val="1200"/>
              <a:buFont typeface="JetBrains Mono"/>
              <a:buNone/>
            </a:pPr>
            <a:r>
              <a:rPr b="0" i="0" lang="en-US" sz="1200" u="none" cap="none" strike="noStrike">
                <a:solidFill>
                  <a:srgbClr val="9FD89A"/>
                </a:solidFill>
                <a:latin typeface="JetBrains Mono"/>
                <a:ea typeface="JetBrains Mono"/>
                <a:cs typeface="JetBrains Mono"/>
                <a:sym typeface="JetBrains Mono"/>
              </a:rPr>
              <a:t>new ServerSocket(6789)</a:t>
            </a:r>
            <a:endParaRPr b="0" i="0" sz="1200" u="none" cap="none" strike="noStrike">
              <a:solidFill>
                <a:schemeClr val="lt1"/>
              </a:solidFill>
              <a:latin typeface="JetBrains Mono"/>
              <a:ea typeface="JetBrains Mono"/>
              <a:cs typeface="JetBrains Mono"/>
              <a:sym typeface="JetBrains Mono"/>
            </a:endParaRPr>
          </a:p>
        </p:txBody>
      </p:sp>
      <p:sp>
        <p:nvSpPr>
          <p:cNvPr id="221" name="Google Shape;221;p10"/>
          <p:cNvSpPr/>
          <p:nvPr/>
        </p:nvSpPr>
        <p:spPr>
          <a:xfrm>
            <a:off x="3740150" y="5429250"/>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Il parametro è la porta TCP su cui restare in ascolto.</a:t>
            </a:r>
            <a:endParaRPr b="0" i="0" sz="1200" u="none" cap="none" strike="noStrike">
              <a:solidFill>
                <a:schemeClr val="lt1"/>
              </a:solidFill>
              <a:latin typeface="JetBrains Mono"/>
              <a:ea typeface="JetBrains Mono"/>
              <a:cs typeface="JetBrains Mono"/>
              <a:sym typeface="JetBrains Mono"/>
            </a:endParaRPr>
          </a:p>
        </p:txBody>
      </p:sp>
      <p:sp>
        <p:nvSpPr>
          <p:cNvPr id="222" name="Google Shape;222;p10"/>
          <p:cNvSpPr/>
          <p:nvPr/>
        </p:nvSpPr>
        <p:spPr>
          <a:xfrm>
            <a:off x="8816975" y="4679355"/>
            <a:ext cx="2559050" cy="1159470"/>
          </a:xfrm>
          <a:prstGeom prst="roundRect">
            <a:avLst>
              <a:gd fmla="val 10679"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9023350" y="4860330"/>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METODI USATI</a:t>
            </a:r>
            <a:endParaRPr b="0" i="0" sz="1200" u="none" cap="none" strike="noStrike">
              <a:solidFill>
                <a:schemeClr val="lt1"/>
              </a:solidFill>
              <a:latin typeface="JetBrains Mono"/>
              <a:ea typeface="JetBrains Mono"/>
              <a:cs typeface="JetBrains Mono"/>
              <a:sym typeface="JetBrains Mono"/>
            </a:endParaRPr>
          </a:p>
        </p:txBody>
      </p:sp>
      <p:sp>
        <p:nvSpPr>
          <p:cNvPr id="224" name="Google Shape;224;p10"/>
          <p:cNvSpPr/>
          <p:nvPr/>
        </p:nvSpPr>
        <p:spPr>
          <a:xfrm>
            <a:off x="9023350" y="5137150"/>
            <a:ext cx="221068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accept()</a:t>
            </a:r>
            <a:endParaRPr b="0" i="0" sz="1200" u="none" cap="none" strike="noStrike">
              <a:solidFill>
                <a:schemeClr val="lt1"/>
              </a:solidFill>
              <a:latin typeface="JetBrains Mono"/>
              <a:ea typeface="JetBrains Mono"/>
              <a:cs typeface="JetBrains Mono"/>
              <a:sym typeface="JetBrains Mono"/>
            </a:endParaRPr>
          </a:p>
        </p:txBody>
      </p:sp>
      <p:sp>
        <p:nvSpPr>
          <p:cNvPr id="225" name="Google Shape;225;p10"/>
          <p:cNvSpPr/>
          <p:nvPr/>
        </p:nvSpPr>
        <p:spPr>
          <a:xfrm>
            <a:off x="9023350" y="5429250"/>
            <a:ext cx="221068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close()</a:t>
            </a:r>
            <a:endParaRPr b="0" i="0" sz="1200" u="none" cap="none" strike="noStrike">
              <a:solidFill>
                <a:schemeClr val="lt1"/>
              </a:solidFill>
              <a:latin typeface="JetBrains Mono"/>
              <a:ea typeface="JetBrains Mono"/>
              <a:cs typeface="JetBrains Mono"/>
              <a:sym typeface="JetBrains Mono"/>
            </a:endParaRPr>
          </a:p>
        </p:txBody>
      </p:sp>
      <p:sp>
        <p:nvSpPr>
          <p:cNvPr id="226" name="Google Shape;226;p10"/>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227" name="Google Shape;227;p10"/>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10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232" name="Shape 232"/>
        <p:cNvGrpSpPr/>
        <p:nvPr/>
      </p:nvGrpSpPr>
      <p:grpSpPr>
        <a:xfrm>
          <a:off x="0" y="0"/>
          <a:ext cx="0" cy="0"/>
          <a:chOff x="0" y="0"/>
          <a:chExt cx="0" cy="0"/>
        </a:xfrm>
      </p:grpSpPr>
      <p:sp>
        <p:nvSpPr>
          <p:cNvPr id="233" name="Google Shape;233;p1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02 · GLI OGGETTI · 3 DI 5</a:t>
            </a:r>
            <a:endParaRPr b="0" i="0" sz="1200" u="none" cap="none" strike="noStrike">
              <a:solidFill>
                <a:schemeClr val="lt1"/>
              </a:solidFill>
              <a:latin typeface="JetBrains Mono"/>
              <a:ea typeface="JetBrains Mono"/>
              <a:cs typeface="JetBrains Mono"/>
              <a:sym typeface="JetBrains Mono"/>
            </a:endParaRPr>
          </a:p>
        </p:txBody>
      </p:sp>
      <p:sp>
        <p:nvSpPr>
          <p:cNvPr id="234" name="Google Shape;234;p11"/>
          <p:cNvSpPr txBox="1"/>
          <p:nvPr>
            <p:ph type="title"/>
          </p:nvPr>
        </p:nvSpPr>
        <p:spPr>
          <a:xfrm>
            <a:off x="812800" y="2082205"/>
            <a:ext cx="10883392" cy="8382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2EFE6"/>
              </a:buClr>
              <a:buSzPts val="6400"/>
              <a:buFont typeface="JetBrains Mono"/>
              <a:buNone/>
            </a:pPr>
            <a:r>
              <a:rPr b="1" i="0" lang="en-US" sz="6400">
                <a:solidFill>
                  <a:srgbClr val="F2EFE6"/>
                </a:solidFill>
                <a:latin typeface="JetBrains Mono"/>
                <a:ea typeface="JetBrains Mono"/>
                <a:cs typeface="JetBrains Mono"/>
                <a:sym typeface="JetBrains Mono"/>
              </a:rPr>
              <a:t>DataOutputStream</a:t>
            </a:r>
            <a:endParaRPr sz="6400"/>
          </a:p>
        </p:txBody>
      </p:sp>
      <p:sp>
        <p:nvSpPr>
          <p:cNvPr id="235" name="Google Shape;235;p11"/>
          <p:cNvSpPr/>
          <p:nvPr/>
        </p:nvSpPr>
        <p:spPr>
          <a:xfrm>
            <a:off x="812800" y="3072805"/>
            <a:ext cx="9156700" cy="3746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F2EFE6"/>
              </a:buClr>
              <a:buSzPts val="2200"/>
              <a:buFont typeface="IBM Plex Sans"/>
              <a:buNone/>
            </a:pPr>
            <a:r>
              <a:rPr b="0" i="0" lang="en-US" sz="2200" u="none" cap="none" strike="noStrike">
                <a:solidFill>
                  <a:srgbClr val="F2EFE6"/>
                </a:solidFill>
                <a:latin typeface="IBM Plex Sans"/>
                <a:ea typeface="IBM Plex Sans"/>
                <a:cs typeface="IBM Plex Sans"/>
                <a:sym typeface="IBM Plex Sans"/>
              </a:rPr>
              <a:t>Stream di output: scrive dati sul flusso in uscita del socket.</a:t>
            </a:r>
            <a:endParaRPr b="0" i="0" sz="2200" u="none" cap="none" strike="noStrike">
              <a:solidFill>
                <a:schemeClr val="lt1"/>
              </a:solidFill>
              <a:latin typeface="JetBrains Mono"/>
              <a:ea typeface="JetBrains Mono"/>
              <a:cs typeface="JetBrains Mono"/>
              <a:sym typeface="JetBrains Mono"/>
            </a:endParaRPr>
          </a:p>
        </p:txBody>
      </p:sp>
      <p:sp>
        <p:nvSpPr>
          <p:cNvPr id="236" name="Google Shape;236;p11"/>
          <p:cNvSpPr/>
          <p:nvPr/>
        </p:nvSpPr>
        <p:spPr>
          <a:xfrm>
            <a:off x="815975" y="4481314"/>
            <a:ext cx="2559050" cy="1357511"/>
          </a:xfrm>
          <a:prstGeom prst="roundRect">
            <a:avLst>
              <a:gd fmla="val 9121"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1022350" y="4662289"/>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CHI LO USA</a:t>
            </a:r>
            <a:endParaRPr b="0" i="0" sz="1200" u="none" cap="none" strike="noStrike">
              <a:solidFill>
                <a:schemeClr val="lt1"/>
              </a:solidFill>
              <a:latin typeface="JetBrains Mono"/>
              <a:ea typeface="JetBrains Mono"/>
              <a:cs typeface="JetBrains Mono"/>
              <a:sym typeface="JetBrains Mono"/>
            </a:endParaRPr>
          </a:p>
        </p:txBody>
      </p:sp>
      <p:sp>
        <p:nvSpPr>
          <p:cNvPr id="238" name="Google Shape;238;p11"/>
          <p:cNvSpPr/>
          <p:nvPr/>
        </p:nvSpPr>
        <p:spPr>
          <a:xfrm>
            <a:off x="1022350" y="4939109"/>
            <a:ext cx="2210689"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400"/>
              <a:buFont typeface="IBM Plex Sans"/>
              <a:buNone/>
            </a:pPr>
            <a:r>
              <a:rPr b="0" i="0" lang="en-US" sz="1400" u="none" cap="none" strike="noStrike">
                <a:solidFill>
                  <a:srgbClr val="F2EFE6"/>
                </a:solidFill>
                <a:latin typeface="IBM Plex Sans"/>
                <a:ea typeface="IBM Plex Sans"/>
                <a:cs typeface="IBM Plex Sans"/>
                <a:sym typeface="IBM Plex Sans"/>
              </a:rPr>
              <a:t>Client e server, per inviare dati.</a:t>
            </a:r>
            <a:endParaRPr b="0" i="0" sz="1400" u="none" cap="none" strike="noStrike">
              <a:solidFill>
                <a:schemeClr val="lt1"/>
              </a:solidFill>
              <a:latin typeface="JetBrains Mono"/>
              <a:ea typeface="JetBrains Mono"/>
              <a:cs typeface="JetBrains Mono"/>
              <a:sym typeface="JetBrains Mono"/>
            </a:endParaRPr>
          </a:p>
        </p:txBody>
      </p:sp>
      <p:sp>
        <p:nvSpPr>
          <p:cNvPr id="239" name="Google Shape;239;p11"/>
          <p:cNvSpPr/>
          <p:nvPr/>
        </p:nvSpPr>
        <p:spPr>
          <a:xfrm>
            <a:off x="3533775" y="4481314"/>
            <a:ext cx="5124450" cy="1357511"/>
          </a:xfrm>
          <a:prstGeom prst="roundRect">
            <a:avLst>
              <a:gd fmla="val 9121"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3740150" y="4662289"/>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COSTRUTTORE</a:t>
            </a:r>
            <a:endParaRPr b="0" i="0" sz="1200" u="none" cap="none" strike="noStrike">
              <a:solidFill>
                <a:schemeClr val="lt1"/>
              </a:solidFill>
              <a:latin typeface="JetBrains Mono"/>
              <a:ea typeface="JetBrains Mono"/>
              <a:cs typeface="JetBrains Mono"/>
              <a:sym typeface="JetBrains Mono"/>
            </a:endParaRPr>
          </a:p>
        </p:txBody>
      </p:sp>
      <p:sp>
        <p:nvSpPr>
          <p:cNvPr id="241" name="Google Shape;241;p11"/>
          <p:cNvSpPr/>
          <p:nvPr/>
        </p:nvSpPr>
        <p:spPr>
          <a:xfrm>
            <a:off x="3740150" y="4939109"/>
            <a:ext cx="4853051"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9FD89A"/>
              </a:buClr>
              <a:buSzPts val="1200"/>
              <a:buFont typeface="JetBrains Mono"/>
              <a:buNone/>
            </a:pPr>
            <a:r>
              <a:rPr b="0" i="0" lang="en-US" sz="1200" u="none" cap="none" strike="noStrike">
                <a:solidFill>
                  <a:srgbClr val="9FD89A"/>
                </a:solidFill>
                <a:latin typeface="JetBrains Mono"/>
                <a:ea typeface="JetBrains Mono"/>
                <a:cs typeface="JetBrains Mono"/>
                <a:sym typeface="JetBrains Mono"/>
              </a:rPr>
              <a:t>new DataOutputStream(mio.getOutputStream())</a:t>
            </a:r>
            <a:endParaRPr b="0" i="0" sz="1200" u="none" cap="none" strike="noStrike">
              <a:solidFill>
                <a:schemeClr val="lt1"/>
              </a:solidFill>
              <a:latin typeface="JetBrains Mono"/>
              <a:ea typeface="JetBrains Mono"/>
              <a:cs typeface="JetBrains Mono"/>
              <a:sym typeface="JetBrains Mono"/>
            </a:endParaRPr>
          </a:p>
        </p:txBody>
      </p:sp>
      <p:sp>
        <p:nvSpPr>
          <p:cNvPr id="242" name="Google Shape;242;p11"/>
          <p:cNvSpPr/>
          <p:nvPr/>
        </p:nvSpPr>
        <p:spPr>
          <a:xfrm>
            <a:off x="3740150" y="5231209"/>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Riceve l'OutputStream restituito dal socket.</a:t>
            </a:r>
            <a:endParaRPr b="0" i="0" sz="1200" u="none" cap="none" strike="noStrike">
              <a:solidFill>
                <a:schemeClr val="lt1"/>
              </a:solidFill>
              <a:latin typeface="JetBrains Mono"/>
              <a:ea typeface="JetBrains Mono"/>
              <a:cs typeface="JetBrains Mono"/>
              <a:sym typeface="JetBrains Mono"/>
            </a:endParaRPr>
          </a:p>
        </p:txBody>
      </p:sp>
      <p:sp>
        <p:nvSpPr>
          <p:cNvPr id="243" name="Google Shape;243;p11"/>
          <p:cNvSpPr/>
          <p:nvPr/>
        </p:nvSpPr>
        <p:spPr>
          <a:xfrm>
            <a:off x="8816975" y="4481314"/>
            <a:ext cx="2559050" cy="1357511"/>
          </a:xfrm>
          <a:prstGeom prst="roundRect">
            <a:avLst>
              <a:gd fmla="val 9121"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9023350" y="4662289"/>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METODO USATO</a:t>
            </a:r>
            <a:endParaRPr b="0" i="0" sz="1200" u="none" cap="none" strike="noStrike">
              <a:solidFill>
                <a:schemeClr val="lt1"/>
              </a:solidFill>
              <a:latin typeface="JetBrains Mono"/>
              <a:ea typeface="JetBrains Mono"/>
              <a:cs typeface="JetBrains Mono"/>
              <a:sym typeface="JetBrains Mono"/>
            </a:endParaRPr>
          </a:p>
        </p:txBody>
      </p:sp>
      <p:sp>
        <p:nvSpPr>
          <p:cNvPr id="245" name="Google Shape;245;p11"/>
          <p:cNvSpPr/>
          <p:nvPr/>
        </p:nvSpPr>
        <p:spPr>
          <a:xfrm>
            <a:off x="9023350" y="4939109"/>
            <a:ext cx="221068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writeBytes(String)</a:t>
            </a:r>
            <a:endParaRPr b="0" i="0" sz="1200" u="none" cap="none" strike="noStrike">
              <a:solidFill>
                <a:schemeClr val="lt1"/>
              </a:solidFill>
              <a:latin typeface="JetBrains Mono"/>
              <a:ea typeface="JetBrains Mono"/>
              <a:cs typeface="JetBrains Mono"/>
              <a:sym typeface="JetBrains Mono"/>
            </a:endParaRPr>
          </a:p>
        </p:txBody>
      </p:sp>
      <p:sp>
        <p:nvSpPr>
          <p:cNvPr id="246" name="Google Shape;246;p11"/>
          <p:cNvSpPr/>
          <p:nvPr/>
        </p:nvSpPr>
        <p:spPr>
          <a:xfrm>
            <a:off x="9023350" y="5231209"/>
            <a:ext cx="2210689"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Scrive la stringa come sequenza di byte.</a:t>
            </a:r>
            <a:endParaRPr b="0" i="0" sz="1200" u="none" cap="none" strike="noStrike">
              <a:solidFill>
                <a:schemeClr val="lt1"/>
              </a:solidFill>
              <a:latin typeface="JetBrains Mono"/>
              <a:ea typeface="JetBrains Mono"/>
              <a:cs typeface="JetBrains Mono"/>
              <a:sym typeface="JetBrains Mono"/>
            </a:endParaRPr>
          </a:p>
        </p:txBody>
      </p:sp>
      <p:sp>
        <p:nvSpPr>
          <p:cNvPr id="247" name="Google Shape;247;p11"/>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248" name="Google Shape;248;p11"/>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11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253" name="Shape 253"/>
        <p:cNvGrpSpPr/>
        <p:nvPr/>
      </p:nvGrpSpPr>
      <p:grpSpPr>
        <a:xfrm>
          <a:off x="0" y="0"/>
          <a:ext cx="0" cy="0"/>
          <a:chOff x="0" y="0"/>
          <a:chExt cx="0" cy="0"/>
        </a:xfrm>
      </p:grpSpPr>
      <p:sp>
        <p:nvSpPr>
          <p:cNvPr id="254" name="Google Shape;254;p1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02 · GLI OGGETTI · 4 DI 5</a:t>
            </a:r>
            <a:endParaRPr b="0" i="0" sz="1200" u="none" cap="none" strike="noStrike">
              <a:solidFill>
                <a:schemeClr val="lt1"/>
              </a:solidFill>
              <a:latin typeface="JetBrains Mono"/>
              <a:ea typeface="JetBrains Mono"/>
              <a:cs typeface="JetBrains Mono"/>
              <a:sym typeface="JetBrains Mono"/>
            </a:endParaRPr>
          </a:p>
        </p:txBody>
      </p:sp>
      <p:sp>
        <p:nvSpPr>
          <p:cNvPr id="255" name="Google Shape;255;p12"/>
          <p:cNvSpPr txBox="1"/>
          <p:nvPr>
            <p:ph type="title"/>
          </p:nvPr>
        </p:nvSpPr>
        <p:spPr>
          <a:xfrm>
            <a:off x="812800" y="2082205"/>
            <a:ext cx="10883392" cy="8382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2EFE6"/>
              </a:buClr>
              <a:buSzPts val="6400"/>
              <a:buFont typeface="JetBrains Mono"/>
              <a:buNone/>
            </a:pPr>
            <a:r>
              <a:rPr b="1" i="0" lang="en-US" sz="6400">
                <a:solidFill>
                  <a:srgbClr val="F2EFE6"/>
                </a:solidFill>
                <a:latin typeface="JetBrains Mono"/>
                <a:ea typeface="JetBrains Mono"/>
                <a:cs typeface="JetBrains Mono"/>
                <a:sym typeface="JetBrains Mono"/>
              </a:rPr>
              <a:t>DataInputStream</a:t>
            </a:r>
            <a:endParaRPr sz="6400"/>
          </a:p>
        </p:txBody>
      </p:sp>
      <p:sp>
        <p:nvSpPr>
          <p:cNvPr id="256" name="Google Shape;256;p12"/>
          <p:cNvSpPr/>
          <p:nvPr/>
        </p:nvSpPr>
        <p:spPr>
          <a:xfrm>
            <a:off x="812800" y="3072805"/>
            <a:ext cx="9156700" cy="3746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F2EFE6"/>
              </a:buClr>
              <a:buSzPts val="2200"/>
              <a:buFont typeface="IBM Plex Sans"/>
              <a:buNone/>
            </a:pPr>
            <a:r>
              <a:rPr b="0" i="0" lang="en-US" sz="2200" u="none" cap="none" strike="noStrike">
                <a:solidFill>
                  <a:srgbClr val="F2EFE6"/>
                </a:solidFill>
                <a:latin typeface="IBM Plex Sans"/>
                <a:ea typeface="IBM Plex Sans"/>
                <a:cs typeface="IBM Plex Sans"/>
                <a:sym typeface="IBM Plex Sans"/>
              </a:rPr>
              <a:t>Stream di input: legge dati dal flusso in entrata del socket.</a:t>
            </a:r>
            <a:endParaRPr b="0" i="0" sz="2200" u="none" cap="none" strike="noStrike">
              <a:solidFill>
                <a:schemeClr val="lt1"/>
              </a:solidFill>
              <a:latin typeface="JetBrains Mono"/>
              <a:ea typeface="JetBrains Mono"/>
              <a:cs typeface="JetBrains Mono"/>
              <a:sym typeface="JetBrains Mono"/>
            </a:endParaRPr>
          </a:p>
        </p:txBody>
      </p:sp>
      <p:sp>
        <p:nvSpPr>
          <p:cNvPr id="257" name="Google Shape;257;p12"/>
          <p:cNvSpPr/>
          <p:nvPr/>
        </p:nvSpPr>
        <p:spPr>
          <a:xfrm>
            <a:off x="815975" y="4481314"/>
            <a:ext cx="2559050" cy="1357511"/>
          </a:xfrm>
          <a:prstGeom prst="roundRect">
            <a:avLst>
              <a:gd fmla="val 9121"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1022350" y="4662289"/>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CHI LO USA</a:t>
            </a:r>
            <a:endParaRPr b="0" i="0" sz="1200" u="none" cap="none" strike="noStrike">
              <a:solidFill>
                <a:schemeClr val="lt1"/>
              </a:solidFill>
              <a:latin typeface="JetBrains Mono"/>
              <a:ea typeface="JetBrains Mono"/>
              <a:cs typeface="JetBrains Mono"/>
              <a:sym typeface="JetBrains Mono"/>
            </a:endParaRPr>
          </a:p>
        </p:txBody>
      </p:sp>
      <p:sp>
        <p:nvSpPr>
          <p:cNvPr id="259" name="Google Shape;259;p12"/>
          <p:cNvSpPr/>
          <p:nvPr/>
        </p:nvSpPr>
        <p:spPr>
          <a:xfrm>
            <a:off x="1022350" y="4939109"/>
            <a:ext cx="2210689"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400"/>
              <a:buFont typeface="IBM Plex Sans"/>
              <a:buNone/>
            </a:pPr>
            <a:r>
              <a:rPr b="0" i="0" lang="en-US" sz="1400" u="none" cap="none" strike="noStrike">
                <a:solidFill>
                  <a:srgbClr val="F2EFE6"/>
                </a:solidFill>
                <a:latin typeface="IBM Plex Sans"/>
                <a:ea typeface="IBM Plex Sans"/>
                <a:cs typeface="IBM Plex Sans"/>
                <a:sym typeface="IBM Plex Sans"/>
              </a:rPr>
              <a:t>Client e server, per ricevere dati.</a:t>
            </a:r>
            <a:endParaRPr b="0" i="0" sz="1400" u="none" cap="none" strike="noStrike">
              <a:solidFill>
                <a:schemeClr val="lt1"/>
              </a:solidFill>
              <a:latin typeface="JetBrains Mono"/>
              <a:ea typeface="JetBrains Mono"/>
              <a:cs typeface="JetBrains Mono"/>
              <a:sym typeface="JetBrains Mono"/>
            </a:endParaRPr>
          </a:p>
        </p:txBody>
      </p:sp>
      <p:sp>
        <p:nvSpPr>
          <p:cNvPr id="260" name="Google Shape;260;p12"/>
          <p:cNvSpPr/>
          <p:nvPr/>
        </p:nvSpPr>
        <p:spPr>
          <a:xfrm>
            <a:off x="3533775" y="4481314"/>
            <a:ext cx="5124450" cy="1357511"/>
          </a:xfrm>
          <a:prstGeom prst="roundRect">
            <a:avLst>
              <a:gd fmla="val 9121"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3740150" y="4662289"/>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COSTRUTTORE</a:t>
            </a:r>
            <a:endParaRPr b="0" i="0" sz="1200" u="none" cap="none" strike="noStrike">
              <a:solidFill>
                <a:schemeClr val="lt1"/>
              </a:solidFill>
              <a:latin typeface="JetBrains Mono"/>
              <a:ea typeface="JetBrains Mono"/>
              <a:cs typeface="JetBrains Mono"/>
              <a:sym typeface="JetBrains Mono"/>
            </a:endParaRPr>
          </a:p>
        </p:txBody>
      </p:sp>
      <p:sp>
        <p:nvSpPr>
          <p:cNvPr id="262" name="Google Shape;262;p12"/>
          <p:cNvSpPr/>
          <p:nvPr/>
        </p:nvSpPr>
        <p:spPr>
          <a:xfrm>
            <a:off x="3740150" y="4939109"/>
            <a:ext cx="4853051"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9FD89A"/>
              </a:buClr>
              <a:buSzPts val="1200"/>
              <a:buFont typeface="JetBrains Mono"/>
              <a:buNone/>
            </a:pPr>
            <a:r>
              <a:rPr b="0" i="0" lang="en-US" sz="1200" u="none" cap="none" strike="noStrike">
                <a:solidFill>
                  <a:srgbClr val="9FD89A"/>
                </a:solidFill>
                <a:latin typeface="JetBrains Mono"/>
                <a:ea typeface="JetBrains Mono"/>
                <a:cs typeface="JetBrains Mono"/>
                <a:sym typeface="JetBrains Mono"/>
              </a:rPr>
              <a:t>new DataInputStream(mio.getInputStream())</a:t>
            </a:r>
            <a:endParaRPr b="0" i="0" sz="1200" u="none" cap="none" strike="noStrike">
              <a:solidFill>
                <a:schemeClr val="lt1"/>
              </a:solidFill>
              <a:latin typeface="JetBrains Mono"/>
              <a:ea typeface="JetBrains Mono"/>
              <a:cs typeface="JetBrains Mono"/>
              <a:sym typeface="JetBrains Mono"/>
            </a:endParaRPr>
          </a:p>
        </p:txBody>
      </p:sp>
      <p:sp>
        <p:nvSpPr>
          <p:cNvPr id="263" name="Google Shape;263;p12"/>
          <p:cNvSpPr/>
          <p:nvPr/>
        </p:nvSpPr>
        <p:spPr>
          <a:xfrm>
            <a:off x="3740150" y="5231209"/>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Riceve l'InputStream restituito dal socket.</a:t>
            </a:r>
            <a:endParaRPr b="0" i="0" sz="1200" u="none" cap="none" strike="noStrike">
              <a:solidFill>
                <a:schemeClr val="lt1"/>
              </a:solidFill>
              <a:latin typeface="JetBrains Mono"/>
              <a:ea typeface="JetBrains Mono"/>
              <a:cs typeface="JetBrains Mono"/>
              <a:sym typeface="JetBrains Mono"/>
            </a:endParaRPr>
          </a:p>
        </p:txBody>
      </p:sp>
      <p:sp>
        <p:nvSpPr>
          <p:cNvPr id="264" name="Google Shape;264;p12"/>
          <p:cNvSpPr/>
          <p:nvPr/>
        </p:nvSpPr>
        <p:spPr>
          <a:xfrm>
            <a:off x="8816975" y="4481314"/>
            <a:ext cx="2559050" cy="1357511"/>
          </a:xfrm>
          <a:prstGeom prst="roundRect">
            <a:avLst>
              <a:gd fmla="val 9121"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2"/>
          <p:cNvSpPr/>
          <p:nvPr/>
        </p:nvSpPr>
        <p:spPr>
          <a:xfrm>
            <a:off x="9023350" y="4662289"/>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METODO USATO</a:t>
            </a:r>
            <a:endParaRPr b="0" i="0" sz="1200" u="none" cap="none" strike="noStrike">
              <a:solidFill>
                <a:schemeClr val="lt1"/>
              </a:solidFill>
              <a:latin typeface="JetBrains Mono"/>
              <a:ea typeface="JetBrains Mono"/>
              <a:cs typeface="JetBrains Mono"/>
              <a:sym typeface="JetBrains Mono"/>
            </a:endParaRPr>
          </a:p>
        </p:txBody>
      </p:sp>
      <p:sp>
        <p:nvSpPr>
          <p:cNvPr id="266" name="Google Shape;266;p12"/>
          <p:cNvSpPr/>
          <p:nvPr/>
        </p:nvSpPr>
        <p:spPr>
          <a:xfrm>
            <a:off x="9023350" y="4939109"/>
            <a:ext cx="221068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readLine()</a:t>
            </a:r>
            <a:endParaRPr b="0" i="0" sz="1200" u="none" cap="none" strike="noStrike">
              <a:solidFill>
                <a:schemeClr val="lt1"/>
              </a:solidFill>
              <a:latin typeface="JetBrains Mono"/>
              <a:ea typeface="JetBrains Mono"/>
              <a:cs typeface="JetBrains Mono"/>
              <a:sym typeface="JetBrains Mono"/>
            </a:endParaRPr>
          </a:p>
        </p:txBody>
      </p:sp>
      <p:sp>
        <p:nvSpPr>
          <p:cNvPr id="267" name="Google Shape;267;p12"/>
          <p:cNvSpPr/>
          <p:nvPr/>
        </p:nvSpPr>
        <p:spPr>
          <a:xfrm>
            <a:off x="9023350" y="5231209"/>
            <a:ext cx="2210689"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Bloccante. Deprecato in questa classe.</a:t>
            </a:r>
            <a:endParaRPr b="0" i="0" sz="1200" u="none" cap="none" strike="noStrike">
              <a:solidFill>
                <a:schemeClr val="lt1"/>
              </a:solidFill>
              <a:latin typeface="JetBrains Mono"/>
              <a:ea typeface="JetBrains Mono"/>
              <a:cs typeface="JetBrains Mono"/>
              <a:sym typeface="JetBrains Mono"/>
            </a:endParaRPr>
          </a:p>
        </p:txBody>
      </p:sp>
      <p:sp>
        <p:nvSpPr>
          <p:cNvPr id="268" name="Google Shape;268;p12"/>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269" name="Google Shape;269;p12"/>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12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274" name="Shape 274"/>
        <p:cNvGrpSpPr/>
        <p:nvPr/>
      </p:nvGrpSpPr>
      <p:grpSpPr>
        <a:xfrm>
          <a:off x="0" y="0"/>
          <a:ext cx="0" cy="0"/>
          <a:chOff x="0" y="0"/>
          <a:chExt cx="0" cy="0"/>
        </a:xfrm>
      </p:grpSpPr>
      <p:sp>
        <p:nvSpPr>
          <p:cNvPr id="275" name="Google Shape;275;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02 · GLI OGGETTI · 5 DI 5</a:t>
            </a:r>
            <a:endParaRPr b="0" i="0" sz="1200" u="none" cap="none" strike="noStrike">
              <a:solidFill>
                <a:schemeClr val="lt1"/>
              </a:solidFill>
              <a:latin typeface="JetBrains Mono"/>
              <a:ea typeface="JetBrains Mono"/>
              <a:cs typeface="JetBrains Mono"/>
              <a:sym typeface="JetBrains Mono"/>
            </a:endParaRPr>
          </a:p>
        </p:txBody>
      </p:sp>
      <p:sp>
        <p:nvSpPr>
          <p:cNvPr id="276" name="Google Shape;276;p13"/>
          <p:cNvSpPr txBox="1"/>
          <p:nvPr>
            <p:ph type="title"/>
          </p:nvPr>
        </p:nvSpPr>
        <p:spPr>
          <a:xfrm>
            <a:off x="812800" y="2074565"/>
            <a:ext cx="10883392" cy="8382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7FB2FF"/>
              </a:buClr>
              <a:buSzPts val="6400"/>
              <a:buFont typeface="JetBrains Mono"/>
              <a:buNone/>
            </a:pPr>
            <a:r>
              <a:rPr b="1" i="0" lang="en-US" sz="6400">
                <a:solidFill>
                  <a:srgbClr val="7FB2FF"/>
                </a:solidFill>
                <a:latin typeface="JetBrains Mono"/>
                <a:ea typeface="JetBrains Mono"/>
                <a:cs typeface="JetBrains Mono"/>
                <a:sym typeface="JetBrains Mono"/>
              </a:rPr>
              <a:t>BufferedReader</a:t>
            </a:r>
            <a:endParaRPr sz="6400"/>
          </a:p>
        </p:txBody>
      </p:sp>
      <p:sp>
        <p:nvSpPr>
          <p:cNvPr id="277" name="Google Shape;277;p13"/>
          <p:cNvSpPr/>
          <p:nvPr/>
        </p:nvSpPr>
        <p:spPr>
          <a:xfrm>
            <a:off x="812800" y="3065165"/>
            <a:ext cx="9156700" cy="3746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F2EFE6"/>
              </a:buClr>
              <a:buSzPts val="2200"/>
              <a:buFont typeface="IBM Plex Sans"/>
              <a:buNone/>
            </a:pPr>
            <a:r>
              <a:rPr b="0" i="0" lang="en-US" sz="2200" u="none" cap="none" strike="noStrike">
                <a:solidFill>
                  <a:srgbClr val="F2EFE6"/>
                </a:solidFill>
                <a:latin typeface="IBM Plex Sans"/>
                <a:ea typeface="IBM Plex Sans"/>
                <a:cs typeface="IBM Plex Sans"/>
                <a:sym typeface="IBM Plex Sans"/>
              </a:rPr>
              <a:t>Stream di caratteri bufferizzato: legge testo una riga alla volta.</a:t>
            </a:r>
            <a:endParaRPr b="0" i="0" sz="2200" u="none" cap="none" strike="noStrike">
              <a:solidFill>
                <a:schemeClr val="lt1"/>
              </a:solidFill>
              <a:latin typeface="JetBrains Mono"/>
              <a:ea typeface="JetBrains Mono"/>
              <a:cs typeface="JetBrains Mono"/>
              <a:sym typeface="JetBrains Mono"/>
            </a:endParaRPr>
          </a:p>
        </p:txBody>
      </p:sp>
      <p:sp>
        <p:nvSpPr>
          <p:cNvPr id="278" name="Google Shape;278;p13"/>
          <p:cNvSpPr/>
          <p:nvPr/>
        </p:nvSpPr>
        <p:spPr>
          <a:xfrm>
            <a:off x="815975" y="4466034"/>
            <a:ext cx="2559050" cy="1372791"/>
          </a:xfrm>
          <a:prstGeom prst="roundRect">
            <a:avLst>
              <a:gd fmla="val 9020"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a:off x="1022350" y="4647009"/>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CHI LO USA</a:t>
            </a:r>
            <a:endParaRPr b="0" i="0" sz="1200" u="none" cap="none" strike="noStrike">
              <a:solidFill>
                <a:schemeClr val="lt1"/>
              </a:solidFill>
              <a:latin typeface="JetBrains Mono"/>
              <a:ea typeface="JetBrains Mono"/>
              <a:cs typeface="JetBrains Mono"/>
              <a:sym typeface="JetBrains Mono"/>
            </a:endParaRPr>
          </a:p>
        </p:txBody>
      </p:sp>
      <p:sp>
        <p:nvSpPr>
          <p:cNvPr id="280" name="Google Shape;280;p13"/>
          <p:cNvSpPr/>
          <p:nvPr/>
        </p:nvSpPr>
        <p:spPr>
          <a:xfrm>
            <a:off x="1022350" y="4923830"/>
            <a:ext cx="2210689"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2EFE6"/>
              </a:buClr>
              <a:buSzPts val="1400"/>
              <a:buFont typeface="IBM Plex Sans"/>
              <a:buNone/>
            </a:pPr>
            <a:r>
              <a:rPr b="0" i="0" lang="en-US" sz="1400" u="none" cap="none" strike="noStrike">
                <a:solidFill>
                  <a:srgbClr val="F2EFE6"/>
                </a:solidFill>
                <a:latin typeface="IBM Plex Sans"/>
                <a:ea typeface="IBM Plex Sans"/>
                <a:cs typeface="IBM Plex Sans"/>
                <a:sym typeface="IBM Plex Sans"/>
              </a:rPr>
              <a:t>Il client, per leggere lo standard input.</a:t>
            </a:r>
            <a:endParaRPr b="0" i="0" sz="1400" u="none" cap="none" strike="noStrike">
              <a:solidFill>
                <a:schemeClr val="lt1"/>
              </a:solidFill>
              <a:latin typeface="JetBrains Mono"/>
              <a:ea typeface="JetBrains Mono"/>
              <a:cs typeface="JetBrains Mono"/>
              <a:sym typeface="JetBrains Mono"/>
            </a:endParaRPr>
          </a:p>
        </p:txBody>
      </p:sp>
      <p:sp>
        <p:nvSpPr>
          <p:cNvPr id="281" name="Google Shape;281;p13"/>
          <p:cNvSpPr/>
          <p:nvPr/>
        </p:nvSpPr>
        <p:spPr>
          <a:xfrm>
            <a:off x="3533775" y="4466034"/>
            <a:ext cx="5124450" cy="1372791"/>
          </a:xfrm>
          <a:prstGeom prst="roundRect">
            <a:avLst>
              <a:gd fmla="val 9020"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3"/>
          <p:cNvSpPr/>
          <p:nvPr/>
        </p:nvSpPr>
        <p:spPr>
          <a:xfrm>
            <a:off x="3740150" y="4647009"/>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COSTRUTTORE</a:t>
            </a:r>
            <a:endParaRPr b="0" i="0" sz="1200" u="none" cap="none" strike="noStrike">
              <a:solidFill>
                <a:schemeClr val="lt1"/>
              </a:solidFill>
              <a:latin typeface="JetBrains Mono"/>
              <a:ea typeface="JetBrains Mono"/>
              <a:cs typeface="JetBrains Mono"/>
              <a:sym typeface="JetBrains Mono"/>
            </a:endParaRPr>
          </a:p>
        </p:txBody>
      </p:sp>
      <p:sp>
        <p:nvSpPr>
          <p:cNvPr id="283" name="Google Shape;283;p13"/>
          <p:cNvSpPr/>
          <p:nvPr/>
        </p:nvSpPr>
        <p:spPr>
          <a:xfrm>
            <a:off x="3740150" y="4923830"/>
            <a:ext cx="4853051" cy="4826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9FD89A"/>
              </a:buClr>
              <a:buSzPts val="1200"/>
              <a:buFont typeface="JetBrains Mono"/>
              <a:buNone/>
            </a:pPr>
            <a:r>
              <a:rPr b="0" i="0" lang="en-US" sz="1200" u="none" cap="none" strike="noStrike">
                <a:solidFill>
                  <a:srgbClr val="9FD89A"/>
                </a:solidFill>
                <a:latin typeface="JetBrains Mono"/>
                <a:ea typeface="JetBrains Mono"/>
                <a:cs typeface="JetBrains Mono"/>
                <a:sym typeface="JetBrains Mono"/>
              </a:rPr>
              <a:t>new BufferedReader(new InputStreamReader(System.in))</a:t>
            </a:r>
            <a:endParaRPr b="0" i="0" sz="1200" u="none" cap="none" strike="noStrike">
              <a:solidFill>
                <a:schemeClr val="lt1"/>
              </a:solidFill>
              <a:latin typeface="JetBrains Mono"/>
              <a:ea typeface="JetBrains Mono"/>
              <a:cs typeface="JetBrains Mono"/>
              <a:sym typeface="JetBrains Mono"/>
            </a:endParaRPr>
          </a:p>
        </p:txBody>
      </p:sp>
      <p:sp>
        <p:nvSpPr>
          <p:cNvPr id="284" name="Google Shape;284;p13"/>
          <p:cNvSpPr/>
          <p:nvPr/>
        </p:nvSpPr>
        <p:spPr>
          <a:xfrm>
            <a:off x="3740150" y="5444530"/>
            <a:ext cx="485305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InputStreamReader converte i byte di System.in in caratteri.</a:t>
            </a:r>
            <a:endParaRPr b="0" i="0" sz="1200" u="none" cap="none" strike="noStrike">
              <a:solidFill>
                <a:schemeClr val="lt1"/>
              </a:solidFill>
              <a:latin typeface="JetBrains Mono"/>
              <a:ea typeface="JetBrains Mono"/>
              <a:cs typeface="JetBrains Mono"/>
              <a:sym typeface="JetBrains Mono"/>
            </a:endParaRPr>
          </a:p>
        </p:txBody>
      </p:sp>
      <p:sp>
        <p:nvSpPr>
          <p:cNvPr id="285" name="Google Shape;285;p13"/>
          <p:cNvSpPr/>
          <p:nvPr/>
        </p:nvSpPr>
        <p:spPr>
          <a:xfrm>
            <a:off x="8816975" y="4466034"/>
            <a:ext cx="2559050" cy="1372791"/>
          </a:xfrm>
          <a:prstGeom prst="roundRect">
            <a:avLst>
              <a:gd fmla="val 9020" name="adj"/>
            </a:avLst>
          </a:prstGeom>
          <a:solidFill>
            <a:srgbClr val="171E2C"/>
          </a:solidFill>
          <a:ln cap="flat" cmpd="sng" w="9525">
            <a:solidFill>
              <a:srgbClr val="2A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a:off x="9023350" y="4647009"/>
            <a:ext cx="221068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METODO USATO</a:t>
            </a:r>
            <a:endParaRPr b="0" i="0" sz="1200" u="none" cap="none" strike="noStrike">
              <a:solidFill>
                <a:schemeClr val="lt1"/>
              </a:solidFill>
              <a:latin typeface="JetBrains Mono"/>
              <a:ea typeface="JetBrains Mono"/>
              <a:cs typeface="JetBrains Mono"/>
              <a:sym typeface="JetBrains Mono"/>
            </a:endParaRPr>
          </a:p>
        </p:txBody>
      </p:sp>
      <p:sp>
        <p:nvSpPr>
          <p:cNvPr id="287" name="Google Shape;287;p13"/>
          <p:cNvSpPr/>
          <p:nvPr/>
        </p:nvSpPr>
        <p:spPr>
          <a:xfrm>
            <a:off x="9023350" y="4923830"/>
            <a:ext cx="221068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2EFE6"/>
              </a:buClr>
              <a:buSzPts val="1200"/>
              <a:buFont typeface="JetBrains Mono"/>
              <a:buNone/>
            </a:pPr>
            <a:r>
              <a:rPr b="0" i="0" lang="en-US" sz="1200" u="none" cap="none" strike="noStrike">
                <a:solidFill>
                  <a:srgbClr val="F2EFE6"/>
                </a:solidFill>
                <a:latin typeface="JetBrains Mono"/>
                <a:ea typeface="JetBrains Mono"/>
                <a:cs typeface="JetBrains Mono"/>
                <a:sym typeface="JetBrains Mono"/>
              </a:rPr>
              <a:t>readLine()</a:t>
            </a:r>
            <a:endParaRPr b="0" i="0" sz="1200" u="none" cap="none" strike="noStrike">
              <a:solidFill>
                <a:schemeClr val="lt1"/>
              </a:solidFill>
              <a:latin typeface="JetBrains Mono"/>
              <a:ea typeface="JetBrains Mono"/>
              <a:cs typeface="JetBrains Mono"/>
              <a:sym typeface="JetBrains Mono"/>
            </a:endParaRPr>
          </a:p>
        </p:txBody>
      </p:sp>
      <p:sp>
        <p:nvSpPr>
          <p:cNvPr id="288" name="Google Shape;288;p13"/>
          <p:cNvSpPr/>
          <p:nvPr/>
        </p:nvSpPr>
        <p:spPr>
          <a:xfrm>
            <a:off x="9023350" y="5215930"/>
            <a:ext cx="2210689"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0" i="0" lang="en-US" sz="1200" u="none" cap="none" strike="noStrike">
                <a:solidFill>
                  <a:srgbClr val="AEB6C4"/>
                </a:solidFill>
                <a:latin typeface="IBM Plex Sans"/>
                <a:ea typeface="IBM Plex Sans"/>
                <a:cs typeface="IBM Plex Sans"/>
                <a:sym typeface="IBM Plex Sans"/>
              </a:rPr>
              <a:t>Restituisce la riga, senza il terminatore.</a:t>
            </a:r>
            <a:endParaRPr b="0" i="0" sz="1200" u="none" cap="none" strike="noStrike">
              <a:solidFill>
                <a:schemeClr val="lt1"/>
              </a:solidFill>
              <a:latin typeface="JetBrains Mono"/>
              <a:ea typeface="JetBrains Mono"/>
              <a:cs typeface="JetBrains Mono"/>
              <a:sym typeface="JetBrains Mono"/>
            </a:endParaRPr>
          </a:p>
        </p:txBody>
      </p:sp>
      <p:sp>
        <p:nvSpPr>
          <p:cNvPr id="289" name="Google Shape;289;p13"/>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290" name="Google Shape;290;p13"/>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13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63C9"/>
        </a:solidFill>
      </p:bgPr>
    </p:bg>
    <p:spTree>
      <p:nvGrpSpPr>
        <p:cNvPr id="295" name="Shape 295"/>
        <p:cNvGrpSpPr/>
        <p:nvPr/>
      </p:nvGrpSpPr>
      <p:grpSpPr>
        <a:xfrm>
          <a:off x="0" y="0"/>
          <a:ext cx="0" cy="0"/>
          <a:chOff x="0" y="0"/>
          <a:chExt cx="0" cy="0"/>
        </a:xfrm>
      </p:grpSpPr>
      <p:sp>
        <p:nvSpPr>
          <p:cNvPr id="296" name="Google Shape;296;p1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03 · IL CODICE</a:t>
            </a:r>
            <a:endParaRPr b="0" i="0" sz="1200" u="none" cap="none" strike="noStrike">
              <a:solidFill>
                <a:schemeClr val="lt1"/>
              </a:solidFill>
              <a:latin typeface="JetBrains Mono"/>
              <a:ea typeface="JetBrains Mono"/>
              <a:cs typeface="JetBrains Mono"/>
              <a:sym typeface="JetBrains Mono"/>
            </a:endParaRPr>
          </a:p>
        </p:txBody>
      </p:sp>
      <p:sp>
        <p:nvSpPr>
          <p:cNvPr id="297" name="Google Shape;297;p14"/>
          <p:cNvSpPr txBox="1"/>
          <p:nvPr>
            <p:ph type="title"/>
          </p:nvPr>
        </p:nvSpPr>
        <p:spPr>
          <a:xfrm>
            <a:off x="812800" y="2353320"/>
            <a:ext cx="10883392" cy="1473200"/>
          </a:xfrm>
          <a:prstGeom prst="rect">
            <a:avLst/>
          </a:prstGeom>
          <a:noFill/>
          <a:ln>
            <a:noFill/>
          </a:ln>
        </p:spPr>
        <p:txBody>
          <a:bodyPr anchorCtr="0" anchor="t" bIns="0" lIns="0" spcFirstLastPara="1" rIns="0" wrap="square" tIns="0">
            <a:normAutofit/>
          </a:bodyPr>
          <a:lstStyle/>
          <a:p>
            <a:pPr indent="0" lvl="0" marL="0" rtl="0" algn="l">
              <a:lnSpc>
                <a:spcPct val="95000"/>
              </a:lnSpc>
              <a:spcBef>
                <a:spcPts val="0"/>
              </a:spcBef>
              <a:spcAft>
                <a:spcPts val="0"/>
              </a:spcAft>
              <a:buClr>
                <a:srgbClr val="F5F2EA"/>
              </a:buClr>
              <a:buSzPts val="12000"/>
              <a:buFont typeface="IBM Plex Sans"/>
              <a:buNone/>
            </a:pPr>
            <a:r>
              <a:rPr b="1" i="0" lang="en-US" sz="12000">
                <a:solidFill>
                  <a:srgbClr val="F5F2EA"/>
                </a:solidFill>
                <a:latin typeface="IBM Plex Sans"/>
                <a:ea typeface="IBM Plex Sans"/>
                <a:cs typeface="IBM Plex Sans"/>
                <a:sym typeface="IBM Plex Sans"/>
              </a:rPr>
              <a:t>Client</a:t>
            </a:r>
            <a:endParaRPr sz="12000"/>
          </a:p>
        </p:txBody>
      </p:sp>
      <p:sp>
        <p:nvSpPr>
          <p:cNvPr id="298" name="Google Shape;298;p14"/>
          <p:cNvSpPr/>
          <p:nvPr/>
        </p:nvSpPr>
        <p:spPr>
          <a:xfrm>
            <a:off x="812800" y="3978920"/>
            <a:ext cx="8502650" cy="3556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5F2EA"/>
              </a:buClr>
              <a:buSzPts val="2000"/>
              <a:buFont typeface="IBM Plex Sans"/>
              <a:buNone/>
            </a:pPr>
            <a:r>
              <a:rPr b="0" i="0" lang="en-US" sz="2000" u="none" cap="none" strike="noStrike">
                <a:solidFill>
                  <a:srgbClr val="F5F2EA"/>
                </a:solidFill>
                <a:latin typeface="IBM Plex Sans"/>
                <a:ea typeface="IBM Plex Sans"/>
                <a:cs typeface="IBM Plex Sans"/>
                <a:sym typeface="IBM Plex Sans"/>
              </a:rPr>
              <a:t>Apre la connessione, invia la richiesta, legge la risposta.</a:t>
            </a:r>
            <a:endParaRPr b="0" i="0" sz="2000" u="none" cap="none" strike="noStrike">
              <a:solidFill>
                <a:schemeClr val="lt1"/>
              </a:solidFill>
              <a:latin typeface="JetBrains Mono"/>
              <a:ea typeface="JetBrains Mono"/>
              <a:cs typeface="JetBrains Mono"/>
              <a:sym typeface="JetBrains Mono"/>
            </a:endParaRPr>
          </a:p>
        </p:txBody>
      </p:sp>
      <p:sp>
        <p:nvSpPr>
          <p:cNvPr id="299" name="Google Shape;299;p14"/>
          <p:cNvSpPr/>
          <p:nvPr/>
        </p:nvSpPr>
        <p:spPr>
          <a:xfrm>
            <a:off x="819150" y="5642620"/>
            <a:ext cx="1209030" cy="396230"/>
          </a:xfrm>
          <a:prstGeom prst="roundRect">
            <a:avLst>
              <a:gd fmla="val 17629" name="adj"/>
            </a:avLst>
          </a:prstGeom>
          <a:noFill/>
          <a:ln cap="flat" cmpd="sng" w="12700">
            <a:solidFill>
              <a:srgbClr val="F5F2EA"/>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300"/>
              <a:buFont typeface="JetBrains Mono"/>
              <a:buNone/>
            </a:pPr>
            <a:r>
              <a:rPr b="0" i="0" lang="en-US" sz="1300" u="none" cap="none" strike="noStrike">
                <a:solidFill>
                  <a:srgbClr val="F5F2EA"/>
                </a:solidFill>
                <a:latin typeface="JetBrains Mono"/>
                <a:ea typeface="JetBrains Mono"/>
                <a:cs typeface="JetBrains Mono"/>
                <a:sym typeface="JetBrains Mono"/>
              </a:rPr>
              <a:t>attributi</a:t>
            </a:r>
            <a:endParaRPr b="0" i="0" sz="1300" u="none" cap="none" strike="noStrike">
              <a:solidFill>
                <a:schemeClr val="lt1"/>
              </a:solidFill>
              <a:latin typeface="JetBrains Mono"/>
              <a:ea typeface="JetBrains Mono"/>
              <a:cs typeface="JetBrains Mono"/>
              <a:sym typeface="JetBrains Mono"/>
            </a:endParaRPr>
          </a:p>
        </p:txBody>
      </p:sp>
      <p:sp>
        <p:nvSpPr>
          <p:cNvPr id="300" name="Google Shape;300;p14"/>
          <p:cNvSpPr/>
          <p:nvPr/>
        </p:nvSpPr>
        <p:spPr>
          <a:xfrm>
            <a:off x="2142480" y="5642620"/>
            <a:ext cx="1308100" cy="396230"/>
          </a:xfrm>
          <a:prstGeom prst="roundRect">
            <a:avLst>
              <a:gd fmla="val 17629" name="adj"/>
            </a:avLst>
          </a:prstGeom>
          <a:noFill/>
          <a:ln cap="flat" cmpd="sng" w="12700">
            <a:solidFill>
              <a:srgbClr val="F5F2EA"/>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300"/>
              <a:buFont typeface="JetBrains Mono"/>
              <a:buNone/>
            </a:pPr>
            <a:r>
              <a:rPr b="0" i="0" lang="en-US" sz="1300" u="none" cap="none" strike="noStrike">
                <a:solidFill>
                  <a:srgbClr val="F5F2EA"/>
                </a:solidFill>
                <a:latin typeface="JetBrains Mono"/>
                <a:ea typeface="JetBrains Mono"/>
                <a:cs typeface="JetBrains Mono"/>
                <a:sym typeface="JetBrains Mono"/>
              </a:rPr>
              <a:t>connetti()</a:t>
            </a:r>
            <a:endParaRPr b="0" i="0" sz="1300" u="none" cap="none" strike="noStrike">
              <a:solidFill>
                <a:schemeClr val="lt1"/>
              </a:solidFill>
              <a:latin typeface="JetBrains Mono"/>
              <a:ea typeface="JetBrains Mono"/>
              <a:cs typeface="JetBrains Mono"/>
              <a:sym typeface="JetBrains Mono"/>
            </a:endParaRPr>
          </a:p>
        </p:txBody>
      </p:sp>
      <p:sp>
        <p:nvSpPr>
          <p:cNvPr id="301" name="Google Shape;301;p14"/>
          <p:cNvSpPr/>
          <p:nvPr/>
        </p:nvSpPr>
        <p:spPr>
          <a:xfrm>
            <a:off x="3564880" y="5642620"/>
            <a:ext cx="1308100" cy="396230"/>
          </a:xfrm>
          <a:prstGeom prst="roundRect">
            <a:avLst>
              <a:gd fmla="val 17629" name="adj"/>
            </a:avLst>
          </a:prstGeom>
          <a:noFill/>
          <a:ln cap="flat" cmpd="sng" w="12700">
            <a:solidFill>
              <a:srgbClr val="F5F2EA"/>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300"/>
              <a:buFont typeface="JetBrains Mono"/>
              <a:buNone/>
            </a:pPr>
            <a:r>
              <a:rPr b="0" i="0" lang="en-US" sz="1300" u="none" cap="none" strike="noStrike">
                <a:solidFill>
                  <a:srgbClr val="F5F2EA"/>
                </a:solidFill>
                <a:latin typeface="JetBrains Mono"/>
                <a:ea typeface="JetBrains Mono"/>
                <a:cs typeface="JetBrains Mono"/>
                <a:sym typeface="JetBrains Mono"/>
              </a:rPr>
              <a:t>comunica()</a:t>
            </a:r>
            <a:endParaRPr b="0" i="0" sz="13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306" name="Shape 306"/>
        <p:cNvGrpSpPr/>
        <p:nvPr/>
      </p:nvGrpSpPr>
      <p:grpSpPr>
        <a:xfrm>
          <a:off x="0" y="0"/>
          <a:ext cx="0" cy="0"/>
          <a:chOff x="0" y="0"/>
          <a:chExt cx="0" cy="0"/>
        </a:xfrm>
      </p:grpSpPr>
      <p:sp>
        <p:nvSpPr>
          <p:cNvPr id="307" name="Google Shape;307;p1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CLIENT · ATTRIBUTI</a:t>
            </a:r>
            <a:endParaRPr b="0" i="0" sz="1200" u="none" cap="none" strike="noStrike">
              <a:solidFill>
                <a:schemeClr val="lt1"/>
              </a:solidFill>
              <a:latin typeface="JetBrains Mono"/>
              <a:ea typeface="JetBrains Mono"/>
              <a:cs typeface="JetBrains Mono"/>
              <a:sym typeface="JetBrains Mono"/>
            </a:endParaRPr>
          </a:p>
        </p:txBody>
      </p:sp>
      <p:sp>
        <p:nvSpPr>
          <p:cNvPr id="308" name="Google Shape;308;p15"/>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Gli attributi della classe Client</a:t>
            </a:r>
            <a:endParaRPr sz="3000"/>
          </a:p>
        </p:txBody>
      </p:sp>
      <p:sp>
        <p:nvSpPr>
          <p:cNvPr id="309" name="Google Shape;309;p15"/>
          <p:cNvSpPr/>
          <p:nvPr/>
        </p:nvSpPr>
        <p:spPr>
          <a:xfrm>
            <a:off x="812800" y="1775420"/>
            <a:ext cx="6604000" cy="2692400"/>
          </a:xfrm>
          <a:prstGeom prst="roundRect">
            <a:avLst>
              <a:gd fmla="val 4717"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1041400" y="1978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public class</a:t>
            </a:r>
            <a:r>
              <a:rPr b="0" i="0" lang="en-US" sz="1200" u="none" cap="none" strike="noStrike">
                <a:solidFill>
                  <a:srgbClr val="E8E4DA"/>
                </a:solidFill>
                <a:latin typeface="JetBrains Mono"/>
                <a:ea typeface="JetBrains Mono"/>
                <a:cs typeface="JetBrains Mono"/>
                <a:sym typeface="JetBrains Mono"/>
              </a:rPr>
              <a:t> Client {</a:t>
            </a:r>
            <a:endParaRPr b="0" i="0" sz="1200" u="none" cap="none" strike="noStrike">
              <a:solidFill>
                <a:schemeClr val="lt1"/>
              </a:solidFill>
              <a:latin typeface="JetBrains Mono"/>
              <a:ea typeface="JetBrains Mono"/>
              <a:cs typeface="JetBrains Mono"/>
              <a:sym typeface="JetBrains Mono"/>
            </a:endParaRPr>
          </a:p>
        </p:txBody>
      </p:sp>
      <p:sp>
        <p:nvSpPr>
          <p:cNvPr id="311" name="Google Shape;311;p15"/>
          <p:cNvSpPr/>
          <p:nvPr/>
        </p:nvSpPr>
        <p:spPr>
          <a:xfrm>
            <a:off x="1041400" y="2207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1</a:t>
            </a:r>
            <a:r>
              <a:rPr b="0" i="0" lang="en-US" sz="1200" u="none" cap="none" strike="noStrike">
                <a:solidFill>
                  <a:srgbClr val="E8E4DA"/>
                </a:solidFill>
                <a:latin typeface="JetBrains Mono"/>
                <a:ea typeface="JetBrains Mono"/>
                <a:cs typeface="JetBrains Mono"/>
                <a:sym typeface="JetBrains Mono"/>
              </a:rPr>
              <a:t>      String nomeServer = </a:t>
            </a:r>
            <a:r>
              <a:rPr b="0" i="0" lang="en-US" sz="1200" u="none" cap="none" strike="noStrike">
                <a:solidFill>
                  <a:srgbClr val="9FD89A"/>
                </a:solidFill>
                <a:latin typeface="JetBrains Mono"/>
                <a:ea typeface="JetBrains Mono"/>
                <a:cs typeface="JetBrains Mono"/>
                <a:sym typeface="JetBrains Mono"/>
              </a:rPr>
              <a:t>"localhost"</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312" name="Google Shape;312;p15"/>
          <p:cNvSpPr/>
          <p:nvPr/>
        </p:nvSpPr>
        <p:spPr>
          <a:xfrm>
            <a:off x="1041400" y="2435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1</a:t>
            </a: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int</a:t>
            </a:r>
            <a:r>
              <a:rPr b="0" i="0" lang="en-US" sz="1200" u="none" cap="none" strike="noStrike">
                <a:solidFill>
                  <a:srgbClr val="E8E4DA"/>
                </a:solidFill>
                <a:latin typeface="JetBrains Mono"/>
                <a:ea typeface="JetBrains Mono"/>
                <a:cs typeface="JetBrains Mono"/>
                <a:sym typeface="JetBrains Mono"/>
              </a:rPr>
              <a:t> porta = 6789;</a:t>
            </a:r>
            <a:endParaRPr b="0" i="0" sz="1200" u="none" cap="none" strike="noStrike">
              <a:solidFill>
                <a:schemeClr val="lt1"/>
              </a:solidFill>
              <a:latin typeface="JetBrains Mono"/>
              <a:ea typeface="JetBrains Mono"/>
              <a:cs typeface="JetBrains Mono"/>
              <a:sym typeface="JetBrains Mono"/>
            </a:endParaRPr>
          </a:p>
        </p:txBody>
      </p:sp>
      <p:sp>
        <p:nvSpPr>
          <p:cNvPr id="313" name="Google Shape;313;p15"/>
          <p:cNvSpPr/>
          <p:nvPr/>
        </p:nvSpPr>
        <p:spPr>
          <a:xfrm>
            <a:off x="1041400" y="2664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2</a:t>
            </a:r>
            <a:r>
              <a:rPr b="0" i="0" lang="en-US" sz="1200" u="none" cap="none" strike="noStrike">
                <a:solidFill>
                  <a:srgbClr val="E8E4DA"/>
                </a:solidFill>
                <a:latin typeface="JetBrains Mono"/>
                <a:ea typeface="JetBrains Mono"/>
                <a:cs typeface="JetBrains Mono"/>
                <a:sym typeface="JetBrains Mono"/>
              </a:rPr>
              <a:t>      Socket mio;</a:t>
            </a:r>
            <a:endParaRPr b="0" i="0" sz="1200" u="none" cap="none" strike="noStrike">
              <a:solidFill>
                <a:schemeClr val="lt1"/>
              </a:solidFill>
              <a:latin typeface="JetBrains Mono"/>
              <a:ea typeface="JetBrains Mono"/>
              <a:cs typeface="JetBrains Mono"/>
              <a:sym typeface="JetBrains Mono"/>
            </a:endParaRPr>
          </a:p>
        </p:txBody>
      </p:sp>
      <p:sp>
        <p:nvSpPr>
          <p:cNvPr id="314" name="Google Shape;314;p15"/>
          <p:cNvSpPr/>
          <p:nvPr/>
        </p:nvSpPr>
        <p:spPr>
          <a:xfrm>
            <a:off x="1041400" y="2893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3</a:t>
            </a:r>
            <a:r>
              <a:rPr b="0" i="0" lang="en-US" sz="1200" u="none" cap="none" strike="noStrike">
                <a:solidFill>
                  <a:srgbClr val="E8E4DA"/>
                </a:solidFill>
                <a:latin typeface="JetBrains Mono"/>
                <a:ea typeface="JetBrains Mono"/>
                <a:cs typeface="JetBrains Mono"/>
                <a:sym typeface="JetBrains Mono"/>
              </a:rPr>
              <a:t>      BufferedReader tastiera;</a:t>
            </a:r>
            <a:endParaRPr b="0" i="0" sz="1200" u="none" cap="none" strike="noStrike">
              <a:solidFill>
                <a:schemeClr val="lt1"/>
              </a:solidFill>
              <a:latin typeface="JetBrains Mono"/>
              <a:ea typeface="JetBrains Mono"/>
              <a:cs typeface="JetBrains Mono"/>
              <a:sym typeface="JetBrains Mono"/>
            </a:endParaRPr>
          </a:p>
        </p:txBody>
      </p:sp>
      <p:sp>
        <p:nvSpPr>
          <p:cNvPr id="315" name="Google Shape;315;p15"/>
          <p:cNvSpPr/>
          <p:nvPr/>
        </p:nvSpPr>
        <p:spPr>
          <a:xfrm>
            <a:off x="1041400" y="3121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DataOutputStream versoServer;</a:t>
            </a:r>
            <a:endParaRPr b="0" i="0" sz="1200" u="none" cap="none" strike="noStrike">
              <a:solidFill>
                <a:schemeClr val="lt1"/>
              </a:solidFill>
              <a:latin typeface="JetBrains Mono"/>
              <a:ea typeface="JetBrains Mono"/>
              <a:cs typeface="JetBrains Mono"/>
              <a:sym typeface="JetBrains Mono"/>
            </a:endParaRPr>
          </a:p>
        </p:txBody>
      </p:sp>
      <p:sp>
        <p:nvSpPr>
          <p:cNvPr id="316" name="Google Shape;316;p15"/>
          <p:cNvSpPr/>
          <p:nvPr/>
        </p:nvSpPr>
        <p:spPr>
          <a:xfrm>
            <a:off x="1041400" y="3350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E8E4DA"/>
                </a:solidFill>
                <a:latin typeface="JetBrains Mono"/>
                <a:ea typeface="JetBrains Mono"/>
                <a:cs typeface="JetBrains Mono"/>
                <a:sym typeface="JetBrains Mono"/>
              </a:rPr>
              <a:t>     DataInputStream dalServer;</a:t>
            </a:r>
            <a:endParaRPr b="0" i="0" sz="1200" u="none" cap="none" strike="noStrike">
              <a:solidFill>
                <a:schemeClr val="lt1"/>
              </a:solidFill>
              <a:latin typeface="JetBrains Mono"/>
              <a:ea typeface="JetBrains Mono"/>
              <a:cs typeface="JetBrains Mono"/>
              <a:sym typeface="JetBrains Mono"/>
            </a:endParaRPr>
          </a:p>
        </p:txBody>
      </p:sp>
      <p:sp>
        <p:nvSpPr>
          <p:cNvPr id="317" name="Google Shape;317;p15"/>
          <p:cNvSpPr/>
          <p:nvPr/>
        </p:nvSpPr>
        <p:spPr>
          <a:xfrm>
            <a:off x="1041400" y="3578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5</a:t>
            </a:r>
            <a:r>
              <a:rPr b="0" i="0" lang="en-US" sz="1200" u="none" cap="none" strike="noStrike">
                <a:solidFill>
                  <a:srgbClr val="E8E4DA"/>
                </a:solidFill>
                <a:latin typeface="JetBrains Mono"/>
                <a:ea typeface="JetBrains Mono"/>
                <a:cs typeface="JetBrains Mono"/>
                <a:sym typeface="JetBrains Mono"/>
              </a:rPr>
              <a:t>      String messaggioClient;</a:t>
            </a:r>
            <a:endParaRPr b="0" i="0" sz="1200" u="none" cap="none" strike="noStrike">
              <a:solidFill>
                <a:schemeClr val="lt1"/>
              </a:solidFill>
              <a:latin typeface="JetBrains Mono"/>
              <a:ea typeface="JetBrains Mono"/>
              <a:cs typeface="JetBrains Mono"/>
              <a:sym typeface="JetBrains Mono"/>
            </a:endParaRPr>
          </a:p>
        </p:txBody>
      </p:sp>
      <p:sp>
        <p:nvSpPr>
          <p:cNvPr id="318" name="Google Shape;318;p15"/>
          <p:cNvSpPr/>
          <p:nvPr/>
        </p:nvSpPr>
        <p:spPr>
          <a:xfrm>
            <a:off x="1041400" y="3807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5</a:t>
            </a:r>
            <a:r>
              <a:rPr b="0" i="0" lang="en-US" sz="1200" u="none" cap="none" strike="noStrike">
                <a:solidFill>
                  <a:srgbClr val="E8E4DA"/>
                </a:solidFill>
                <a:latin typeface="JetBrains Mono"/>
                <a:ea typeface="JetBrains Mono"/>
                <a:cs typeface="JetBrains Mono"/>
                <a:sym typeface="JetBrains Mono"/>
              </a:rPr>
              <a:t>      String messaggioServer;</a:t>
            </a:r>
            <a:endParaRPr b="0" i="0" sz="1200" u="none" cap="none" strike="noStrike">
              <a:solidFill>
                <a:schemeClr val="lt1"/>
              </a:solidFill>
              <a:latin typeface="JetBrains Mono"/>
              <a:ea typeface="JetBrains Mono"/>
              <a:cs typeface="JetBrains Mono"/>
              <a:sym typeface="JetBrains Mono"/>
            </a:endParaRPr>
          </a:p>
        </p:txBody>
      </p:sp>
      <p:sp>
        <p:nvSpPr>
          <p:cNvPr id="319" name="Google Shape;319;p15"/>
          <p:cNvSpPr/>
          <p:nvPr/>
        </p:nvSpPr>
        <p:spPr>
          <a:xfrm>
            <a:off x="1041400" y="4036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320" name="Google Shape;320;p15"/>
          <p:cNvSpPr/>
          <p:nvPr/>
        </p:nvSpPr>
        <p:spPr>
          <a:xfrm>
            <a:off x="7721600" y="1775420"/>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1</a:t>
            </a:r>
            <a:endParaRPr b="0" i="0" sz="1200" u="none" cap="none" strike="noStrike">
              <a:solidFill>
                <a:schemeClr val="lt1"/>
              </a:solidFill>
              <a:latin typeface="JetBrains Mono"/>
              <a:ea typeface="JetBrains Mono"/>
              <a:cs typeface="JetBrains Mono"/>
              <a:sym typeface="JetBrains Mono"/>
            </a:endParaRPr>
          </a:p>
        </p:txBody>
      </p:sp>
      <p:sp>
        <p:nvSpPr>
          <p:cNvPr id="321" name="Google Shape;321;p15"/>
          <p:cNvSpPr/>
          <p:nvPr/>
        </p:nvSpPr>
        <p:spPr>
          <a:xfrm>
            <a:off x="8117880" y="1775420"/>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nomeServer, porta.</a:t>
            </a:r>
            <a:r>
              <a:rPr b="0" i="0" lang="en-US" sz="1300" u="none" cap="none" strike="noStrike">
                <a:solidFill>
                  <a:srgbClr val="D0D5DE"/>
                </a:solidFill>
                <a:latin typeface="IBM Plex Sans"/>
                <a:ea typeface="IBM Plex Sans"/>
                <a:cs typeface="IBM Plex Sans"/>
                <a:sym typeface="IBM Plex Sans"/>
              </a:rPr>
              <a:t> Host e porta TCP del server a cui connettersi.</a:t>
            </a:r>
            <a:endParaRPr b="0" i="0" sz="1300" u="none" cap="none" strike="noStrike">
              <a:solidFill>
                <a:schemeClr val="lt1"/>
              </a:solidFill>
              <a:latin typeface="JetBrains Mono"/>
              <a:ea typeface="JetBrains Mono"/>
              <a:cs typeface="JetBrains Mono"/>
              <a:sym typeface="JetBrains Mono"/>
            </a:endParaRPr>
          </a:p>
        </p:txBody>
      </p:sp>
      <p:sp>
        <p:nvSpPr>
          <p:cNvPr id="322" name="Google Shape;322;p15"/>
          <p:cNvSpPr/>
          <p:nvPr/>
        </p:nvSpPr>
        <p:spPr>
          <a:xfrm>
            <a:off x="7721600" y="2348111"/>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2</a:t>
            </a:r>
            <a:endParaRPr b="0" i="0" sz="1200" u="none" cap="none" strike="noStrike">
              <a:solidFill>
                <a:schemeClr val="lt1"/>
              </a:solidFill>
              <a:latin typeface="JetBrains Mono"/>
              <a:ea typeface="JetBrains Mono"/>
              <a:cs typeface="JetBrains Mono"/>
              <a:sym typeface="JetBrains Mono"/>
            </a:endParaRPr>
          </a:p>
        </p:txBody>
      </p:sp>
      <p:sp>
        <p:nvSpPr>
          <p:cNvPr id="323" name="Google Shape;323;p15"/>
          <p:cNvSpPr/>
          <p:nvPr/>
        </p:nvSpPr>
        <p:spPr>
          <a:xfrm>
            <a:off x="8117880" y="2348111"/>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Socket.</a:t>
            </a:r>
            <a:r>
              <a:rPr b="0" i="0" lang="en-US" sz="1300" u="none" cap="none" strike="noStrike">
                <a:solidFill>
                  <a:srgbClr val="D0D5DE"/>
                </a:solidFill>
                <a:latin typeface="IBM Plex Sans"/>
                <a:ea typeface="IBM Plex Sans"/>
                <a:cs typeface="IBM Plex Sans"/>
                <a:sym typeface="IBM Plex Sans"/>
              </a:rPr>
              <a:t> Endpoint della connessione TCP lato client.</a:t>
            </a:r>
            <a:endParaRPr b="0" i="0" sz="1300" u="none" cap="none" strike="noStrike">
              <a:solidFill>
                <a:schemeClr val="lt1"/>
              </a:solidFill>
              <a:latin typeface="JetBrains Mono"/>
              <a:ea typeface="JetBrains Mono"/>
              <a:cs typeface="JetBrains Mono"/>
              <a:sym typeface="JetBrains Mono"/>
            </a:endParaRPr>
          </a:p>
        </p:txBody>
      </p:sp>
      <p:sp>
        <p:nvSpPr>
          <p:cNvPr id="324" name="Google Shape;324;p15"/>
          <p:cNvSpPr/>
          <p:nvPr/>
        </p:nvSpPr>
        <p:spPr>
          <a:xfrm>
            <a:off x="7721600" y="2920802"/>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3</a:t>
            </a:r>
            <a:endParaRPr b="0" i="0" sz="1200" u="none" cap="none" strike="noStrike">
              <a:solidFill>
                <a:schemeClr val="lt1"/>
              </a:solidFill>
              <a:latin typeface="JetBrains Mono"/>
              <a:ea typeface="JetBrains Mono"/>
              <a:cs typeface="JetBrains Mono"/>
              <a:sym typeface="JetBrains Mono"/>
            </a:endParaRPr>
          </a:p>
        </p:txBody>
      </p:sp>
      <p:sp>
        <p:nvSpPr>
          <p:cNvPr id="325" name="Google Shape;325;p15"/>
          <p:cNvSpPr/>
          <p:nvPr/>
        </p:nvSpPr>
        <p:spPr>
          <a:xfrm>
            <a:off x="8117880" y="2920802"/>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BufferedReader.</a:t>
            </a:r>
            <a:r>
              <a:rPr b="0" i="0" lang="en-US" sz="1300" u="none" cap="none" strike="noStrike">
                <a:solidFill>
                  <a:srgbClr val="D0D5DE"/>
                </a:solidFill>
                <a:latin typeface="IBM Plex Sans"/>
                <a:ea typeface="IBM Plex Sans"/>
                <a:cs typeface="IBM Plex Sans"/>
                <a:sym typeface="IBM Plex Sans"/>
              </a:rPr>
              <a:t> Stream di caratteri per leggere righe da System.in.</a:t>
            </a:r>
            <a:endParaRPr b="0" i="0" sz="1300" u="none" cap="none" strike="noStrike">
              <a:solidFill>
                <a:schemeClr val="lt1"/>
              </a:solidFill>
              <a:latin typeface="JetBrains Mono"/>
              <a:ea typeface="JetBrains Mono"/>
              <a:cs typeface="JetBrains Mono"/>
              <a:sym typeface="JetBrains Mono"/>
            </a:endParaRPr>
          </a:p>
        </p:txBody>
      </p:sp>
      <p:sp>
        <p:nvSpPr>
          <p:cNvPr id="326" name="Google Shape;326;p15"/>
          <p:cNvSpPr/>
          <p:nvPr/>
        </p:nvSpPr>
        <p:spPr>
          <a:xfrm>
            <a:off x="7721600" y="3493492"/>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4</a:t>
            </a:r>
            <a:endParaRPr b="0" i="0" sz="1200" u="none" cap="none" strike="noStrike">
              <a:solidFill>
                <a:schemeClr val="lt1"/>
              </a:solidFill>
              <a:latin typeface="JetBrains Mono"/>
              <a:ea typeface="JetBrains Mono"/>
              <a:cs typeface="JetBrains Mono"/>
              <a:sym typeface="JetBrains Mono"/>
            </a:endParaRPr>
          </a:p>
        </p:txBody>
      </p:sp>
      <p:sp>
        <p:nvSpPr>
          <p:cNvPr id="327" name="Google Shape;327;p15"/>
          <p:cNvSpPr/>
          <p:nvPr/>
        </p:nvSpPr>
        <p:spPr>
          <a:xfrm>
            <a:off x="8117880" y="3493492"/>
            <a:ext cx="335916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DataOutputStream, DataInputStream.</a:t>
            </a:r>
            <a:r>
              <a:rPr b="0" i="0" lang="en-US" sz="1300" u="none" cap="none" strike="noStrike">
                <a:solidFill>
                  <a:srgbClr val="D0D5DE"/>
                </a:solidFill>
                <a:latin typeface="IBM Plex Sans"/>
                <a:ea typeface="IBM Plex Sans"/>
                <a:cs typeface="IBM Plex Sans"/>
                <a:sym typeface="IBM Plex Sans"/>
              </a:rPr>
              <a:t> Stream per inviare dati al server e per riceverli.</a:t>
            </a:r>
            <a:endParaRPr b="0" i="0" sz="1300" u="none" cap="none" strike="noStrike">
              <a:solidFill>
                <a:schemeClr val="lt1"/>
              </a:solidFill>
              <a:latin typeface="JetBrains Mono"/>
              <a:ea typeface="JetBrains Mono"/>
              <a:cs typeface="JetBrains Mono"/>
              <a:sym typeface="JetBrains Mono"/>
            </a:endParaRPr>
          </a:p>
        </p:txBody>
      </p:sp>
      <p:sp>
        <p:nvSpPr>
          <p:cNvPr id="328" name="Google Shape;328;p15"/>
          <p:cNvSpPr/>
          <p:nvPr/>
        </p:nvSpPr>
        <p:spPr>
          <a:xfrm>
            <a:off x="7721600" y="4289028"/>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5</a:t>
            </a:r>
            <a:endParaRPr b="0" i="0" sz="1200" u="none" cap="none" strike="noStrike">
              <a:solidFill>
                <a:schemeClr val="lt1"/>
              </a:solidFill>
              <a:latin typeface="JetBrains Mono"/>
              <a:ea typeface="JetBrains Mono"/>
              <a:cs typeface="JetBrains Mono"/>
              <a:sym typeface="JetBrains Mono"/>
            </a:endParaRPr>
          </a:p>
        </p:txBody>
      </p:sp>
      <p:sp>
        <p:nvSpPr>
          <p:cNvPr id="329" name="Google Shape;329;p15"/>
          <p:cNvSpPr/>
          <p:nvPr/>
        </p:nvSpPr>
        <p:spPr>
          <a:xfrm>
            <a:off x="8117880" y="4289028"/>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String.</a:t>
            </a:r>
            <a:r>
              <a:rPr b="0" i="0" lang="en-US" sz="1300" u="none" cap="none" strike="noStrike">
                <a:solidFill>
                  <a:srgbClr val="D0D5DE"/>
                </a:solidFill>
                <a:latin typeface="IBM Plex Sans"/>
                <a:ea typeface="IBM Plex Sans"/>
                <a:cs typeface="IBM Plex Sans"/>
                <a:sym typeface="IBM Plex Sans"/>
              </a:rPr>
              <a:t> Il messaggio da inviare e la risposta ricevuta.</a:t>
            </a:r>
            <a:endParaRPr b="0" i="0" sz="1300" u="none" cap="none" strike="noStrike">
              <a:solidFill>
                <a:schemeClr val="lt1"/>
              </a:solidFill>
              <a:latin typeface="JetBrains Mono"/>
              <a:ea typeface="JetBrains Mono"/>
              <a:cs typeface="JetBrains Mono"/>
              <a:sym typeface="JetBrains Mono"/>
            </a:endParaRPr>
          </a:p>
        </p:txBody>
      </p:sp>
      <p:sp>
        <p:nvSpPr>
          <p:cNvPr id="330" name="Google Shape;330;p15"/>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331" name="Google Shape;331;p15"/>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15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336" name="Shape 336"/>
        <p:cNvGrpSpPr/>
        <p:nvPr/>
      </p:nvGrpSpPr>
      <p:grpSpPr>
        <a:xfrm>
          <a:off x="0" y="0"/>
          <a:ext cx="0" cy="0"/>
          <a:chOff x="0" y="0"/>
          <a:chExt cx="0" cy="0"/>
        </a:xfrm>
      </p:grpSpPr>
      <p:sp>
        <p:nvSpPr>
          <p:cNvPr id="337" name="Google Shape;337;p1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CLIENT · CONNETTI()</a:t>
            </a:r>
            <a:endParaRPr b="0" i="0" sz="1200" u="none" cap="none" strike="noStrike">
              <a:solidFill>
                <a:schemeClr val="lt1"/>
              </a:solidFill>
              <a:latin typeface="JetBrains Mono"/>
              <a:ea typeface="JetBrains Mono"/>
              <a:cs typeface="JetBrains Mono"/>
              <a:sym typeface="JetBrains Mono"/>
            </a:endParaRPr>
          </a:p>
        </p:txBody>
      </p:sp>
      <p:sp>
        <p:nvSpPr>
          <p:cNvPr id="338" name="Google Shape;338;p16"/>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Istanziare gli stream e aprire la connessione</a:t>
            </a:r>
            <a:endParaRPr sz="3000"/>
          </a:p>
        </p:txBody>
      </p:sp>
      <p:sp>
        <p:nvSpPr>
          <p:cNvPr id="339" name="Google Shape;339;p16"/>
          <p:cNvSpPr/>
          <p:nvPr/>
        </p:nvSpPr>
        <p:spPr>
          <a:xfrm>
            <a:off x="812800" y="1775420"/>
            <a:ext cx="6604000" cy="3378200"/>
          </a:xfrm>
          <a:prstGeom prst="roundRect">
            <a:avLst>
              <a:gd fmla="val 3759"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p:nvPr/>
        </p:nvSpPr>
        <p:spPr>
          <a:xfrm>
            <a:off x="1041400" y="1978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public void</a:t>
            </a:r>
            <a:r>
              <a:rPr b="0" i="0" lang="en-US" sz="1200" u="none" cap="none" strike="noStrike">
                <a:solidFill>
                  <a:srgbClr val="E8E4DA"/>
                </a:solidFill>
                <a:latin typeface="JetBrains Mono"/>
                <a:ea typeface="JetBrains Mono"/>
                <a:cs typeface="JetBrains Mono"/>
                <a:sym typeface="JetBrains Mono"/>
              </a:rPr>
              <a:t> connetti() {</a:t>
            </a:r>
            <a:endParaRPr b="0" i="0" sz="1200" u="none" cap="none" strike="noStrike">
              <a:solidFill>
                <a:schemeClr val="lt1"/>
              </a:solidFill>
              <a:latin typeface="JetBrains Mono"/>
              <a:ea typeface="JetBrains Mono"/>
              <a:cs typeface="JetBrains Mono"/>
              <a:sym typeface="JetBrains Mono"/>
            </a:endParaRPr>
          </a:p>
        </p:txBody>
      </p:sp>
      <p:sp>
        <p:nvSpPr>
          <p:cNvPr id="341" name="Google Shape;341;p16"/>
          <p:cNvSpPr/>
          <p:nvPr/>
        </p:nvSpPr>
        <p:spPr>
          <a:xfrm>
            <a:off x="1041400" y="2207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try</a:t>
            </a: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342" name="Google Shape;342;p16"/>
          <p:cNvSpPr/>
          <p:nvPr/>
        </p:nvSpPr>
        <p:spPr>
          <a:xfrm>
            <a:off x="1041400" y="2435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1</a:t>
            </a:r>
            <a:r>
              <a:rPr b="0" i="0" lang="en-US" sz="1200" u="none" cap="none" strike="noStrike">
                <a:solidFill>
                  <a:srgbClr val="E8E4DA"/>
                </a:solidFill>
                <a:latin typeface="JetBrains Mono"/>
                <a:ea typeface="JetBrains Mono"/>
                <a:cs typeface="JetBrains Mono"/>
                <a:sym typeface="JetBrains Mono"/>
              </a:rPr>
              <a:t>          tastiera =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BufferedReader(</a:t>
            </a:r>
            <a:endParaRPr b="0" i="0" sz="1200" u="none" cap="none" strike="noStrike">
              <a:solidFill>
                <a:schemeClr val="lt1"/>
              </a:solidFill>
              <a:latin typeface="JetBrains Mono"/>
              <a:ea typeface="JetBrains Mono"/>
              <a:cs typeface="JetBrains Mono"/>
              <a:sym typeface="JetBrains Mono"/>
            </a:endParaRPr>
          </a:p>
        </p:txBody>
      </p:sp>
      <p:sp>
        <p:nvSpPr>
          <p:cNvPr id="343" name="Google Shape;343;p16"/>
          <p:cNvSpPr/>
          <p:nvPr/>
        </p:nvSpPr>
        <p:spPr>
          <a:xfrm>
            <a:off x="1041400" y="2664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InputStreamReader(System.in));</a:t>
            </a:r>
            <a:endParaRPr b="0" i="0" sz="1200" u="none" cap="none" strike="noStrike">
              <a:solidFill>
                <a:schemeClr val="lt1"/>
              </a:solidFill>
              <a:latin typeface="JetBrains Mono"/>
              <a:ea typeface="JetBrains Mono"/>
              <a:cs typeface="JetBrains Mono"/>
              <a:sym typeface="JetBrains Mono"/>
            </a:endParaRPr>
          </a:p>
        </p:txBody>
      </p:sp>
      <p:sp>
        <p:nvSpPr>
          <p:cNvPr id="344" name="Google Shape;344;p16"/>
          <p:cNvSpPr/>
          <p:nvPr/>
        </p:nvSpPr>
        <p:spPr>
          <a:xfrm>
            <a:off x="1041400" y="2893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2</a:t>
            </a:r>
            <a:r>
              <a:rPr b="0" i="0" lang="en-US" sz="1200" u="none" cap="none" strike="noStrike">
                <a:solidFill>
                  <a:srgbClr val="E8E4DA"/>
                </a:solidFill>
                <a:latin typeface="JetBrains Mono"/>
                <a:ea typeface="JetBrains Mono"/>
                <a:cs typeface="JetBrains Mono"/>
                <a:sym typeface="JetBrains Mono"/>
              </a:rPr>
              <a:t>          mio =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Socket(nomeServer, porta);</a:t>
            </a:r>
            <a:endParaRPr b="0" i="0" sz="1200" u="none" cap="none" strike="noStrike">
              <a:solidFill>
                <a:schemeClr val="lt1"/>
              </a:solidFill>
              <a:latin typeface="JetBrains Mono"/>
              <a:ea typeface="JetBrains Mono"/>
              <a:cs typeface="JetBrains Mono"/>
              <a:sym typeface="JetBrains Mono"/>
            </a:endParaRPr>
          </a:p>
        </p:txBody>
      </p:sp>
      <p:sp>
        <p:nvSpPr>
          <p:cNvPr id="345" name="Google Shape;345;p16"/>
          <p:cNvSpPr/>
          <p:nvPr/>
        </p:nvSpPr>
        <p:spPr>
          <a:xfrm>
            <a:off x="1041400" y="3121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3</a:t>
            </a:r>
            <a:r>
              <a:rPr b="0" i="0" lang="en-US" sz="1200" u="none" cap="none" strike="noStrike">
                <a:solidFill>
                  <a:srgbClr val="E8E4DA"/>
                </a:solidFill>
                <a:latin typeface="JetBrains Mono"/>
                <a:ea typeface="JetBrains Mono"/>
                <a:cs typeface="JetBrains Mono"/>
                <a:sym typeface="JetBrains Mono"/>
              </a:rPr>
              <a:t>          versoServer =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DataOutputStream(</a:t>
            </a:r>
            <a:endParaRPr b="0" i="0" sz="1200" u="none" cap="none" strike="noStrike">
              <a:solidFill>
                <a:schemeClr val="lt1"/>
              </a:solidFill>
              <a:latin typeface="JetBrains Mono"/>
              <a:ea typeface="JetBrains Mono"/>
              <a:cs typeface="JetBrains Mono"/>
              <a:sym typeface="JetBrains Mono"/>
            </a:endParaRPr>
          </a:p>
        </p:txBody>
      </p:sp>
      <p:sp>
        <p:nvSpPr>
          <p:cNvPr id="346" name="Google Shape;346;p16"/>
          <p:cNvSpPr/>
          <p:nvPr/>
        </p:nvSpPr>
        <p:spPr>
          <a:xfrm>
            <a:off x="1041400" y="3350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mio.getOutputStream());</a:t>
            </a:r>
            <a:endParaRPr b="0" i="0" sz="1200" u="none" cap="none" strike="noStrike">
              <a:solidFill>
                <a:schemeClr val="lt1"/>
              </a:solidFill>
              <a:latin typeface="JetBrains Mono"/>
              <a:ea typeface="JetBrains Mono"/>
              <a:cs typeface="JetBrains Mono"/>
              <a:sym typeface="JetBrains Mono"/>
            </a:endParaRPr>
          </a:p>
        </p:txBody>
      </p:sp>
      <p:sp>
        <p:nvSpPr>
          <p:cNvPr id="347" name="Google Shape;347;p16"/>
          <p:cNvSpPr/>
          <p:nvPr/>
        </p:nvSpPr>
        <p:spPr>
          <a:xfrm>
            <a:off x="1041400" y="3578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dalServer =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DataInputStream(</a:t>
            </a:r>
            <a:endParaRPr b="0" i="0" sz="1200" u="none" cap="none" strike="noStrike">
              <a:solidFill>
                <a:schemeClr val="lt1"/>
              </a:solidFill>
              <a:latin typeface="JetBrains Mono"/>
              <a:ea typeface="JetBrains Mono"/>
              <a:cs typeface="JetBrains Mono"/>
              <a:sym typeface="JetBrains Mono"/>
            </a:endParaRPr>
          </a:p>
        </p:txBody>
      </p:sp>
      <p:sp>
        <p:nvSpPr>
          <p:cNvPr id="348" name="Google Shape;348;p16"/>
          <p:cNvSpPr/>
          <p:nvPr/>
        </p:nvSpPr>
        <p:spPr>
          <a:xfrm>
            <a:off x="1041400" y="3807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mio.getInputStream());</a:t>
            </a:r>
            <a:endParaRPr b="0" i="0" sz="1200" u="none" cap="none" strike="noStrike">
              <a:solidFill>
                <a:schemeClr val="lt1"/>
              </a:solidFill>
              <a:latin typeface="JetBrains Mono"/>
              <a:ea typeface="JetBrains Mono"/>
              <a:cs typeface="JetBrains Mono"/>
              <a:sym typeface="JetBrains Mono"/>
            </a:endParaRPr>
          </a:p>
        </p:txBody>
      </p:sp>
      <p:sp>
        <p:nvSpPr>
          <p:cNvPr id="349" name="Google Shape;349;p16"/>
          <p:cNvSpPr/>
          <p:nvPr/>
        </p:nvSpPr>
        <p:spPr>
          <a:xfrm>
            <a:off x="1041400" y="4036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 </a:t>
            </a:r>
            <a:r>
              <a:rPr b="0" i="0" lang="en-US" sz="1200" u="none" cap="none" strike="noStrike">
                <a:solidFill>
                  <a:srgbClr val="C4A7F5"/>
                </a:solidFill>
                <a:latin typeface="JetBrains Mono"/>
                <a:ea typeface="JetBrains Mono"/>
                <a:cs typeface="JetBrains Mono"/>
                <a:sym typeface="JetBrains Mono"/>
              </a:rPr>
              <a:t>catch</a:t>
            </a:r>
            <a:r>
              <a:rPr b="0" i="0" lang="en-US" sz="1200" u="none" cap="none" strike="noStrike">
                <a:solidFill>
                  <a:srgbClr val="E8E4DA"/>
                </a:solidFill>
                <a:latin typeface="JetBrains Mono"/>
                <a:ea typeface="JetBrains Mono"/>
                <a:cs typeface="JetBrains Mono"/>
                <a:sym typeface="JetBrains Mono"/>
              </a:rPr>
              <a:t> (Exception e) {</a:t>
            </a:r>
            <a:endParaRPr b="0" i="0" sz="1200" u="none" cap="none" strike="noStrike">
              <a:solidFill>
                <a:schemeClr val="lt1"/>
              </a:solidFill>
              <a:latin typeface="JetBrains Mono"/>
              <a:ea typeface="JetBrains Mono"/>
              <a:cs typeface="JetBrains Mono"/>
              <a:sym typeface="JetBrains Mono"/>
            </a:endParaRPr>
          </a:p>
        </p:txBody>
      </p:sp>
      <p:sp>
        <p:nvSpPr>
          <p:cNvPr id="350" name="Google Shape;350;p16"/>
          <p:cNvSpPr/>
          <p:nvPr/>
        </p:nvSpPr>
        <p:spPr>
          <a:xfrm>
            <a:off x="1041400" y="4264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5</a:t>
            </a:r>
            <a:r>
              <a:rPr b="0" i="0" lang="en-US" sz="1200" u="none" cap="none" strike="noStrike">
                <a:solidFill>
                  <a:srgbClr val="E8E4DA"/>
                </a:solidFill>
                <a:latin typeface="JetBrains Mono"/>
                <a:ea typeface="JetBrains Mono"/>
                <a:cs typeface="JetBrains Mono"/>
                <a:sym typeface="JetBrains Mono"/>
              </a:rPr>
              <a:t>          System.out.println(e.getMessage());</a:t>
            </a:r>
            <a:endParaRPr b="0" i="0" sz="1200" u="none" cap="none" strike="noStrike">
              <a:solidFill>
                <a:schemeClr val="lt1"/>
              </a:solidFill>
              <a:latin typeface="JetBrains Mono"/>
              <a:ea typeface="JetBrains Mono"/>
              <a:cs typeface="JetBrains Mono"/>
              <a:sym typeface="JetBrains Mono"/>
            </a:endParaRPr>
          </a:p>
        </p:txBody>
      </p:sp>
      <p:sp>
        <p:nvSpPr>
          <p:cNvPr id="351" name="Google Shape;351;p16"/>
          <p:cNvSpPr/>
          <p:nvPr/>
        </p:nvSpPr>
        <p:spPr>
          <a:xfrm>
            <a:off x="1041400" y="4493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352" name="Google Shape;352;p16"/>
          <p:cNvSpPr/>
          <p:nvPr/>
        </p:nvSpPr>
        <p:spPr>
          <a:xfrm>
            <a:off x="1041400" y="4721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353" name="Google Shape;353;p16"/>
          <p:cNvSpPr/>
          <p:nvPr/>
        </p:nvSpPr>
        <p:spPr>
          <a:xfrm>
            <a:off x="7721600" y="1775420"/>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1</a:t>
            </a:r>
            <a:endParaRPr b="0" i="0" sz="1200" u="none" cap="none" strike="noStrike">
              <a:solidFill>
                <a:schemeClr val="lt1"/>
              </a:solidFill>
              <a:latin typeface="JetBrains Mono"/>
              <a:ea typeface="JetBrains Mono"/>
              <a:cs typeface="JetBrains Mono"/>
              <a:sym typeface="JetBrains Mono"/>
            </a:endParaRPr>
          </a:p>
        </p:txBody>
      </p:sp>
      <p:sp>
        <p:nvSpPr>
          <p:cNvPr id="354" name="Google Shape;354;p16"/>
          <p:cNvSpPr/>
          <p:nvPr/>
        </p:nvSpPr>
        <p:spPr>
          <a:xfrm>
            <a:off x="8117880" y="1775420"/>
            <a:ext cx="335916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BufferedReader.</a:t>
            </a:r>
            <a:r>
              <a:rPr b="0" i="0" lang="en-US" sz="1300" u="none" cap="none" strike="noStrike">
                <a:solidFill>
                  <a:srgbClr val="D0D5DE"/>
                </a:solidFill>
                <a:latin typeface="IBM Plex Sans"/>
                <a:ea typeface="IBM Plex Sans"/>
                <a:cs typeface="IBM Plex Sans"/>
                <a:sym typeface="IBM Plex Sans"/>
              </a:rPr>
              <a:t> Legge righe di testo da System.in; InputStreamReader converte i byte in caratteri.</a:t>
            </a:r>
            <a:endParaRPr b="0" i="0" sz="1300" u="none" cap="none" strike="noStrike">
              <a:solidFill>
                <a:schemeClr val="lt1"/>
              </a:solidFill>
              <a:latin typeface="JetBrains Mono"/>
              <a:ea typeface="JetBrains Mono"/>
              <a:cs typeface="JetBrains Mono"/>
              <a:sym typeface="JetBrains Mono"/>
            </a:endParaRPr>
          </a:p>
        </p:txBody>
      </p:sp>
      <p:sp>
        <p:nvSpPr>
          <p:cNvPr id="355" name="Google Shape;355;p16"/>
          <p:cNvSpPr/>
          <p:nvPr/>
        </p:nvSpPr>
        <p:spPr>
          <a:xfrm>
            <a:off x="7721600" y="2570956"/>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2</a:t>
            </a:r>
            <a:endParaRPr b="0" i="0" sz="1200" u="none" cap="none" strike="noStrike">
              <a:solidFill>
                <a:schemeClr val="lt1"/>
              </a:solidFill>
              <a:latin typeface="JetBrains Mono"/>
              <a:ea typeface="JetBrains Mono"/>
              <a:cs typeface="JetBrains Mono"/>
              <a:sym typeface="JetBrains Mono"/>
            </a:endParaRPr>
          </a:p>
        </p:txBody>
      </p:sp>
      <p:sp>
        <p:nvSpPr>
          <p:cNvPr id="356" name="Google Shape;356;p16"/>
          <p:cNvSpPr/>
          <p:nvPr/>
        </p:nvSpPr>
        <p:spPr>
          <a:xfrm>
            <a:off x="8117880" y="2570956"/>
            <a:ext cx="335916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Socket.</a:t>
            </a:r>
            <a:r>
              <a:rPr b="0" i="0" lang="en-US" sz="1300" u="none" cap="none" strike="noStrike">
                <a:solidFill>
                  <a:srgbClr val="D0D5DE"/>
                </a:solidFill>
                <a:latin typeface="IBM Plex Sans"/>
                <a:ea typeface="IBM Plex Sans"/>
                <a:cs typeface="IBM Plex Sans"/>
                <a:sym typeface="IBM Plex Sans"/>
              </a:rPr>
              <a:t> Apre la connessione TCP verso nomeServer e porta. Lancia un'eccezione se il server non è in ascolto.</a:t>
            </a:r>
            <a:endParaRPr b="0" i="0" sz="1300" u="none" cap="none" strike="noStrike">
              <a:solidFill>
                <a:schemeClr val="lt1"/>
              </a:solidFill>
              <a:latin typeface="JetBrains Mono"/>
              <a:ea typeface="JetBrains Mono"/>
              <a:cs typeface="JetBrains Mono"/>
              <a:sym typeface="JetBrains Mono"/>
            </a:endParaRPr>
          </a:p>
        </p:txBody>
      </p:sp>
      <p:sp>
        <p:nvSpPr>
          <p:cNvPr id="357" name="Google Shape;357;p16"/>
          <p:cNvSpPr/>
          <p:nvPr/>
        </p:nvSpPr>
        <p:spPr>
          <a:xfrm>
            <a:off x="7721600" y="3366492"/>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3</a:t>
            </a:r>
            <a:endParaRPr b="0" i="0" sz="1200" u="none" cap="none" strike="noStrike">
              <a:solidFill>
                <a:schemeClr val="lt1"/>
              </a:solidFill>
              <a:latin typeface="JetBrains Mono"/>
              <a:ea typeface="JetBrains Mono"/>
              <a:cs typeface="JetBrains Mono"/>
              <a:sym typeface="JetBrains Mono"/>
            </a:endParaRPr>
          </a:p>
        </p:txBody>
      </p:sp>
      <p:sp>
        <p:nvSpPr>
          <p:cNvPr id="358" name="Google Shape;358;p16"/>
          <p:cNvSpPr/>
          <p:nvPr/>
        </p:nvSpPr>
        <p:spPr>
          <a:xfrm>
            <a:off x="8117880" y="3366492"/>
            <a:ext cx="335916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DataOutputStream.</a:t>
            </a:r>
            <a:r>
              <a:rPr b="0" i="0" lang="en-US" sz="1300" u="none" cap="none" strike="noStrike">
                <a:solidFill>
                  <a:srgbClr val="D0D5DE"/>
                </a:solidFill>
                <a:latin typeface="IBM Plex Sans"/>
                <a:ea typeface="IBM Plex Sans"/>
                <a:cs typeface="IBM Plex Sans"/>
                <a:sym typeface="IBM Plex Sans"/>
              </a:rPr>
              <a:t> Costruito sull'OutputStream del socket: invia dati al server.</a:t>
            </a:r>
            <a:endParaRPr b="0" i="0" sz="1300" u="none" cap="none" strike="noStrike">
              <a:solidFill>
                <a:schemeClr val="lt1"/>
              </a:solidFill>
              <a:latin typeface="JetBrains Mono"/>
              <a:ea typeface="JetBrains Mono"/>
              <a:cs typeface="JetBrains Mono"/>
              <a:sym typeface="JetBrains Mono"/>
            </a:endParaRPr>
          </a:p>
        </p:txBody>
      </p:sp>
      <p:sp>
        <p:nvSpPr>
          <p:cNvPr id="359" name="Google Shape;359;p16"/>
          <p:cNvSpPr/>
          <p:nvPr/>
        </p:nvSpPr>
        <p:spPr>
          <a:xfrm>
            <a:off x="7721600" y="4162028"/>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4</a:t>
            </a:r>
            <a:endParaRPr b="0" i="0" sz="1200" u="none" cap="none" strike="noStrike">
              <a:solidFill>
                <a:schemeClr val="lt1"/>
              </a:solidFill>
              <a:latin typeface="JetBrains Mono"/>
              <a:ea typeface="JetBrains Mono"/>
              <a:cs typeface="JetBrains Mono"/>
              <a:sym typeface="JetBrains Mono"/>
            </a:endParaRPr>
          </a:p>
        </p:txBody>
      </p:sp>
      <p:sp>
        <p:nvSpPr>
          <p:cNvPr id="360" name="Google Shape;360;p16"/>
          <p:cNvSpPr/>
          <p:nvPr/>
        </p:nvSpPr>
        <p:spPr>
          <a:xfrm>
            <a:off x="8117880" y="4162028"/>
            <a:ext cx="335916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DataInputStream.</a:t>
            </a:r>
            <a:r>
              <a:rPr b="0" i="0" lang="en-US" sz="1300" u="none" cap="none" strike="noStrike">
                <a:solidFill>
                  <a:srgbClr val="D0D5DE"/>
                </a:solidFill>
                <a:latin typeface="IBM Plex Sans"/>
                <a:ea typeface="IBM Plex Sans"/>
                <a:cs typeface="IBM Plex Sans"/>
                <a:sym typeface="IBM Plex Sans"/>
              </a:rPr>
              <a:t> Costruito sull'InputStream del socket: riceve dati dal server.</a:t>
            </a:r>
            <a:endParaRPr b="0" i="0" sz="1300" u="none" cap="none" strike="noStrike">
              <a:solidFill>
                <a:schemeClr val="lt1"/>
              </a:solidFill>
              <a:latin typeface="JetBrains Mono"/>
              <a:ea typeface="JetBrains Mono"/>
              <a:cs typeface="JetBrains Mono"/>
              <a:sym typeface="JetBrains Mono"/>
            </a:endParaRPr>
          </a:p>
        </p:txBody>
      </p:sp>
      <p:sp>
        <p:nvSpPr>
          <p:cNvPr id="361" name="Google Shape;361;p16"/>
          <p:cNvSpPr/>
          <p:nvPr/>
        </p:nvSpPr>
        <p:spPr>
          <a:xfrm>
            <a:off x="7721600" y="4957564"/>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5</a:t>
            </a:r>
            <a:endParaRPr b="0" i="0" sz="1200" u="none" cap="none" strike="noStrike">
              <a:solidFill>
                <a:schemeClr val="lt1"/>
              </a:solidFill>
              <a:latin typeface="JetBrains Mono"/>
              <a:ea typeface="JetBrains Mono"/>
              <a:cs typeface="JetBrains Mono"/>
              <a:sym typeface="JetBrains Mono"/>
            </a:endParaRPr>
          </a:p>
        </p:txBody>
      </p:sp>
      <p:sp>
        <p:nvSpPr>
          <p:cNvPr id="362" name="Google Shape;362;p16"/>
          <p:cNvSpPr/>
          <p:nvPr/>
        </p:nvSpPr>
        <p:spPr>
          <a:xfrm>
            <a:off x="8117880" y="4957564"/>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catch.</a:t>
            </a:r>
            <a:r>
              <a:rPr b="0" i="0" lang="en-US" sz="1300" u="none" cap="none" strike="noStrike">
                <a:solidFill>
                  <a:srgbClr val="D0D5DE"/>
                </a:solidFill>
                <a:latin typeface="IBM Plex Sans"/>
                <a:ea typeface="IBM Plex Sans"/>
                <a:cs typeface="IBM Plex Sans"/>
                <a:sym typeface="IBM Plex Sans"/>
              </a:rPr>
              <a:t> Intercetta l'eccezione e ne stampa il messaggio.</a:t>
            </a:r>
            <a:endParaRPr b="0" i="0" sz="1300" u="none" cap="none" strike="noStrike">
              <a:solidFill>
                <a:schemeClr val="lt1"/>
              </a:solidFill>
              <a:latin typeface="JetBrains Mono"/>
              <a:ea typeface="JetBrains Mono"/>
              <a:cs typeface="JetBrains Mono"/>
              <a:sym typeface="JetBrains Mono"/>
            </a:endParaRPr>
          </a:p>
        </p:txBody>
      </p:sp>
      <p:sp>
        <p:nvSpPr>
          <p:cNvPr id="363" name="Google Shape;363;p16"/>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364" name="Google Shape;364;p16"/>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16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369" name="Shape 369"/>
        <p:cNvGrpSpPr/>
        <p:nvPr/>
      </p:nvGrpSpPr>
      <p:grpSpPr>
        <a:xfrm>
          <a:off x="0" y="0"/>
          <a:ext cx="0" cy="0"/>
          <a:chOff x="0" y="0"/>
          <a:chExt cx="0" cy="0"/>
        </a:xfrm>
      </p:grpSpPr>
      <p:sp>
        <p:nvSpPr>
          <p:cNvPr id="370" name="Google Shape;370;p1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CLIENT · COMUNICA()</a:t>
            </a:r>
            <a:endParaRPr b="0" i="0" sz="1200" u="none" cap="none" strike="noStrike">
              <a:solidFill>
                <a:schemeClr val="lt1"/>
              </a:solidFill>
              <a:latin typeface="JetBrains Mono"/>
              <a:ea typeface="JetBrains Mono"/>
              <a:cs typeface="JetBrains Mono"/>
              <a:sym typeface="JetBrains Mono"/>
            </a:endParaRPr>
          </a:p>
        </p:txBody>
      </p:sp>
      <p:sp>
        <p:nvSpPr>
          <p:cNvPr id="371" name="Google Shape;371;p17"/>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Inviare un messaggio e leggere la risposta</a:t>
            </a:r>
            <a:endParaRPr sz="3000"/>
          </a:p>
        </p:txBody>
      </p:sp>
      <p:sp>
        <p:nvSpPr>
          <p:cNvPr id="372" name="Google Shape;372;p17"/>
          <p:cNvSpPr/>
          <p:nvPr/>
        </p:nvSpPr>
        <p:spPr>
          <a:xfrm>
            <a:off x="812800" y="1775420"/>
            <a:ext cx="6604000" cy="3149600"/>
          </a:xfrm>
          <a:prstGeom prst="roundRect">
            <a:avLst>
              <a:gd fmla="val 4032"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7"/>
          <p:cNvSpPr/>
          <p:nvPr/>
        </p:nvSpPr>
        <p:spPr>
          <a:xfrm>
            <a:off x="1041400" y="1978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public void</a:t>
            </a:r>
            <a:r>
              <a:rPr b="0" i="0" lang="en-US" sz="1200" u="none" cap="none" strike="noStrike">
                <a:solidFill>
                  <a:srgbClr val="E8E4DA"/>
                </a:solidFill>
                <a:latin typeface="JetBrains Mono"/>
                <a:ea typeface="JetBrains Mono"/>
                <a:cs typeface="JetBrains Mono"/>
                <a:sym typeface="JetBrains Mono"/>
              </a:rPr>
              <a:t> comunica() {</a:t>
            </a:r>
            <a:endParaRPr b="0" i="0" sz="1200" u="none" cap="none" strike="noStrike">
              <a:solidFill>
                <a:schemeClr val="lt1"/>
              </a:solidFill>
              <a:latin typeface="JetBrains Mono"/>
              <a:ea typeface="JetBrains Mono"/>
              <a:cs typeface="JetBrains Mono"/>
              <a:sym typeface="JetBrains Mono"/>
            </a:endParaRPr>
          </a:p>
        </p:txBody>
      </p:sp>
      <p:sp>
        <p:nvSpPr>
          <p:cNvPr id="374" name="Google Shape;374;p17"/>
          <p:cNvSpPr/>
          <p:nvPr/>
        </p:nvSpPr>
        <p:spPr>
          <a:xfrm>
            <a:off x="1041400" y="2207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try</a:t>
            </a: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375" name="Google Shape;375;p17"/>
          <p:cNvSpPr/>
          <p:nvPr/>
        </p:nvSpPr>
        <p:spPr>
          <a:xfrm>
            <a:off x="1041400" y="2435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1</a:t>
            </a:r>
            <a:r>
              <a:rPr b="0" i="0" lang="en-US" sz="1200" u="none" cap="none" strike="noStrike">
                <a:solidFill>
                  <a:srgbClr val="E8E4DA"/>
                </a:solidFill>
                <a:latin typeface="JetBrains Mono"/>
                <a:ea typeface="JetBrains Mono"/>
                <a:cs typeface="JetBrains Mono"/>
                <a:sym typeface="JetBrains Mono"/>
              </a:rPr>
              <a:t>          System.out.println(</a:t>
            </a:r>
            <a:r>
              <a:rPr b="0" i="0" lang="en-US" sz="1200" u="none" cap="none" strike="noStrike">
                <a:solidFill>
                  <a:srgbClr val="9FD89A"/>
                </a:solidFill>
                <a:latin typeface="JetBrains Mono"/>
                <a:ea typeface="JetBrains Mono"/>
                <a:cs typeface="JetBrains Mono"/>
                <a:sym typeface="JetBrains Mono"/>
              </a:rPr>
              <a:t>"Messaggio per il server:"</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376" name="Google Shape;376;p17"/>
          <p:cNvSpPr/>
          <p:nvPr/>
        </p:nvSpPr>
        <p:spPr>
          <a:xfrm>
            <a:off x="1041400" y="2664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1</a:t>
            </a:r>
            <a:r>
              <a:rPr b="0" i="0" lang="en-US" sz="1200" u="none" cap="none" strike="noStrike">
                <a:solidFill>
                  <a:srgbClr val="E8E4DA"/>
                </a:solidFill>
                <a:latin typeface="JetBrains Mono"/>
                <a:ea typeface="JetBrains Mono"/>
                <a:cs typeface="JetBrains Mono"/>
                <a:sym typeface="JetBrains Mono"/>
              </a:rPr>
              <a:t>          messaggioClient = tastiera.readLine();</a:t>
            </a:r>
            <a:endParaRPr b="0" i="0" sz="1200" u="none" cap="none" strike="noStrike">
              <a:solidFill>
                <a:schemeClr val="lt1"/>
              </a:solidFill>
              <a:latin typeface="JetBrains Mono"/>
              <a:ea typeface="JetBrains Mono"/>
              <a:cs typeface="JetBrains Mono"/>
              <a:sym typeface="JetBrains Mono"/>
            </a:endParaRPr>
          </a:p>
        </p:txBody>
      </p:sp>
      <p:sp>
        <p:nvSpPr>
          <p:cNvPr id="377" name="Google Shape;377;p17"/>
          <p:cNvSpPr/>
          <p:nvPr/>
        </p:nvSpPr>
        <p:spPr>
          <a:xfrm>
            <a:off x="1041400" y="2893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2</a:t>
            </a:r>
            <a:r>
              <a:rPr b="0" i="0" lang="en-US" sz="1200" u="none" cap="none" strike="noStrike">
                <a:solidFill>
                  <a:srgbClr val="E8E4DA"/>
                </a:solidFill>
                <a:latin typeface="JetBrains Mono"/>
                <a:ea typeface="JetBrains Mono"/>
                <a:cs typeface="JetBrains Mono"/>
                <a:sym typeface="JetBrains Mono"/>
              </a:rPr>
              <a:t>          versoServer.writeBytes(messaggioClient + </a:t>
            </a:r>
            <a:r>
              <a:rPr b="0" i="0" lang="en-US" sz="1200" u="none" cap="none" strike="noStrike">
                <a:solidFill>
                  <a:srgbClr val="9FD89A"/>
                </a:solidFill>
                <a:latin typeface="JetBrains Mono"/>
                <a:ea typeface="JetBrains Mono"/>
                <a:cs typeface="JetBrains Mono"/>
                <a:sym typeface="JetBrains Mono"/>
              </a:rPr>
              <a:t>"\n"</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378" name="Google Shape;378;p17"/>
          <p:cNvSpPr/>
          <p:nvPr/>
        </p:nvSpPr>
        <p:spPr>
          <a:xfrm>
            <a:off x="1041400" y="3121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3</a:t>
            </a:r>
            <a:r>
              <a:rPr b="0" i="0" lang="en-US" sz="1200" u="none" cap="none" strike="noStrike">
                <a:solidFill>
                  <a:srgbClr val="E8E4DA"/>
                </a:solidFill>
                <a:latin typeface="JetBrains Mono"/>
                <a:ea typeface="JetBrains Mono"/>
                <a:cs typeface="JetBrains Mono"/>
                <a:sym typeface="JetBrains Mono"/>
              </a:rPr>
              <a:t>          messaggioServer = dalServer.readLine();</a:t>
            </a:r>
            <a:endParaRPr b="0" i="0" sz="1200" u="none" cap="none" strike="noStrike">
              <a:solidFill>
                <a:schemeClr val="lt1"/>
              </a:solidFill>
              <a:latin typeface="JetBrains Mono"/>
              <a:ea typeface="JetBrains Mono"/>
              <a:cs typeface="JetBrains Mono"/>
              <a:sym typeface="JetBrains Mono"/>
            </a:endParaRPr>
          </a:p>
        </p:txBody>
      </p:sp>
      <p:sp>
        <p:nvSpPr>
          <p:cNvPr id="379" name="Google Shape;379;p17"/>
          <p:cNvSpPr/>
          <p:nvPr/>
        </p:nvSpPr>
        <p:spPr>
          <a:xfrm>
            <a:off x="1041400" y="3350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3</a:t>
            </a:r>
            <a:r>
              <a:rPr b="0" i="0" lang="en-US" sz="1200" u="none" cap="none" strike="noStrike">
                <a:solidFill>
                  <a:srgbClr val="E8E4DA"/>
                </a:solidFill>
                <a:latin typeface="JetBrains Mono"/>
                <a:ea typeface="JetBrains Mono"/>
                <a:cs typeface="JetBrains Mono"/>
                <a:sym typeface="JetBrains Mono"/>
              </a:rPr>
              <a:t>          System.out.println(</a:t>
            </a:r>
            <a:r>
              <a:rPr b="0" i="0" lang="en-US" sz="1200" u="none" cap="none" strike="noStrike">
                <a:solidFill>
                  <a:srgbClr val="9FD89A"/>
                </a:solidFill>
                <a:latin typeface="JetBrains Mono"/>
                <a:ea typeface="JetBrains Mono"/>
                <a:cs typeface="JetBrains Mono"/>
                <a:sym typeface="JetBrains Mono"/>
              </a:rPr>
              <a:t>"Risposta: "</a:t>
            </a:r>
            <a:r>
              <a:rPr b="0" i="0" lang="en-US" sz="1200" u="none" cap="none" strike="noStrike">
                <a:solidFill>
                  <a:srgbClr val="E8E4DA"/>
                </a:solidFill>
                <a:latin typeface="JetBrains Mono"/>
                <a:ea typeface="JetBrains Mono"/>
                <a:cs typeface="JetBrains Mono"/>
                <a:sym typeface="JetBrains Mono"/>
              </a:rPr>
              <a:t> + messaggioServer);</a:t>
            </a:r>
            <a:endParaRPr b="0" i="0" sz="1200" u="none" cap="none" strike="noStrike">
              <a:solidFill>
                <a:schemeClr val="lt1"/>
              </a:solidFill>
              <a:latin typeface="JetBrains Mono"/>
              <a:ea typeface="JetBrains Mono"/>
              <a:cs typeface="JetBrains Mono"/>
              <a:sym typeface="JetBrains Mono"/>
            </a:endParaRPr>
          </a:p>
        </p:txBody>
      </p:sp>
      <p:sp>
        <p:nvSpPr>
          <p:cNvPr id="380" name="Google Shape;380;p17"/>
          <p:cNvSpPr/>
          <p:nvPr/>
        </p:nvSpPr>
        <p:spPr>
          <a:xfrm>
            <a:off x="1041400" y="3578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mio.close();</a:t>
            </a:r>
            <a:endParaRPr b="0" i="0" sz="1200" u="none" cap="none" strike="noStrike">
              <a:solidFill>
                <a:schemeClr val="lt1"/>
              </a:solidFill>
              <a:latin typeface="JetBrains Mono"/>
              <a:ea typeface="JetBrains Mono"/>
              <a:cs typeface="JetBrains Mono"/>
              <a:sym typeface="JetBrains Mono"/>
            </a:endParaRPr>
          </a:p>
        </p:txBody>
      </p:sp>
      <p:sp>
        <p:nvSpPr>
          <p:cNvPr id="381" name="Google Shape;381;p17"/>
          <p:cNvSpPr/>
          <p:nvPr/>
        </p:nvSpPr>
        <p:spPr>
          <a:xfrm>
            <a:off x="1041400" y="3807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 </a:t>
            </a:r>
            <a:r>
              <a:rPr b="0" i="0" lang="en-US" sz="1200" u="none" cap="none" strike="noStrike">
                <a:solidFill>
                  <a:srgbClr val="C4A7F5"/>
                </a:solidFill>
                <a:latin typeface="JetBrains Mono"/>
                <a:ea typeface="JetBrains Mono"/>
                <a:cs typeface="JetBrains Mono"/>
                <a:sym typeface="JetBrains Mono"/>
              </a:rPr>
              <a:t>catch</a:t>
            </a:r>
            <a:r>
              <a:rPr b="0" i="0" lang="en-US" sz="1200" u="none" cap="none" strike="noStrike">
                <a:solidFill>
                  <a:srgbClr val="E8E4DA"/>
                </a:solidFill>
                <a:latin typeface="JetBrains Mono"/>
                <a:ea typeface="JetBrains Mono"/>
                <a:cs typeface="JetBrains Mono"/>
                <a:sym typeface="JetBrains Mono"/>
              </a:rPr>
              <a:t> (Exception e) {</a:t>
            </a:r>
            <a:endParaRPr b="0" i="0" sz="1200" u="none" cap="none" strike="noStrike">
              <a:solidFill>
                <a:schemeClr val="lt1"/>
              </a:solidFill>
              <a:latin typeface="JetBrains Mono"/>
              <a:ea typeface="JetBrains Mono"/>
              <a:cs typeface="JetBrains Mono"/>
              <a:sym typeface="JetBrains Mono"/>
            </a:endParaRPr>
          </a:p>
        </p:txBody>
      </p:sp>
      <p:sp>
        <p:nvSpPr>
          <p:cNvPr id="382" name="Google Shape;382;p17"/>
          <p:cNvSpPr/>
          <p:nvPr/>
        </p:nvSpPr>
        <p:spPr>
          <a:xfrm>
            <a:off x="1041400" y="4036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5</a:t>
            </a:r>
            <a:r>
              <a:rPr b="0" i="0" lang="en-US" sz="1200" u="none" cap="none" strike="noStrike">
                <a:solidFill>
                  <a:srgbClr val="E8E4DA"/>
                </a:solidFill>
                <a:latin typeface="JetBrains Mono"/>
                <a:ea typeface="JetBrains Mono"/>
                <a:cs typeface="JetBrains Mono"/>
                <a:sym typeface="JetBrains Mono"/>
              </a:rPr>
              <a:t>          System.out.println(e.getMessage());</a:t>
            </a:r>
            <a:endParaRPr b="0" i="0" sz="1200" u="none" cap="none" strike="noStrike">
              <a:solidFill>
                <a:schemeClr val="lt1"/>
              </a:solidFill>
              <a:latin typeface="JetBrains Mono"/>
              <a:ea typeface="JetBrains Mono"/>
              <a:cs typeface="JetBrains Mono"/>
              <a:sym typeface="JetBrains Mono"/>
            </a:endParaRPr>
          </a:p>
        </p:txBody>
      </p:sp>
      <p:sp>
        <p:nvSpPr>
          <p:cNvPr id="383" name="Google Shape;383;p17"/>
          <p:cNvSpPr/>
          <p:nvPr/>
        </p:nvSpPr>
        <p:spPr>
          <a:xfrm>
            <a:off x="1041400" y="4264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384" name="Google Shape;384;p17"/>
          <p:cNvSpPr/>
          <p:nvPr/>
        </p:nvSpPr>
        <p:spPr>
          <a:xfrm>
            <a:off x="1041400" y="4493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385" name="Google Shape;385;p17"/>
          <p:cNvSpPr/>
          <p:nvPr/>
        </p:nvSpPr>
        <p:spPr>
          <a:xfrm>
            <a:off x="7721600" y="1775420"/>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1</a:t>
            </a:r>
            <a:endParaRPr b="0" i="0" sz="1200" u="none" cap="none" strike="noStrike">
              <a:solidFill>
                <a:schemeClr val="lt1"/>
              </a:solidFill>
              <a:latin typeface="JetBrains Mono"/>
              <a:ea typeface="JetBrains Mono"/>
              <a:cs typeface="JetBrains Mono"/>
              <a:sym typeface="JetBrains Mono"/>
            </a:endParaRPr>
          </a:p>
        </p:txBody>
      </p:sp>
      <p:sp>
        <p:nvSpPr>
          <p:cNvPr id="386" name="Google Shape;386;p17"/>
          <p:cNvSpPr/>
          <p:nvPr/>
        </p:nvSpPr>
        <p:spPr>
          <a:xfrm>
            <a:off x="8117880" y="1775420"/>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tastiera.readLine().</a:t>
            </a:r>
            <a:r>
              <a:rPr b="0" i="0" lang="en-US" sz="1300" u="none" cap="none" strike="noStrike">
                <a:solidFill>
                  <a:srgbClr val="D0D5DE"/>
                </a:solidFill>
                <a:latin typeface="IBM Plex Sans"/>
                <a:ea typeface="IBM Plex Sans"/>
                <a:cs typeface="IBM Plex Sans"/>
                <a:sym typeface="IBM Plex Sans"/>
              </a:rPr>
              <a:t> Legge una riga da System.in e la assegna a messaggioClient.</a:t>
            </a:r>
            <a:endParaRPr b="0" i="0" sz="1300" u="none" cap="none" strike="noStrike">
              <a:solidFill>
                <a:schemeClr val="lt1"/>
              </a:solidFill>
              <a:latin typeface="JetBrains Mono"/>
              <a:ea typeface="JetBrains Mono"/>
              <a:cs typeface="JetBrains Mono"/>
              <a:sym typeface="JetBrains Mono"/>
            </a:endParaRPr>
          </a:p>
        </p:txBody>
      </p:sp>
      <p:sp>
        <p:nvSpPr>
          <p:cNvPr id="387" name="Google Shape;387;p17"/>
          <p:cNvSpPr/>
          <p:nvPr/>
        </p:nvSpPr>
        <p:spPr>
          <a:xfrm>
            <a:off x="7721600" y="2348111"/>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2</a:t>
            </a:r>
            <a:endParaRPr b="0" i="0" sz="1200" u="none" cap="none" strike="noStrike">
              <a:solidFill>
                <a:schemeClr val="lt1"/>
              </a:solidFill>
              <a:latin typeface="JetBrains Mono"/>
              <a:ea typeface="JetBrains Mono"/>
              <a:cs typeface="JetBrains Mono"/>
              <a:sym typeface="JetBrains Mono"/>
            </a:endParaRPr>
          </a:p>
        </p:txBody>
      </p:sp>
      <p:sp>
        <p:nvSpPr>
          <p:cNvPr id="388" name="Google Shape;388;p17"/>
          <p:cNvSpPr/>
          <p:nvPr/>
        </p:nvSpPr>
        <p:spPr>
          <a:xfrm>
            <a:off x="8117880" y="2348111"/>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writeBytes().</a:t>
            </a:r>
            <a:r>
              <a:rPr b="0" i="0" lang="en-US" sz="1300" u="none" cap="none" strike="noStrike">
                <a:solidFill>
                  <a:srgbClr val="D0D5DE"/>
                </a:solidFill>
                <a:latin typeface="IBM Plex Sans"/>
                <a:ea typeface="IBM Plex Sans"/>
                <a:cs typeface="IBM Plex Sans"/>
                <a:sym typeface="IBM Plex Sans"/>
              </a:rPr>
              <a:t> Scrive la stringa sullo stream di output. "\n" è il terminatore di riga.</a:t>
            </a:r>
            <a:endParaRPr b="0" i="0" sz="1300" u="none" cap="none" strike="noStrike">
              <a:solidFill>
                <a:schemeClr val="lt1"/>
              </a:solidFill>
              <a:latin typeface="JetBrains Mono"/>
              <a:ea typeface="JetBrains Mono"/>
              <a:cs typeface="JetBrains Mono"/>
              <a:sym typeface="JetBrains Mono"/>
            </a:endParaRPr>
          </a:p>
        </p:txBody>
      </p:sp>
      <p:sp>
        <p:nvSpPr>
          <p:cNvPr id="389" name="Google Shape;389;p17"/>
          <p:cNvSpPr/>
          <p:nvPr/>
        </p:nvSpPr>
        <p:spPr>
          <a:xfrm>
            <a:off x="7721600" y="2920802"/>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3</a:t>
            </a:r>
            <a:endParaRPr b="0" i="0" sz="1200" u="none" cap="none" strike="noStrike">
              <a:solidFill>
                <a:schemeClr val="lt1"/>
              </a:solidFill>
              <a:latin typeface="JetBrains Mono"/>
              <a:ea typeface="JetBrains Mono"/>
              <a:cs typeface="JetBrains Mono"/>
              <a:sym typeface="JetBrains Mono"/>
            </a:endParaRPr>
          </a:p>
        </p:txBody>
      </p:sp>
      <p:sp>
        <p:nvSpPr>
          <p:cNvPr id="390" name="Google Shape;390;p17"/>
          <p:cNvSpPr/>
          <p:nvPr/>
        </p:nvSpPr>
        <p:spPr>
          <a:xfrm>
            <a:off x="8117880" y="2920802"/>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dalServer.readLine().</a:t>
            </a:r>
            <a:r>
              <a:rPr b="0" i="0" lang="en-US" sz="1300" u="none" cap="none" strike="noStrike">
                <a:solidFill>
                  <a:srgbClr val="D0D5DE"/>
                </a:solidFill>
                <a:latin typeface="IBM Plex Sans"/>
                <a:ea typeface="IBM Plex Sans"/>
                <a:cs typeface="IBM Plex Sans"/>
                <a:sym typeface="IBM Plex Sans"/>
              </a:rPr>
              <a:t> Bloccante: attende la riga di risposta del server.</a:t>
            </a:r>
            <a:endParaRPr b="0" i="0" sz="1300" u="none" cap="none" strike="noStrike">
              <a:solidFill>
                <a:schemeClr val="lt1"/>
              </a:solidFill>
              <a:latin typeface="JetBrains Mono"/>
              <a:ea typeface="JetBrains Mono"/>
              <a:cs typeface="JetBrains Mono"/>
              <a:sym typeface="JetBrains Mono"/>
            </a:endParaRPr>
          </a:p>
        </p:txBody>
      </p:sp>
      <p:sp>
        <p:nvSpPr>
          <p:cNvPr id="391" name="Google Shape;391;p17"/>
          <p:cNvSpPr/>
          <p:nvPr/>
        </p:nvSpPr>
        <p:spPr>
          <a:xfrm>
            <a:off x="7721600" y="3493492"/>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4</a:t>
            </a:r>
            <a:endParaRPr b="0" i="0" sz="1200" u="none" cap="none" strike="noStrike">
              <a:solidFill>
                <a:schemeClr val="lt1"/>
              </a:solidFill>
              <a:latin typeface="JetBrains Mono"/>
              <a:ea typeface="JetBrains Mono"/>
              <a:cs typeface="JetBrains Mono"/>
              <a:sym typeface="JetBrains Mono"/>
            </a:endParaRPr>
          </a:p>
        </p:txBody>
      </p:sp>
      <p:sp>
        <p:nvSpPr>
          <p:cNvPr id="392" name="Google Shape;392;p17"/>
          <p:cNvSpPr/>
          <p:nvPr/>
        </p:nvSpPr>
        <p:spPr>
          <a:xfrm>
            <a:off x="8117880" y="3493492"/>
            <a:ext cx="3359160" cy="24824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close().</a:t>
            </a:r>
            <a:r>
              <a:rPr b="0" i="0" lang="en-US" sz="1300" u="none" cap="none" strike="noStrike">
                <a:solidFill>
                  <a:srgbClr val="D0D5DE"/>
                </a:solidFill>
                <a:latin typeface="IBM Plex Sans"/>
                <a:ea typeface="IBM Plex Sans"/>
                <a:cs typeface="IBM Plex Sans"/>
                <a:sym typeface="IBM Plex Sans"/>
              </a:rPr>
              <a:t> Chiude il socket e i relativi stream.</a:t>
            </a:r>
            <a:endParaRPr b="0" i="0" sz="1300" u="none" cap="none" strike="noStrike">
              <a:solidFill>
                <a:schemeClr val="lt1"/>
              </a:solidFill>
              <a:latin typeface="JetBrains Mono"/>
              <a:ea typeface="JetBrains Mono"/>
              <a:cs typeface="JetBrains Mono"/>
              <a:sym typeface="JetBrains Mono"/>
            </a:endParaRPr>
          </a:p>
        </p:txBody>
      </p:sp>
      <p:sp>
        <p:nvSpPr>
          <p:cNvPr id="393" name="Google Shape;393;p17"/>
          <p:cNvSpPr/>
          <p:nvPr/>
        </p:nvSpPr>
        <p:spPr>
          <a:xfrm>
            <a:off x="7721600" y="3884613"/>
            <a:ext cx="269280" cy="264120"/>
          </a:xfrm>
          <a:prstGeom prst="roundRect">
            <a:avLst>
              <a:gd fmla="val 19234" name="adj"/>
            </a:avLst>
          </a:prstGeom>
          <a:solidFill>
            <a:srgbClr val="2563C9"/>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5</a:t>
            </a:r>
            <a:endParaRPr b="0" i="0" sz="1200" u="none" cap="none" strike="noStrike">
              <a:solidFill>
                <a:schemeClr val="lt1"/>
              </a:solidFill>
              <a:latin typeface="JetBrains Mono"/>
              <a:ea typeface="JetBrains Mono"/>
              <a:cs typeface="JetBrains Mono"/>
              <a:sym typeface="JetBrains Mono"/>
            </a:endParaRPr>
          </a:p>
        </p:txBody>
      </p:sp>
      <p:sp>
        <p:nvSpPr>
          <p:cNvPr id="394" name="Google Shape;394;p17"/>
          <p:cNvSpPr/>
          <p:nvPr/>
        </p:nvSpPr>
        <p:spPr>
          <a:xfrm>
            <a:off x="8117880" y="3884613"/>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catch.</a:t>
            </a:r>
            <a:r>
              <a:rPr b="0" i="0" lang="en-US" sz="1300" u="none" cap="none" strike="noStrike">
                <a:solidFill>
                  <a:srgbClr val="D0D5DE"/>
                </a:solidFill>
                <a:latin typeface="IBM Plex Sans"/>
                <a:ea typeface="IBM Plex Sans"/>
                <a:cs typeface="IBM Plex Sans"/>
                <a:sym typeface="IBM Plex Sans"/>
              </a:rPr>
              <a:t> Gestisce le eccezioni di I/O, ad esempio una connessione interrotta.</a:t>
            </a:r>
            <a:endParaRPr b="0" i="0" sz="1300" u="none" cap="none" strike="noStrike">
              <a:solidFill>
                <a:schemeClr val="lt1"/>
              </a:solidFill>
              <a:latin typeface="JetBrains Mono"/>
              <a:ea typeface="JetBrains Mono"/>
              <a:cs typeface="JetBrains Mono"/>
              <a:sym typeface="JetBrains Mono"/>
            </a:endParaRPr>
          </a:p>
        </p:txBody>
      </p:sp>
      <p:sp>
        <p:nvSpPr>
          <p:cNvPr id="395" name="Google Shape;395;p17"/>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396" name="Google Shape;396;p17"/>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17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401" name="Shape 401"/>
        <p:cNvGrpSpPr/>
        <p:nvPr/>
      </p:nvGrpSpPr>
      <p:grpSpPr>
        <a:xfrm>
          <a:off x="0" y="0"/>
          <a:ext cx="0" cy="0"/>
          <a:chOff x="0" y="0"/>
          <a:chExt cx="0" cy="0"/>
        </a:xfrm>
      </p:grpSpPr>
      <p:sp>
        <p:nvSpPr>
          <p:cNvPr id="402" name="Google Shape;402;p1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0" i="0" lang="en-US" sz="1200" u="none" cap="none" strike="noStrike">
                <a:solidFill>
                  <a:srgbClr val="7FB2FF"/>
                </a:solidFill>
                <a:latin typeface="JetBrains Mono"/>
                <a:ea typeface="JetBrains Mono"/>
                <a:cs typeface="JetBrains Mono"/>
                <a:sym typeface="JetBrains Mono"/>
              </a:rPr>
              <a:t>CLIENT · ATTENZIONE</a:t>
            </a:r>
            <a:endParaRPr b="0" i="0" sz="1200" u="none" cap="none" strike="noStrike">
              <a:solidFill>
                <a:schemeClr val="lt1"/>
              </a:solidFill>
              <a:latin typeface="JetBrains Mono"/>
              <a:ea typeface="JetBrains Mono"/>
              <a:cs typeface="JetBrains Mono"/>
              <a:sym typeface="JetBrains Mono"/>
            </a:endParaRPr>
          </a:p>
        </p:txBody>
      </p:sp>
      <p:sp>
        <p:nvSpPr>
          <p:cNvPr id="403" name="Google Shape;403;p18"/>
          <p:cNvSpPr/>
          <p:nvPr/>
        </p:nvSpPr>
        <p:spPr>
          <a:xfrm>
            <a:off x="812800" y="2195810"/>
            <a:ext cx="5079950" cy="1930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9FD89A"/>
              </a:buClr>
              <a:buSzPts val="15000"/>
              <a:buFont typeface="JetBrains Mono"/>
              <a:buNone/>
            </a:pPr>
            <a:r>
              <a:rPr b="1" i="0" lang="en-US" sz="15000" u="none" cap="none" strike="noStrike">
                <a:solidFill>
                  <a:srgbClr val="9FD89A"/>
                </a:solidFill>
                <a:latin typeface="JetBrains Mono"/>
                <a:ea typeface="JetBrains Mono"/>
                <a:cs typeface="JetBrains Mono"/>
                <a:sym typeface="JetBrains Mono"/>
              </a:rPr>
              <a:t>"\n"</a:t>
            </a:r>
            <a:endParaRPr b="0" i="0" sz="15000" u="none" cap="none" strike="noStrike">
              <a:solidFill>
                <a:schemeClr val="lt1"/>
              </a:solidFill>
              <a:latin typeface="JetBrains Mono"/>
              <a:ea typeface="JetBrains Mono"/>
              <a:cs typeface="JetBrains Mono"/>
              <a:sym typeface="JetBrains Mono"/>
            </a:endParaRPr>
          </a:p>
        </p:txBody>
      </p:sp>
      <p:sp>
        <p:nvSpPr>
          <p:cNvPr id="404" name="Google Shape;404;p18"/>
          <p:cNvSpPr txBox="1"/>
          <p:nvPr>
            <p:ph type="title"/>
          </p:nvPr>
        </p:nvSpPr>
        <p:spPr>
          <a:xfrm>
            <a:off x="5892750" y="2247950"/>
            <a:ext cx="5651043" cy="103118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600"/>
              <a:buFont typeface="IBM Plex Sans"/>
              <a:buNone/>
            </a:pPr>
            <a:r>
              <a:rPr b="1" i="0" lang="en-US" sz="3600">
                <a:solidFill>
                  <a:srgbClr val="F2EFE6"/>
                </a:solidFill>
                <a:latin typeface="IBM Plex Sans"/>
                <a:ea typeface="IBM Plex Sans"/>
                <a:cs typeface="IBM Plex Sans"/>
                <a:sym typeface="IBM Plex Sans"/>
              </a:rPr>
              <a:t>Il terminatore di riga richiesto da readLine()</a:t>
            </a:r>
            <a:endParaRPr sz="3600"/>
          </a:p>
        </p:txBody>
      </p:sp>
      <p:sp>
        <p:nvSpPr>
          <p:cNvPr id="405" name="Google Shape;405;p18"/>
          <p:cNvSpPr/>
          <p:nvPr/>
        </p:nvSpPr>
        <p:spPr>
          <a:xfrm>
            <a:off x="5892750" y="3431530"/>
            <a:ext cx="5651043" cy="64254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800"/>
              <a:buFont typeface="IBM Plex Sans"/>
              <a:buNone/>
            </a:pPr>
            <a:r>
              <a:rPr b="0" i="0" lang="en-US" sz="1800" u="none" cap="none" strike="noStrike">
                <a:solidFill>
                  <a:srgbClr val="D0D5DE"/>
                </a:solidFill>
                <a:latin typeface="IBM Plex Sans"/>
                <a:ea typeface="IBM Plex Sans"/>
                <a:cs typeface="IBM Plex Sans"/>
                <a:sym typeface="IBM Plex Sans"/>
              </a:rPr>
              <a:t>readLine() è bloccante: ritorna solo alla ricezione di "\n". Senza terminatore il ricevente resta in attesa.</a:t>
            </a:r>
            <a:endParaRPr b="0" i="0" sz="1800" u="none" cap="none" strike="noStrike">
              <a:solidFill>
                <a:schemeClr val="lt1"/>
              </a:solidFill>
              <a:latin typeface="JetBrains Mono"/>
              <a:ea typeface="JetBrains Mono"/>
              <a:cs typeface="JetBrains Mono"/>
              <a:sym typeface="JetBrains Mono"/>
            </a:endParaRPr>
          </a:p>
        </p:txBody>
      </p:sp>
      <p:sp>
        <p:nvSpPr>
          <p:cNvPr id="406" name="Google Shape;406;p18"/>
          <p:cNvSpPr/>
          <p:nvPr/>
        </p:nvSpPr>
        <p:spPr>
          <a:xfrm>
            <a:off x="812800" y="5270500"/>
            <a:ext cx="10566400" cy="571500"/>
          </a:xfrm>
          <a:prstGeom prst="roundRect">
            <a:avLst>
              <a:gd fmla="val 17778" name="adj"/>
            </a:avLst>
          </a:prstGeom>
          <a:solidFill>
            <a:srgbClr val="182030"/>
          </a:solidFill>
          <a:ln>
            <a:noFill/>
          </a:ln>
        </p:spPr>
        <p:txBody>
          <a:bodyPr anchorCtr="0" anchor="t" bIns="97225" lIns="173425" spcFirstLastPara="1" rIns="0" wrap="square" tIns="122625">
            <a:normAutofit/>
          </a:bodyPr>
          <a:lstStyle/>
          <a:p>
            <a:pPr indent="0" lvl="0" marL="0" marR="0" rtl="0" algn="l">
              <a:lnSpc>
                <a:spcPct val="150000"/>
              </a:lnSpc>
              <a:spcBef>
                <a:spcPts val="0"/>
              </a:spcBef>
              <a:spcAft>
                <a:spcPts val="0"/>
              </a:spcAft>
              <a:buClr>
                <a:srgbClr val="E8E4DA"/>
              </a:buClr>
              <a:buSzPts val="1400"/>
              <a:buFont typeface="JetBrains Mono"/>
              <a:buNone/>
            </a:pPr>
            <a:r>
              <a:rPr b="0" i="0" lang="en-US" sz="1400" u="none" cap="none" strike="noStrike">
                <a:solidFill>
                  <a:srgbClr val="E8E4DA"/>
                </a:solidFill>
                <a:latin typeface="JetBrains Mono"/>
                <a:ea typeface="JetBrains Mono"/>
                <a:cs typeface="JetBrains Mono"/>
                <a:sym typeface="JetBrains Mono"/>
              </a:rPr>
              <a:t>versoServer.writeBytes(messaggioClient + </a:t>
            </a:r>
            <a:r>
              <a:rPr b="0" i="0" lang="en-US" sz="1400" u="none" cap="none" strike="noStrike">
                <a:solidFill>
                  <a:srgbClr val="9FD89A"/>
                </a:solidFill>
                <a:latin typeface="JetBrains Mono"/>
                <a:ea typeface="JetBrains Mono"/>
                <a:cs typeface="JetBrains Mono"/>
                <a:sym typeface="JetBrains Mono"/>
              </a:rPr>
              <a:t>"\n"</a:t>
            </a:r>
            <a:r>
              <a:rPr b="0" i="0" lang="en-US" sz="1400" u="none" cap="none" strike="noStrike">
                <a:solidFill>
                  <a:srgbClr val="E8E4DA"/>
                </a:solidFill>
                <a:latin typeface="JetBrains Mono"/>
                <a:ea typeface="JetBrains Mono"/>
                <a:cs typeface="JetBrains Mono"/>
                <a:sym typeface="JetBrains Mono"/>
              </a:rPr>
              <a:t>);</a:t>
            </a:r>
            <a:endParaRPr b="0" i="0" sz="1400" u="none" cap="none" strike="noStrike">
              <a:solidFill>
                <a:schemeClr val="lt1"/>
              </a:solidFill>
              <a:latin typeface="JetBrains Mono"/>
              <a:ea typeface="JetBrains Mono"/>
              <a:cs typeface="JetBrains Mono"/>
              <a:sym typeface="JetBrains Mono"/>
            </a:endParaRPr>
          </a:p>
        </p:txBody>
      </p:sp>
      <p:sp>
        <p:nvSpPr>
          <p:cNvPr id="407" name="Google Shape;407;p18"/>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408" name="Google Shape;408;p18"/>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18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622A"/>
        </a:solidFill>
      </p:bgPr>
    </p:bg>
    <p:spTree>
      <p:nvGrpSpPr>
        <p:cNvPr id="413" name="Shape 413"/>
        <p:cNvGrpSpPr/>
        <p:nvPr/>
      </p:nvGrpSpPr>
      <p:grpSpPr>
        <a:xfrm>
          <a:off x="0" y="0"/>
          <a:ext cx="0" cy="0"/>
          <a:chOff x="0" y="0"/>
          <a:chExt cx="0" cy="0"/>
        </a:xfrm>
      </p:grpSpPr>
      <p:sp>
        <p:nvSpPr>
          <p:cNvPr id="414" name="Google Shape;414;p1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1A24"/>
              </a:buClr>
              <a:buSzPts val="1200"/>
              <a:buFont typeface="JetBrains Mono"/>
              <a:buNone/>
            </a:pPr>
            <a:r>
              <a:rPr b="1" i="0" lang="en-US" sz="1200" u="none" cap="none" strike="noStrike">
                <a:solidFill>
                  <a:srgbClr val="141A24"/>
                </a:solidFill>
                <a:latin typeface="JetBrains Mono"/>
                <a:ea typeface="JetBrains Mono"/>
                <a:cs typeface="JetBrains Mono"/>
                <a:sym typeface="JetBrains Mono"/>
              </a:rPr>
              <a:t>04 · IL CODICE</a:t>
            </a:r>
            <a:endParaRPr b="0" i="0" sz="1200" u="none" cap="none" strike="noStrike">
              <a:solidFill>
                <a:schemeClr val="lt1"/>
              </a:solidFill>
              <a:latin typeface="JetBrains Mono"/>
              <a:ea typeface="JetBrains Mono"/>
              <a:cs typeface="JetBrains Mono"/>
              <a:sym typeface="JetBrains Mono"/>
            </a:endParaRPr>
          </a:p>
        </p:txBody>
      </p:sp>
      <p:sp>
        <p:nvSpPr>
          <p:cNvPr id="415" name="Google Shape;415;p19"/>
          <p:cNvSpPr txBox="1"/>
          <p:nvPr>
            <p:ph type="title"/>
          </p:nvPr>
        </p:nvSpPr>
        <p:spPr>
          <a:xfrm>
            <a:off x="812800" y="2353320"/>
            <a:ext cx="10883392" cy="1473200"/>
          </a:xfrm>
          <a:prstGeom prst="rect">
            <a:avLst/>
          </a:prstGeom>
          <a:noFill/>
          <a:ln>
            <a:noFill/>
          </a:ln>
        </p:spPr>
        <p:txBody>
          <a:bodyPr anchorCtr="0" anchor="t" bIns="0" lIns="0" spcFirstLastPara="1" rIns="0" wrap="square" tIns="0">
            <a:normAutofit/>
          </a:bodyPr>
          <a:lstStyle/>
          <a:p>
            <a:pPr indent="0" lvl="0" marL="0" rtl="0" algn="l">
              <a:lnSpc>
                <a:spcPct val="95000"/>
              </a:lnSpc>
              <a:spcBef>
                <a:spcPts val="0"/>
              </a:spcBef>
              <a:spcAft>
                <a:spcPts val="0"/>
              </a:spcAft>
              <a:buClr>
                <a:srgbClr val="141A24"/>
              </a:buClr>
              <a:buSzPts val="12000"/>
              <a:buFont typeface="IBM Plex Sans"/>
              <a:buNone/>
            </a:pPr>
            <a:r>
              <a:rPr b="1" i="0" lang="en-US" sz="12000">
                <a:solidFill>
                  <a:srgbClr val="141A24"/>
                </a:solidFill>
                <a:latin typeface="IBM Plex Sans"/>
                <a:ea typeface="IBM Plex Sans"/>
                <a:cs typeface="IBM Plex Sans"/>
                <a:sym typeface="IBM Plex Sans"/>
              </a:rPr>
              <a:t>Server</a:t>
            </a:r>
            <a:endParaRPr sz="12000"/>
          </a:p>
        </p:txBody>
      </p:sp>
      <p:sp>
        <p:nvSpPr>
          <p:cNvPr id="416" name="Google Shape;416;p19"/>
          <p:cNvSpPr/>
          <p:nvPr/>
        </p:nvSpPr>
        <p:spPr>
          <a:xfrm>
            <a:off x="812800" y="3978920"/>
            <a:ext cx="8502650" cy="3556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141A24"/>
              </a:buClr>
              <a:buSzPts val="2000"/>
              <a:buFont typeface="IBM Plex Sans"/>
              <a:buNone/>
            </a:pPr>
            <a:r>
              <a:rPr b="0" i="0" lang="en-US" sz="2000" u="none" cap="none" strike="noStrike">
                <a:solidFill>
                  <a:srgbClr val="141A24"/>
                </a:solidFill>
                <a:latin typeface="IBM Plex Sans"/>
                <a:ea typeface="IBM Plex Sans"/>
                <a:cs typeface="IBM Plex Sans"/>
                <a:sym typeface="IBM Plex Sans"/>
              </a:rPr>
              <a:t>Si pone in ascolto su una porta, accetta la connessione, risponde.</a:t>
            </a:r>
            <a:endParaRPr b="0" i="0" sz="2000" u="none" cap="none" strike="noStrike">
              <a:solidFill>
                <a:schemeClr val="lt1"/>
              </a:solidFill>
              <a:latin typeface="JetBrains Mono"/>
              <a:ea typeface="JetBrains Mono"/>
              <a:cs typeface="JetBrains Mono"/>
              <a:sym typeface="JetBrains Mono"/>
            </a:endParaRPr>
          </a:p>
        </p:txBody>
      </p:sp>
      <p:sp>
        <p:nvSpPr>
          <p:cNvPr id="417" name="Google Shape;417;p19"/>
          <p:cNvSpPr/>
          <p:nvPr/>
        </p:nvSpPr>
        <p:spPr>
          <a:xfrm>
            <a:off x="819150" y="5642620"/>
            <a:ext cx="1209030" cy="396230"/>
          </a:xfrm>
          <a:prstGeom prst="roundRect">
            <a:avLst>
              <a:gd fmla="val 17629" name="adj"/>
            </a:avLst>
          </a:prstGeom>
          <a:noFill/>
          <a:ln cap="flat" cmpd="sng" w="12700">
            <a:solidFill>
              <a:srgbClr val="141A24"/>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41A24"/>
              </a:buClr>
              <a:buSzPts val="1300"/>
              <a:buFont typeface="JetBrains Mono"/>
              <a:buNone/>
            </a:pPr>
            <a:r>
              <a:rPr b="0" i="0" lang="en-US" sz="1300" u="none" cap="none" strike="noStrike">
                <a:solidFill>
                  <a:srgbClr val="141A24"/>
                </a:solidFill>
                <a:latin typeface="JetBrains Mono"/>
                <a:ea typeface="JetBrains Mono"/>
                <a:cs typeface="JetBrains Mono"/>
                <a:sym typeface="JetBrains Mono"/>
              </a:rPr>
              <a:t>attributi</a:t>
            </a:r>
            <a:endParaRPr b="0" i="0" sz="1300" u="none" cap="none" strike="noStrike">
              <a:solidFill>
                <a:schemeClr val="lt1"/>
              </a:solidFill>
              <a:latin typeface="JetBrains Mono"/>
              <a:ea typeface="JetBrains Mono"/>
              <a:cs typeface="JetBrains Mono"/>
              <a:sym typeface="JetBrains Mono"/>
            </a:endParaRPr>
          </a:p>
        </p:txBody>
      </p:sp>
      <p:sp>
        <p:nvSpPr>
          <p:cNvPr id="418" name="Google Shape;418;p19"/>
          <p:cNvSpPr/>
          <p:nvPr/>
        </p:nvSpPr>
        <p:spPr>
          <a:xfrm>
            <a:off x="2142480" y="5642620"/>
            <a:ext cx="1209030" cy="396230"/>
          </a:xfrm>
          <a:prstGeom prst="roundRect">
            <a:avLst>
              <a:gd fmla="val 17629" name="adj"/>
            </a:avLst>
          </a:prstGeom>
          <a:noFill/>
          <a:ln cap="flat" cmpd="sng" w="12700">
            <a:solidFill>
              <a:srgbClr val="141A24"/>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41A24"/>
              </a:buClr>
              <a:buSzPts val="1300"/>
              <a:buFont typeface="JetBrains Mono"/>
              <a:buNone/>
            </a:pPr>
            <a:r>
              <a:rPr b="0" i="0" lang="en-US" sz="1300" u="none" cap="none" strike="noStrike">
                <a:solidFill>
                  <a:srgbClr val="141A24"/>
                </a:solidFill>
                <a:latin typeface="JetBrains Mono"/>
                <a:ea typeface="JetBrains Mono"/>
                <a:cs typeface="JetBrains Mono"/>
                <a:sym typeface="JetBrains Mono"/>
              </a:rPr>
              <a:t>attendi()</a:t>
            </a:r>
            <a:endParaRPr b="0" i="0" sz="1300" u="none" cap="none" strike="noStrike">
              <a:solidFill>
                <a:schemeClr val="lt1"/>
              </a:solidFill>
              <a:latin typeface="JetBrains Mono"/>
              <a:ea typeface="JetBrains Mono"/>
              <a:cs typeface="JetBrains Mono"/>
              <a:sym typeface="JetBrains Mono"/>
            </a:endParaRPr>
          </a:p>
        </p:txBody>
      </p:sp>
      <p:sp>
        <p:nvSpPr>
          <p:cNvPr id="419" name="Google Shape;419;p19"/>
          <p:cNvSpPr/>
          <p:nvPr/>
        </p:nvSpPr>
        <p:spPr>
          <a:xfrm>
            <a:off x="3465810" y="5642620"/>
            <a:ext cx="1308100" cy="396230"/>
          </a:xfrm>
          <a:prstGeom prst="roundRect">
            <a:avLst>
              <a:gd fmla="val 17629" name="adj"/>
            </a:avLst>
          </a:prstGeom>
          <a:noFill/>
          <a:ln cap="flat" cmpd="sng" w="12700">
            <a:solidFill>
              <a:srgbClr val="141A24"/>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41A24"/>
              </a:buClr>
              <a:buSzPts val="1300"/>
              <a:buFont typeface="JetBrains Mono"/>
              <a:buNone/>
            </a:pPr>
            <a:r>
              <a:rPr b="0" i="0" lang="en-US" sz="1300" u="none" cap="none" strike="noStrike">
                <a:solidFill>
                  <a:srgbClr val="141A24"/>
                </a:solidFill>
                <a:latin typeface="JetBrains Mono"/>
                <a:ea typeface="JetBrains Mono"/>
                <a:cs typeface="JetBrains Mono"/>
                <a:sym typeface="JetBrains Mono"/>
              </a:rPr>
              <a:t>comunica()</a:t>
            </a:r>
            <a:endParaRPr b="0" i="0" sz="13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424" name="Shape 424"/>
        <p:cNvGrpSpPr/>
        <p:nvPr/>
      </p:nvGrpSpPr>
      <p:grpSpPr>
        <a:xfrm>
          <a:off x="0" y="0"/>
          <a:ext cx="0" cy="0"/>
          <a:chOff x="0" y="0"/>
          <a:chExt cx="0" cy="0"/>
        </a:xfrm>
      </p:grpSpPr>
      <p:sp>
        <p:nvSpPr>
          <p:cNvPr id="425" name="Google Shape;425;p2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SERVER · ATTRIBUTI</a:t>
            </a:r>
            <a:endParaRPr b="0" i="0" sz="1200" u="none" cap="none" strike="noStrike">
              <a:solidFill>
                <a:schemeClr val="lt1"/>
              </a:solidFill>
              <a:latin typeface="JetBrains Mono"/>
              <a:ea typeface="JetBrains Mono"/>
              <a:cs typeface="JetBrains Mono"/>
              <a:sym typeface="JetBrains Mono"/>
            </a:endParaRPr>
          </a:p>
        </p:txBody>
      </p:sp>
      <p:sp>
        <p:nvSpPr>
          <p:cNvPr id="426" name="Google Shape;426;p20"/>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Gli attributi della classe Server</a:t>
            </a:r>
            <a:endParaRPr sz="3000"/>
          </a:p>
        </p:txBody>
      </p:sp>
      <p:sp>
        <p:nvSpPr>
          <p:cNvPr id="427" name="Google Shape;427;p20"/>
          <p:cNvSpPr/>
          <p:nvPr/>
        </p:nvSpPr>
        <p:spPr>
          <a:xfrm>
            <a:off x="812800" y="1775420"/>
            <a:ext cx="6604000" cy="2235200"/>
          </a:xfrm>
          <a:prstGeom prst="roundRect">
            <a:avLst>
              <a:gd fmla="val 5682"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0"/>
          <p:cNvSpPr/>
          <p:nvPr/>
        </p:nvSpPr>
        <p:spPr>
          <a:xfrm>
            <a:off x="1041400" y="1978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public class</a:t>
            </a:r>
            <a:r>
              <a:rPr b="0" i="0" lang="en-US" sz="1200" u="none" cap="none" strike="noStrike">
                <a:solidFill>
                  <a:srgbClr val="E8E4DA"/>
                </a:solidFill>
                <a:latin typeface="JetBrains Mono"/>
                <a:ea typeface="JetBrains Mono"/>
                <a:cs typeface="JetBrains Mono"/>
                <a:sym typeface="JetBrains Mono"/>
              </a:rPr>
              <a:t> Server {</a:t>
            </a:r>
            <a:endParaRPr b="0" i="0" sz="1200" u="none" cap="none" strike="noStrike">
              <a:solidFill>
                <a:schemeClr val="lt1"/>
              </a:solidFill>
              <a:latin typeface="JetBrains Mono"/>
              <a:ea typeface="JetBrains Mono"/>
              <a:cs typeface="JetBrains Mono"/>
              <a:sym typeface="JetBrains Mono"/>
            </a:endParaRPr>
          </a:p>
        </p:txBody>
      </p:sp>
      <p:sp>
        <p:nvSpPr>
          <p:cNvPr id="429" name="Google Shape;429;p20"/>
          <p:cNvSpPr/>
          <p:nvPr/>
        </p:nvSpPr>
        <p:spPr>
          <a:xfrm>
            <a:off x="1041400" y="2207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1</a:t>
            </a:r>
            <a:r>
              <a:rPr b="0" i="0" lang="en-US" sz="1200" u="none" cap="none" strike="noStrike">
                <a:solidFill>
                  <a:srgbClr val="E8E4DA"/>
                </a:solidFill>
                <a:latin typeface="JetBrains Mono"/>
                <a:ea typeface="JetBrains Mono"/>
                <a:cs typeface="JetBrains Mono"/>
                <a:sym typeface="JetBrains Mono"/>
              </a:rPr>
              <a:t>      ServerSocket server;</a:t>
            </a:r>
            <a:endParaRPr b="0" i="0" sz="1200" u="none" cap="none" strike="noStrike">
              <a:solidFill>
                <a:schemeClr val="lt1"/>
              </a:solidFill>
              <a:latin typeface="JetBrains Mono"/>
              <a:ea typeface="JetBrains Mono"/>
              <a:cs typeface="JetBrains Mono"/>
              <a:sym typeface="JetBrains Mono"/>
            </a:endParaRPr>
          </a:p>
        </p:txBody>
      </p:sp>
      <p:sp>
        <p:nvSpPr>
          <p:cNvPr id="430" name="Google Shape;430;p20"/>
          <p:cNvSpPr/>
          <p:nvPr/>
        </p:nvSpPr>
        <p:spPr>
          <a:xfrm>
            <a:off x="1041400" y="2435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2</a:t>
            </a:r>
            <a:r>
              <a:rPr b="0" i="0" lang="en-US" sz="1200" u="none" cap="none" strike="noStrike">
                <a:solidFill>
                  <a:srgbClr val="E8E4DA"/>
                </a:solidFill>
                <a:latin typeface="JetBrains Mono"/>
                <a:ea typeface="JetBrains Mono"/>
                <a:cs typeface="JetBrains Mono"/>
                <a:sym typeface="JetBrains Mono"/>
              </a:rPr>
              <a:t>      Socket client;</a:t>
            </a:r>
            <a:endParaRPr b="0" i="0" sz="1200" u="none" cap="none" strike="noStrike">
              <a:solidFill>
                <a:schemeClr val="lt1"/>
              </a:solidFill>
              <a:latin typeface="JetBrains Mono"/>
              <a:ea typeface="JetBrains Mono"/>
              <a:cs typeface="JetBrains Mono"/>
              <a:sym typeface="JetBrains Mono"/>
            </a:endParaRPr>
          </a:p>
        </p:txBody>
      </p:sp>
      <p:sp>
        <p:nvSpPr>
          <p:cNvPr id="431" name="Google Shape;431;p20"/>
          <p:cNvSpPr/>
          <p:nvPr/>
        </p:nvSpPr>
        <p:spPr>
          <a:xfrm>
            <a:off x="1041400" y="2664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3</a:t>
            </a:r>
            <a:r>
              <a:rPr b="0" i="0" lang="en-US" sz="1200" u="none" cap="none" strike="noStrike">
                <a:solidFill>
                  <a:srgbClr val="E8E4DA"/>
                </a:solidFill>
                <a:latin typeface="JetBrains Mono"/>
                <a:ea typeface="JetBrains Mono"/>
                <a:cs typeface="JetBrains Mono"/>
                <a:sym typeface="JetBrains Mono"/>
              </a:rPr>
              <a:t>      DataOutputStream versoClient;</a:t>
            </a:r>
            <a:endParaRPr b="0" i="0" sz="1200" u="none" cap="none" strike="noStrike">
              <a:solidFill>
                <a:schemeClr val="lt1"/>
              </a:solidFill>
              <a:latin typeface="JetBrains Mono"/>
              <a:ea typeface="JetBrains Mono"/>
              <a:cs typeface="JetBrains Mono"/>
              <a:sym typeface="JetBrains Mono"/>
            </a:endParaRPr>
          </a:p>
        </p:txBody>
      </p:sp>
      <p:sp>
        <p:nvSpPr>
          <p:cNvPr id="432" name="Google Shape;432;p20"/>
          <p:cNvSpPr/>
          <p:nvPr/>
        </p:nvSpPr>
        <p:spPr>
          <a:xfrm>
            <a:off x="1041400" y="2893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3</a:t>
            </a:r>
            <a:r>
              <a:rPr b="0" i="0" lang="en-US" sz="1200" u="none" cap="none" strike="noStrike">
                <a:solidFill>
                  <a:srgbClr val="E8E4DA"/>
                </a:solidFill>
                <a:latin typeface="JetBrains Mono"/>
                <a:ea typeface="JetBrains Mono"/>
                <a:cs typeface="JetBrains Mono"/>
                <a:sym typeface="JetBrains Mono"/>
              </a:rPr>
              <a:t>      DataInputStream dalClient;</a:t>
            </a:r>
            <a:endParaRPr b="0" i="0" sz="1200" u="none" cap="none" strike="noStrike">
              <a:solidFill>
                <a:schemeClr val="lt1"/>
              </a:solidFill>
              <a:latin typeface="JetBrains Mono"/>
              <a:ea typeface="JetBrains Mono"/>
              <a:cs typeface="JetBrains Mono"/>
              <a:sym typeface="JetBrains Mono"/>
            </a:endParaRPr>
          </a:p>
        </p:txBody>
      </p:sp>
      <p:sp>
        <p:nvSpPr>
          <p:cNvPr id="433" name="Google Shape;433;p20"/>
          <p:cNvSpPr/>
          <p:nvPr/>
        </p:nvSpPr>
        <p:spPr>
          <a:xfrm>
            <a:off x="1041400" y="3121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String messaggioClient;</a:t>
            </a:r>
            <a:endParaRPr b="0" i="0" sz="1200" u="none" cap="none" strike="noStrike">
              <a:solidFill>
                <a:schemeClr val="lt1"/>
              </a:solidFill>
              <a:latin typeface="JetBrains Mono"/>
              <a:ea typeface="JetBrains Mono"/>
              <a:cs typeface="JetBrains Mono"/>
              <a:sym typeface="JetBrains Mono"/>
            </a:endParaRPr>
          </a:p>
        </p:txBody>
      </p:sp>
      <p:sp>
        <p:nvSpPr>
          <p:cNvPr id="434" name="Google Shape;434;p20"/>
          <p:cNvSpPr/>
          <p:nvPr/>
        </p:nvSpPr>
        <p:spPr>
          <a:xfrm>
            <a:off x="1041400" y="3350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String messaggioServer;</a:t>
            </a:r>
            <a:endParaRPr b="0" i="0" sz="1200" u="none" cap="none" strike="noStrike">
              <a:solidFill>
                <a:schemeClr val="lt1"/>
              </a:solidFill>
              <a:latin typeface="JetBrains Mono"/>
              <a:ea typeface="JetBrains Mono"/>
              <a:cs typeface="JetBrains Mono"/>
              <a:sym typeface="JetBrains Mono"/>
            </a:endParaRPr>
          </a:p>
        </p:txBody>
      </p:sp>
      <p:sp>
        <p:nvSpPr>
          <p:cNvPr id="435" name="Google Shape;435;p20"/>
          <p:cNvSpPr/>
          <p:nvPr/>
        </p:nvSpPr>
        <p:spPr>
          <a:xfrm>
            <a:off x="1041400" y="3578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436" name="Google Shape;436;p20"/>
          <p:cNvSpPr/>
          <p:nvPr/>
        </p:nvSpPr>
        <p:spPr>
          <a:xfrm>
            <a:off x="7721600" y="1775420"/>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1</a:t>
            </a:r>
            <a:endParaRPr b="0" i="0" sz="1200" u="none" cap="none" strike="noStrike">
              <a:solidFill>
                <a:schemeClr val="lt1"/>
              </a:solidFill>
              <a:latin typeface="JetBrains Mono"/>
              <a:ea typeface="JetBrains Mono"/>
              <a:cs typeface="JetBrains Mono"/>
              <a:sym typeface="JetBrains Mono"/>
            </a:endParaRPr>
          </a:p>
        </p:txBody>
      </p:sp>
      <p:sp>
        <p:nvSpPr>
          <p:cNvPr id="437" name="Google Shape;437;p20"/>
          <p:cNvSpPr/>
          <p:nvPr/>
        </p:nvSpPr>
        <p:spPr>
          <a:xfrm>
            <a:off x="8117880" y="1775420"/>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ServerSocket.</a:t>
            </a:r>
            <a:r>
              <a:rPr b="0" i="0" lang="en-US" sz="1300" u="none" cap="none" strike="noStrike">
                <a:solidFill>
                  <a:srgbClr val="D0D5DE"/>
                </a:solidFill>
                <a:latin typeface="IBM Plex Sans"/>
                <a:ea typeface="IBM Plex Sans"/>
                <a:cs typeface="IBM Plex Sans"/>
                <a:sym typeface="IBM Plex Sans"/>
              </a:rPr>
              <a:t> Socket in ascolto sulla porta: accetta le connessioni, non trasporta dati.</a:t>
            </a:r>
            <a:endParaRPr b="0" i="0" sz="1300" u="none" cap="none" strike="noStrike">
              <a:solidFill>
                <a:schemeClr val="lt1"/>
              </a:solidFill>
              <a:latin typeface="JetBrains Mono"/>
              <a:ea typeface="JetBrains Mono"/>
              <a:cs typeface="JetBrains Mono"/>
              <a:sym typeface="JetBrains Mono"/>
            </a:endParaRPr>
          </a:p>
        </p:txBody>
      </p:sp>
      <p:sp>
        <p:nvSpPr>
          <p:cNvPr id="438" name="Google Shape;438;p20"/>
          <p:cNvSpPr/>
          <p:nvPr/>
        </p:nvSpPr>
        <p:spPr>
          <a:xfrm>
            <a:off x="7721600" y="2348111"/>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2</a:t>
            </a:r>
            <a:endParaRPr b="0" i="0" sz="1200" u="none" cap="none" strike="noStrike">
              <a:solidFill>
                <a:schemeClr val="lt1"/>
              </a:solidFill>
              <a:latin typeface="JetBrains Mono"/>
              <a:ea typeface="JetBrains Mono"/>
              <a:cs typeface="JetBrains Mono"/>
              <a:sym typeface="JetBrains Mono"/>
            </a:endParaRPr>
          </a:p>
        </p:txBody>
      </p:sp>
      <p:sp>
        <p:nvSpPr>
          <p:cNvPr id="439" name="Google Shape;439;p20"/>
          <p:cNvSpPr/>
          <p:nvPr/>
        </p:nvSpPr>
        <p:spPr>
          <a:xfrm>
            <a:off x="8117880" y="2348111"/>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Socket.</a:t>
            </a:r>
            <a:r>
              <a:rPr b="0" i="0" lang="en-US" sz="1300" u="none" cap="none" strike="noStrike">
                <a:solidFill>
                  <a:srgbClr val="D0D5DE"/>
                </a:solidFill>
                <a:latin typeface="IBM Plex Sans"/>
                <a:ea typeface="IBM Plex Sans"/>
                <a:cs typeface="IBM Plex Sans"/>
                <a:sym typeface="IBM Plex Sans"/>
              </a:rPr>
              <a:t> Endpoint della connessione con il client, restituito da accept().</a:t>
            </a:r>
            <a:endParaRPr b="0" i="0" sz="1300" u="none" cap="none" strike="noStrike">
              <a:solidFill>
                <a:schemeClr val="lt1"/>
              </a:solidFill>
              <a:latin typeface="JetBrains Mono"/>
              <a:ea typeface="JetBrains Mono"/>
              <a:cs typeface="JetBrains Mono"/>
              <a:sym typeface="JetBrains Mono"/>
            </a:endParaRPr>
          </a:p>
        </p:txBody>
      </p:sp>
      <p:sp>
        <p:nvSpPr>
          <p:cNvPr id="440" name="Google Shape;440;p20"/>
          <p:cNvSpPr/>
          <p:nvPr/>
        </p:nvSpPr>
        <p:spPr>
          <a:xfrm>
            <a:off x="7721600" y="2920802"/>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3</a:t>
            </a:r>
            <a:endParaRPr b="0" i="0" sz="1200" u="none" cap="none" strike="noStrike">
              <a:solidFill>
                <a:schemeClr val="lt1"/>
              </a:solidFill>
              <a:latin typeface="JetBrains Mono"/>
              <a:ea typeface="JetBrains Mono"/>
              <a:cs typeface="JetBrains Mono"/>
              <a:sym typeface="JetBrains Mono"/>
            </a:endParaRPr>
          </a:p>
        </p:txBody>
      </p:sp>
      <p:sp>
        <p:nvSpPr>
          <p:cNvPr id="441" name="Google Shape;441;p20"/>
          <p:cNvSpPr/>
          <p:nvPr/>
        </p:nvSpPr>
        <p:spPr>
          <a:xfrm>
            <a:off x="8117880" y="2920802"/>
            <a:ext cx="335916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DataOutputStream, DataInputStream.</a:t>
            </a:r>
            <a:r>
              <a:rPr b="0" i="0" lang="en-US" sz="1300" u="none" cap="none" strike="noStrike">
                <a:solidFill>
                  <a:srgbClr val="D0D5DE"/>
                </a:solidFill>
                <a:latin typeface="IBM Plex Sans"/>
                <a:ea typeface="IBM Plex Sans"/>
                <a:cs typeface="IBM Plex Sans"/>
                <a:sym typeface="IBM Plex Sans"/>
              </a:rPr>
              <a:t> Stream per inviare dati al client e per riceverli.</a:t>
            </a:r>
            <a:endParaRPr b="0" i="0" sz="1300" u="none" cap="none" strike="noStrike">
              <a:solidFill>
                <a:schemeClr val="lt1"/>
              </a:solidFill>
              <a:latin typeface="JetBrains Mono"/>
              <a:ea typeface="JetBrains Mono"/>
              <a:cs typeface="JetBrains Mono"/>
              <a:sym typeface="JetBrains Mono"/>
            </a:endParaRPr>
          </a:p>
        </p:txBody>
      </p:sp>
      <p:sp>
        <p:nvSpPr>
          <p:cNvPr id="442" name="Google Shape;442;p20"/>
          <p:cNvSpPr/>
          <p:nvPr/>
        </p:nvSpPr>
        <p:spPr>
          <a:xfrm>
            <a:off x="7721600" y="3716337"/>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4</a:t>
            </a:r>
            <a:endParaRPr b="0" i="0" sz="1200" u="none" cap="none" strike="noStrike">
              <a:solidFill>
                <a:schemeClr val="lt1"/>
              </a:solidFill>
              <a:latin typeface="JetBrains Mono"/>
              <a:ea typeface="JetBrains Mono"/>
              <a:cs typeface="JetBrains Mono"/>
              <a:sym typeface="JetBrains Mono"/>
            </a:endParaRPr>
          </a:p>
        </p:txBody>
      </p:sp>
      <p:sp>
        <p:nvSpPr>
          <p:cNvPr id="443" name="Google Shape;443;p20"/>
          <p:cNvSpPr/>
          <p:nvPr/>
        </p:nvSpPr>
        <p:spPr>
          <a:xfrm>
            <a:off x="8117880" y="3716337"/>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String.</a:t>
            </a:r>
            <a:r>
              <a:rPr b="0" i="0" lang="en-US" sz="1300" u="none" cap="none" strike="noStrike">
                <a:solidFill>
                  <a:srgbClr val="D0D5DE"/>
                </a:solidFill>
                <a:latin typeface="IBM Plex Sans"/>
                <a:ea typeface="IBM Plex Sans"/>
                <a:cs typeface="IBM Plex Sans"/>
                <a:sym typeface="IBM Plex Sans"/>
              </a:rPr>
              <a:t> Il messaggio ricevuto e la risposta da inviare.</a:t>
            </a:r>
            <a:endParaRPr b="0" i="0" sz="1300" u="none" cap="none" strike="noStrike">
              <a:solidFill>
                <a:schemeClr val="lt1"/>
              </a:solidFill>
              <a:latin typeface="JetBrains Mono"/>
              <a:ea typeface="JetBrains Mono"/>
              <a:cs typeface="JetBrains Mono"/>
              <a:sym typeface="JetBrains Mono"/>
            </a:endParaRPr>
          </a:p>
        </p:txBody>
      </p:sp>
      <p:pic>
        <p:nvPicPr>
          <p:cNvPr descr="Lightbulb" id="444" name="Google Shape;444;p20"/>
          <p:cNvPicPr preferRelativeResize="0"/>
          <p:nvPr/>
        </p:nvPicPr>
        <p:blipFill rotWithShape="1">
          <a:blip r:embed="rId3">
            <a:alphaModFix/>
          </a:blip>
          <a:srcRect b="0" l="0" r="0" t="0"/>
          <a:stretch/>
        </p:blipFill>
        <p:spPr>
          <a:xfrm>
            <a:off x="812800" y="4416028"/>
            <a:ext cx="228600" cy="228600"/>
          </a:xfrm>
          <a:prstGeom prst="rect">
            <a:avLst/>
          </a:prstGeom>
          <a:noFill/>
          <a:ln>
            <a:noFill/>
          </a:ln>
        </p:spPr>
      </p:pic>
      <p:sp>
        <p:nvSpPr>
          <p:cNvPr id="445" name="Google Shape;445;p20"/>
          <p:cNvSpPr/>
          <p:nvPr/>
        </p:nvSpPr>
        <p:spPr>
          <a:xfrm>
            <a:off x="1193800" y="4416028"/>
            <a:ext cx="10490962"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1" i="0" lang="en-US" sz="1200" u="none" cap="none" strike="noStrike">
                <a:solidFill>
                  <a:srgbClr val="AEB6C4"/>
                </a:solidFill>
                <a:latin typeface="IBM Plex Sans"/>
                <a:ea typeface="IBM Plex Sans"/>
                <a:cs typeface="IBM Plex Sans"/>
                <a:sym typeface="IBM Plex Sans"/>
              </a:rPr>
              <a:t>Rispetto al Client:</a:t>
            </a:r>
            <a:r>
              <a:rPr b="0" i="0" lang="en-US" sz="1200" u="none" cap="none" strike="noStrike">
                <a:solidFill>
                  <a:srgbClr val="AEB6C4"/>
                </a:solidFill>
                <a:latin typeface="IBM Plex Sans"/>
                <a:ea typeface="IBM Plex Sans"/>
                <a:cs typeface="IBM Plex Sans"/>
                <a:sym typeface="IBM Plex Sans"/>
              </a:rPr>
              <a:t> un ServerSocket in più e nessun BufferedReader su System.in, perché il server non legge input dall'utente. dalClient può essere dichiarato come BufferedReader al posto di DataInputStream.</a:t>
            </a:r>
            <a:endParaRPr b="0" i="0" sz="1200" u="none" cap="none" strike="noStrike">
              <a:solidFill>
                <a:schemeClr val="lt1"/>
              </a:solidFill>
              <a:latin typeface="JetBrains Mono"/>
              <a:ea typeface="JetBrains Mono"/>
              <a:cs typeface="JetBrains Mono"/>
              <a:sym typeface="JetBrains Mono"/>
            </a:endParaRPr>
          </a:p>
        </p:txBody>
      </p:sp>
      <p:sp>
        <p:nvSpPr>
          <p:cNvPr id="446" name="Google Shape;446;p20"/>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447" name="Google Shape;447;p20"/>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20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452" name="Shape 452"/>
        <p:cNvGrpSpPr/>
        <p:nvPr/>
      </p:nvGrpSpPr>
      <p:grpSpPr>
        <a:xfrm>
          <a:off x="0" y="0"/>
          <a:ext cx="0" cy="0"/>
          <a:chOff x="0" y="0"/>
          <a:chExt cx="0" cy="0"/>
        </a:xfrm>
      </p:grpSpPr>
      <p:sp>
        <p:nvSpPr>
          <p:cNvPr id="453" name="Google Shape;453;p2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SERVER · ATTENDI()</a:t>
            </a:r>
            <a:endParaRPr b="0" i="0" sz="1200" u="none" cap="none" strike="noStrike">
              <a:solidFill>
                <a:schemeClr val="lt1"/>
              </a:solidFill>
              <a:latin typeface="JetBrains Mono"/>
              <a:ea typeface="JetBrains Mono"/>
              <a:cs typeface="JetBrains Mono"/>
              <a:sym typeface="JetBrains Mono"/>
            </a:endParaRPr>
          </a:p>
        </p:txBody>
      </p:sp>
      <p:sp>
        <p:nvSpPr>
          <p:cNvPr id="454" name="Google Shape;454;p21"/>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Mettersi in ascolto e accettare la connessione</a:t>
            </a:r>
            <a:endParaRPr sz="3000"/>
          </a:p>
        </p:txBody>
      </p:sp>
      <p:sp>
        <p:nvSpPr>
          <p:cNvPr id="455" name="Google Shape;455;p21"/>
          <p:cNvSpPr/>
          <p:nvPr/>
        </p:nvSpPr>
        <p:spPr>
          <a:xfrm>
            <a:off x="812800" y="1775420"/>
            <a:ext cx="6604000" cy="3606800"/>
          </a:xfrm>
          <a:prstGeom prst="roundRect">
            <a:avLst>
              <a:gd fmla="val 3521"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1041400" y="1978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public void</a:t>
            </a:r>
            <a:r>
              <a:rPr b="0" i="0" lang="en-US" sz="1200" u="none" cap="none" strike="noStrike">
                <a:solidFill>
                  <a:srgbClr val="E8E4DA"/>
                </a:solidFill>
                <a:latin typeface="JetBrains Mono"/>
                <a:ea typeface="JetBrains Mono"/>
                <a:cs typeface="JetBrains Mono"/>
                <a:sym typeface="JetBrains Mono"/>
              </a:rPr>
              <a:t> attendi() {</a:t>
            </a:r>
            <a:endParaRPr b="0" i="0" sz="1200" u="none" cap="none" strike="noStrike">
              <a:solidFill>
                <a:schemeClr val="lt1"/>
              </a:solidFill>
              <a:latin typeface="JetBrains Mono"/>
              <a:ea typeface="JetBrains Mono"/>
              <a:cs typeface="JetBrains Mono"/>
              <a:sym typeface="JetBrains Mono"/>
            </a:endParaRPr>
          </a:p>
        </p:txBody>
      </p:sp>
      <p:sp>
        <p:nvSpPr>
          <p:cNvPr id="457" name="Google Shape;457;p21"/>
          <p:cNvSpPr/>
          <p:nvPr/>
        </p:nvSpPr>
        <p:spPr>
          <a:xfrm>
            <a:off x="1041400" y="2207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try</a:t>
            </a: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458" name="Google Shape;458;p21"/>
          <p:cNvSpPr/>
          <p:nvPr/>
        </p:nvSpPr>
        <p:spPr>
          <a:xfrm>
            <a:off x="1041400" y="2435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System.out.println(</a:t>
            </a:r>
            <a:r>
              <a:rPr b="0" i="0" lang="en-US" sz="1200" u="none" cap="none" strike="noStrike">
                <a:solidFill>
                  <a:srgbClr val="9FD89A"/>
                </a:solidFill>
                <a:latin typeface="JetBrains Mono"/>
                <a:ea typeface="JetBrains Mono"/>
                <a:cs typeface="JetBrains Mono"/>
                <a:sym typeface="JetBrains Mono"/>
              </a:rPr>
              <a:t>"Server partito..."</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459" name="Google Shape;459;p21"/>
          <p:cNvSpPr/>
          <p:nvPr/>
        </p:nvSpPr>
        <p:spPr>
          <a:xfrm>
            <a:off x="1041400" y="2664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1</a:t>
            </a:r>
            <a:r>
              <a:rPr b="0" i="0" lang="en-US" sz="1200" u="none" cap="none" strike="noStrike">
                <a:solidFill>
                  <a:srgbClr val="E8E4DA"/>
                </a:solidFill>
                <a:latin typeface="JetBrains Mono"/>
                <a:ea typeface="JetBrains Mono"/>
                <a:cs typeface="JetBrains Mono"/>
                <a:sym typeface="JetBrains Mono"/>
              </a:rPr>
              <a:t>          server =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ServerSocket(6789);</a:t>
            </a:r>
            <a:endParaRPr b="0" i="0" sz="1200" u="none" cap="none" strike="noStrike">
              <a:solidFill>
                <a:schemeClr val="lt1"/>
              </a:solidFill>
              <a:latin typeface="JetBrains Mono"/>
              <a:ea typeface="JetBrains Mono"/>
              <a:cs typeface="JetBrains Mono"/>
              <a:sym typeface="JetBrains Mono"/>
            </a:endParaRPr>
          </a:p>
        </p:txBody>
      </p:sp>
      <p:sp>
        <p:nvSpPr>
          <p:cNvPr id="460" name="Google Shape;460;p21"/>
          <p:cNvSpPr/>
          <p:nvPr/>
        </p:nvSpPr>
        <p:spPr>
          <a:xfrm>
            <a:off x="1041400" y="2893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2</a:t>
            </a:r>
            <a:r>
              <a:rPr b="0" i="0" lang="en-US" sz="1200" u="none" cap="none" strike="noStrike">
                <a:solidFill>
                  <a:srgbClr val="E8E4DA"/>
                </a:solidFill>
                <a:latin typeface="JetBrains Mono"/>
                <a:ea typeface="JetBrains Mono"/>
                <a:cs typeface="JetBrains Mono"/>
                <a:sym typeface="JetBrains Mono"/>
              </a:rPr>
              <a:t>          client = server.accept();</a:t>
            </a:r>
            <a:endParaRPr b="0" i="0" sz="1200" u="none" cap="none" strike="noStrike">
              <a:solidFill>
                <a:schemeClr val="lt1"/>
              </a:solidFill>
              <a:latin typeface="JetBrains Mono"/>
              <a:ea typeface="JetBrains Mono"/>
              <a:cs typeface="JetBrains Mono"/>
              <a:sym typeface="JetBrains Mono"/>
            </a:endParaRPr>
          </a:p>
        </p:txBody>
      </p:sp>
      <p:sp>
        <p:nvSpPr>
          <p:cNvPr id="461" name="Google Shape;461;p21"/>
          <p:cNvSpPr/>
          <p:nvPr/>
        </p:nvSpPr>
        <p:spPr>
          <a:xfrm>
            <a:off x="1041400" y="3121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3</a:t>
            </a:r>
            <a:r>
              <a:rPr b="0" i="0" lang="en-US" sz="1200" u="none" cap="none" strike="noStrike">
                <a:solidFill>
                  <a:srgbClr val="E8E4DA"/>
                </a:solidFill>
                <a:latin typeface="JetBrains Mono"/>
                <a:ea typeface="JetBrains Mono"/>
                <a:cs typeface="JetBrains Mono"/>
                <a:sym typeface="JetBrains Mono"/>
              </a:rPr>
              <a:t>          server.close();</a:t>
            </a:r>
            <a:endParaRPr b="0" i="0" sz="1200" u="none" cap="none" strike="noStrike">
              <a:solidFill>
                <a:schemeClr val="lt1"/>
              </a:solidFill>
              <a:latin typeface="JetBrains Mono"/>
              <a:ea typeface="JetBrains Mono"/>
              <a:cs typeface="JetBrains Mono"/>
              <a:sym typeface="JetBrains Mono"/>
            </a:endParaRPr>
          </a:p>
        </p:txBody>
      </p:sp>
      <p:sp>
        <p:nvSpPr>
          <p:cNvPr id="462" name="Google Shape;462;p21"/>
          <p:cNvSpPr/>
          <p:nvPr/>
        </p:nvSpPr>
        <p:spPr>
          <a:xfrm>
            <a:off x="1041400" y="3350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versoClient =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DataOutputStream(</a:t>
            </a:r>
            <a:endParaRPr b="0" i="0" sz="1200" u="none" cap="none" strike="noStrike">
              <a:solidFill>
                <a:schemeClr val="lt1"/>
              </a:solidFill>
              <a:latin typeface="JetBrains Mono"/>
              <a:ea typeface="JetBrains Mono"/>
              <a:cs typeface="JetBrains Mono"/>
              <a:sym typeface="JetBrains Mono"/>
            </a:endParaRPr>
          </a:p>
        </p:txBody>
      </p:sp>
      <p:sp>
        <p:nvSpPr>
          <p:cNvPr id="463" name="Google Shape;463;p21"/>
          <p:cNvSpPr/>
          <p:nvPr/>
        </p:nvSpPr>
        <p:spPr>
          <a:xfrm>
            <a:off x="1041400" y="3578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client.getOutputStream());</a:t>
            </a:r>
            <a:endParaRPr b="0" i="0" sz="1200" u="none" cap="none" strike="noStrike">
              <a:solidFill>
                <a:schemeClr val="lt1"/>
              </a:solidFill>
              <a:latin typeface="JetBrains Mono"/>
              <a:ea typeface="JetBrains Mono"/>
              <a:cs typeface="JetBrains Mono"/>
              <a:sym typeface="JetBrains Mono"/>
            </a:endParaRPr>
          </a:p>
        </p:txBody>
      </p:sp>
      <p:sp>
        <p:nvSpPr>
          <p:cNvPr id="464" name="Google Shape;464;p21"/>
          <p:cNvSpPr/>
          <p:nvPr/>
        </p:nvSpPr>
        <p:spPr>
          <a:xfrm>
            <a:off x="1041400" y="3807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dalClient =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DataInputStream(</a:t>
            </a:r>
            <a:endParaRPr b="0" i="0" sz="1200" u="none" cap="none" strike="noStrike">
              <a:solidFill>
                <a:schemeClr val="lt1"/>
              </a:solidFill>
              <a:latin typeface="JetBrains Mono"/>
              <a:ea typeface="JetBrains Mono"/>
              <a:cs typeface="JetBrains Mono"/>
              <a:sym typeface="JetBrains Mono"/>
            </a:endParaRPr>
          </a:p>
        </p:txBody>
      </p:sp>
      <p:sp>
        <p:nvSpPr>
          <p:cNvPr id="465" name="Google Shape;465;p21"/>
          <p:cNvSpPr/>
          <p:nvPr/>
        </p:nvSpPr>
        <p:spPr>
          <a:xfrm>
            <a:off x="1041400" y="4036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client.getInputStream());</a:t>
            </a:r>
            <a:endParaRPr b="0" i="0" sz="1200" u="none" cap="none" strike="noStrike">
              <a:solidFill>
                <a:schemeClr val="lt1"/>
              </a:solidFill>
              <a:latin typeface="JetBrains Mono"/>
              <a:ea typeface="JetBrains Mono"/>
              <a:cs typeface="JetBrains Mono"/>
              <a:sym typeface="JetBrains Mono"/>
            </a:endParaRPr>
          </a:p>
        </p:txBody>
      </p:sp>
      <p:sp>
        <p:nvSpPr>
          <p:cNvPr id="466" name="Google Shape;466;p21"/>
          <p:cNvSpPr/>
          <p:nvPr/>
        </p:nvSpPr>
        <p:spPr>
          <a:xfrm>
            <a:off x="1041400" y="4264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 </a:t>
            </a:r>
            <a:r>
              <a:rPr b="0" i="0" lang="en-US" sz="1200" u="none" cap="none" strike="noStrike">
                <a:solidFill>
                  <a:srgbClr val="C4A7F5"/>
                </a:solidFill>
                <a:latin typeface="JetBrains Mono"/>
                <a:ea typeface="JetBrains Mono"/>
                <a:cs typeface="JetBrains Mono"/>
                <a:sym typeface="JetBrains Mono"/>
              </a:rPr>
              <a:t>catch</a:t>
            </a:r>
            <a:r>
              <a:rPr b="0" i="0" lang="en-US" sz="1200" u="none" cap="none" strike="noStrike">
                <a:solidFill>
                  <a:srgbClr val="E8E4DA"/>
                </a:solidFill>
                <a:latin typeface="JetBrains Mono"/>
                <a:ea typeface="JetBrains Mono"/>
                <a:cs typeface="JetBrains Mono"/>
                <a:sym typeface="JetBrains Mono"/>
              </a:rPr>
              <a:t> (Exception e) {</a:t>
            </a:r>
            <a:endParaRPr b="0" i="0" sz="1200" u="none" cap="none" strike="noStrike">
              <a:solidFill>
                <a:schemeClr val="lt1"/>
              </a:solidFill>
              <a:latin typeface="JetBrains Mono"/>
              <a:ea typeface="JetBrains Mono"/>
              <a:cs typeface="JetBrains Mono"/>
              <a:sym typeface="JetBrains Mono"/>
            </a:endParaRPr>
          </a:p>
        </p:txBody>
      </p:sp>
      <p:sp>
        <p:nvSpPr>
          <p:cNvPr id="467" name="Google Shape;467;p21"/>
          <p:cNvSpPr/>
          <p:nvPr/>
        </p:nvSpPr>
        <p:spPr>
          <a:xfrm>
            <a:off x="1041400" y="4493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System.out.println(e.getMessage());</a:t>
            </a:r>
            <a:endParaRPr b="0" i="0" sz="1200" u="none" cap="none" strike="noStrike">
              <a:solidFill>
                <a:schemeClr val="lt1"/>
              </a:solidFill>
              <a:latin typeface="JetBrains Mono"/>
              <a:ea typeface="JetBrains Mono"/>
              <a:cs typeface="JetBrains Mono"/>
              <a:sym typeface="JetBrains Mono"/>
            </a:endParaRPr>
          </a:p>
        </p:txBody>
      </p:sp>
      <p:sp>
        <p:nvSpPr>
          <p:cNvPr id="468" name="Google Shape;468;p21"/>
          <p:cNvSpPr/>
          <p:nvPr/>
        </p:nvSpPr>
        <p:spPr>
          <a:xfrm>
            <a:off x="1041400" y="4721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469" name="Google Shape;469;p21"/>
          <p:cNvSpPr/>
          <p:nvPr/>
        </p:nvSpPr>
        <p:spPr>
          <a:xfrm>
            <a:off x="1041400" y="4950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470" name="Google Shape;470;p21"/>
          <p:cNvSpPr/>
          <p:nvPr/>
        </p:nvSpPr>
        <p:spPr>
          <a:xfrm>
            <a:off x="7721600" y="1775420"/>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1</a:t>
            </a:r>
            <a:endParaRPr b="0" i="0" sz="1200" u="none" cap="none" strike="noStrike">
              <a:solidFill>
                <a:schemeClr val="lt1"/>
              </a:solidFill>
              <a:latin typeface="JetBrains Mono"/>
              <a:ea typeface="JetBrains Mono"/>
              <a:cs typeface="JetBrains Mono"/>
              <a:sym typeface="JetBrains Mono"/>
            </a:endParaRPr>
          </a:p>
        </p:txBody>
      </p:sp>
      <p:sp>
        <p:nvSpPr>
          <p:cNvPr id="471" name="Google Shape;471;p21"/>
          <p:cNvSpPr/>
          <p:nvPr/>
        </p:nvSpPr>
        <p:spPr>
          <a:xfrm>
            <a:off x="8117880" y="1775420"/>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ServerSocket.</a:t>
            </a:r>
            <a:r>
              <a:rPr b="0" i="0" lang="en-US" sz="1300" u="none" cap="none" strike="noStrike">
                <a:solidFill>
                  <a:srgbClr val="D0D5DE"/>
                </a:solidFill>
                <a:latin typeface="IBM Plex Sans"/>
                <a:ea typeface="IBM Plex Sans"/>
                <a:cs typeface="IBM Plex Sans"/>
                <a:sym typeface="IBM Plex Sans"/>
              </a:rPr>
              <a:t> Si pone in ascolto sulla porta 6789, la stessa indicata nel Client.</a:t>
            </a:r>
            <a:endParaRPr b="0" i="0" sz="1300" u="none" cap="none" strike="noStrike">
              <a:solidFill>
                <a:schemeClr val="lt1"/>
              </a:solidFill>
              <a:latin typeface="JetBrains Mono"/>
              <a:ea typeface="JetBrains Mono"/>
              <a:cs typeface="JetBrains Mono"/>
              <a:sym typeface="JetBrains Mono"/>
            </a:endParaRPr>
          </a:p>
        </p:txBody>
      </p:sp>
      <p:sp>
        <p:nvSpPr>
          <p:cNvPr id="472" name="Google Shape;472;p21"/>
          <p:cNvSpPr/>
          <p:nvPr/>
        </p:nvSpPr>
        <p:spPr>
          <a:xfrm>
            <a:off x="7721600" y="2348111"/>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2</a:t>
            </a:r>
            <a:endParaRPr b="0" i="0" sz="1200" u="none" cap="none" strike="noStrike">
              <a:solidFill>
                <a:schemeClr val="lt1"/>
              </a:solidFill>
              <a:latin typeface="JetBrains Mono"/>
              <a:ea typeface="JetBrains Mono"/>
              <a:cs typeface="JetBrains Mono"/>
              <a:sym typeface="JetBrains Mono"/>
            </a:endParaRPr>
          </a:p>
        </p:txBody>
      </p:sp>
      <p:sp>
        <p:nvSpPr>
          <p:cNvPr id="473" name="Google Shape;473;p21"/>
          <p:cNvSpPr/>
          <p:nvPr/>
        </p:nvSpPr>
        <p:spPr>
          <a:xfrm>
            <a:off x="8117880" y="2348111"/>
            <a:ext cx="335916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accept().</a:t>
            </a:r>
            <a:r>
              <a:rPr b="0" i="0" lang="en-US" sz="1300" u="none" cap="none" strike="noStrike">
                <a:solidFill>
                  <a:srgbClr val="D0D5DE"/>
                </a:solidFill>
                <a:latin typeface="IBM Plex Sans"/>
                <a:ea typeface="IBM Plex Sans"/>
                <a:cs typeface="IBM Plex Sans"/>
                <a:sym typeface="IBM Plex Sans"/>
              </a:rPr>
              <a:t> Bloccante: attende una richiesta di connessione e restituisce il Socket connesso al client.</a:t>
            </a:r>
            <a:endParaRPr b="0" i="0" sz="1300" u="none" cap="none" strike="noStrike">
              <a:solidFill>
                <a:schemeClr val="lt1"/>
              </a:solidFill>
              <a:latin typeface="JetBrains Mono"/>
              <a:ea typeface="JetBrains Mono"/>
              <a:cs typeface="JetBrains Mono"/>
              <a:sym typeface="JetBrains Mono"/>
            </a:endParaRPr>
          </a:p>
        </p:txBody>
      </p:sp>
      <p:sp>
        <p:nvSpPr>
          <p:cNvPr id="474" name="Google Shape;474;p21"/>
          <p:cNvSpPr/>
          <p:nvPr/>
        </p:nvSpPr>
        <p:spPr>
          <a:xfrm>
            <a:off x="7721600" y="3143647"/>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3</a:t>
            </a:r>
            <a:endParaRPr b="0" i="0" sz="1200" u="none" cap="none" strike="noStrike">
              <a:solidFill>
                <a:schemeClr val="lt1"/>
              </a:solidFill>
              <a:latin typeface="JetBrains Mono"/>
              <a:ea typeface="JetBrains Mono"/>
              <a:cs typeface="JetBrains Mono"/>
              <a:sym typeface="JetBrains Mono"/>
            </a:endParaRPr>
          </a:p>
        </p:txBody>
      </p:sp>
      <p:sp>
        <p:nvSpPr>
          <p:cNvPr id="475" name="Google Shape;475;p21"/>
          <p:cNvSpPr/>
          <p:nvPr/>
        </p:nvSpPr>
        <p:spPr>
          <a:xfrm>
            <a:off x="8117880" y="3143647"/>
            <a:ext cx="335916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close().</a:t>
            </a:r>
            <a:r>
              <a:rPr b="0" i="0" lang="en-US" sz="1300" u="none" cap="none" strike="noStrike">
                <a:solidFill>
                  <a:srgbClr val="D0D5DE"/>
                </a:solidFill>
                <a:latin typeface="IBM Plex Sans"/>
                <a:ea typeface="IBM Plex Sans"/>
                <a:cs typeface="IBM Plex Sans"/>
                <a:sym typeface="IBM Plex Sans"/>
              </a:rPr>
              <a:t> Chiude il ServerSocket: nessuna nuova connessione. Il Socket già accettato resta attivo.</a:t>
            </a:r>
            <a:endParaRPr b="0" i="0" sz="1300" u="none" cap="none" strike="noStrike">
              <a:solidFill>
                <a:schemeClr val="lt1"/>
              </a:solidFill>
              <a:latin typeface="JetBrains Mono"/>
              <a:ea typeface="JetBrains Mono"/>
              <a:cs typeface="JetBrains Mono"/>
              <a:sym typeface="JetBrains Mono"/>
            </a:endParaRPr>
          </a:p>
        </p:txBody>
      </p:sp>
      <p:sp>
        <p:nvSpPr>
          <p:cNvPr id="476" name="Google Shape;476;p21"/>
          <p:cNvSpPr/>
          <p:nvPr/>
        </p:nvSpPr>
        <p:spPr>
          <a:xfrm>
            <a:off x="7721600" y="3939183"/>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4</a:t>
            </a:r>
            <a:endParaRPr b="0" i="0" sz="1200" u="none" cap="none" strike="noStrike">
              <a:solidFill>
                <a:schemeClr val="lt1"/>
              </a:solidFill>
              <a:latin typeface="JetBrains Mono"/>
              <a:ea typeface="JetBrains Mono"/>
              <a:cs typeface="JetBrains Mono"/>
              <a:sym typeface="JetBrains Mono"/>
            </a:endParaRPr>
          </a:p>
        </p:txBody>
      </p:sp>
      <p:sp>
        <p:nvSpPr>
          <p:cNvPr id="477" name="Google Shape;477;p21"/>
          <p:cNvSpPr/>
          <p:nvPr/>
        </p:nvSpPr>
        <p:spPr>
          <a:xfrm>
            <a:off x="8117880" y="3939183"/>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Stream.</a:t>
            </a:r>
            <a:r>
              <a:rPr b="0" i="0" lang="en-US" sz="1300" u="none" cap="none" strike="noStrike">
                <a:solidFill>
                  <a:srgbClr val="D0D5DE"/>
                </a:solidFill>
                <a:latin typeface="IBM Plex Sans"/>
                <a:ea typeface="IBM Plex Sans"/>
                <a:cs typeface="IBM Plex Sans"/>
                <a:sym typeface="IBM Plex Sans"/>
              </a:rPr>
              <a:t> Costruiti sugli stream di output e di input del Socket restituito da accept().</a:t>
            </a:r>
            <a:endParaRPr b="0" i="0" sz="1300" u="none" cap="none" strike="noStrike">
              <a:solidFill>
                <a:schemeClr val="lt1"/>
              </a:solidFill>
              <a:latin typeface="JetBrains Mono"/>
              <a:ea typeface="JetBrains Mono"/>
              <a:cs typeface="JetBrains Mono"/>
              <a:sym typeface="JetBrains Mono"/>
            </a:endParaRPr>
          </a:p>
        </p:txBody>
      </p:sp>
      <p:sp>
        <p:nvSpPr>
          <p:cNvPr id="478" name="Google Shape;478;p21"/>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479" name="Google Shape;479;p21"/>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21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484" name="Shape 484"/>
        <p:cNvGrpSpPr/>
        <p:nvPr/>
      </p:nvGrpSpPr>
      <p:grpSpPr>
        <a:xfrm>
          <a:off x="0" y="0"/>
          <a:ext cx="0" cy="0"/>
          <a:chOff x="0" y="0"/>
          <a:chExt cx="0" cy="0"/>
        </a:xfrm>
      </p:grpSpPr>
      <p:sp>
        <p:nvSpPr>
          <p:cNvPr id="485" name="Google Shape;485;p2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SERVER · COMUNICA()</a:t>
            </a:r>
            <a:endParaRPr b="0" i="0" sz="1200" u="none" cap="none" strike="noStrike">
              <a:solidFill>
                <a:schemeClr val="lt1"/>
              </a:solidFill>
              <a:latin typeface="JetBrains Mono"/>
              <a:ea typeface="JetBrains Mono"/>
              <a:cs typeface="JetBrains Mono"/>
              <a:sym typeface="JetBrains Mono"/>
            </a:endParaRPr>
          </a:p>
        </p:txBody>
      </p:sp>
      <p:sp>
        <p:nvSpPr>
          <p:cNvPr id="486" name="Google Shape;486;p22"/>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Ricevere, elaborare, rispondere</a:t>
            </a:r>
            <a:endParaRPr sz="3000"/>
          </a:p>
        </p:txBody>
      </p:sp>
      <p:sp>
        <p:nvSpPr>
          <p:cNvPr id="487" name="Google Shape;487;p22"/>
          <p:cNvSpPr/>
          <p:nvPr/>
        </p:nvSpPr>
        <p:spPr>
          <a:xfrm>
            <a:off x="812800" y="1775420"/>
            <a:ext cx="6604000" cy="2921000"/>
          </a:xfrm>
          <a:prstGeom prst="roundRect">
            <a:avLst>
              <a:gd fmla="val 4348"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2"/>
          <p:cNvSpPr/>
          <p:nvPr/>
        </p:nvSpPr>
        <p:spPr>
          <a:xfrm>
            <a:off x="1041400" y="1978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public void</a:t>
            </a:r>
            <a:r>
              <a:rPr b="0" i="0" lang="en-US" sz="1200" u="none" cap="none" strike="noStrike">
                <a:solidFill>
                  <a:srgbClr val="E8E4DA"/>
                </a:solidFill>
                <a:latin typeface="JetBrains Mono"/>
                <a:ea typeface="JetBrains Mono"/>
                <a:cs typeface="JetBrains Mono"/>
                <a:sym typeface="JetBrains Mono"/>
              </a:rPr>
              <a:t> comunica() {</a:t>
            </a:r>
            <a:endParaRPr b="0" i="0" sz="1200" u="none" cap="none" strike="noStrike">
              <a:solidFill>
                <a:schemeClr val="lt1"/>
              </a:solidFill>
              <a:latin typeface="JetBrains Mono"/>
              <a:ea typeface="JetBrains Mono"/>
              <a:cs typeface="JetBrains Mono"/>
              <a:sym typeface="JetBrains Mono"/>
            </a:endParaRPr>
          </a:p>
        </p:txBody>
      </p:sp>
      <p:sp>
        <p:nvSpPr>
          <p:cNvPr id="489" name="Google Shape;489;p22"/>
          <p:cNvSpPr/>
          <p:nvPr/>
        </p:nvSpPr>
        <p:spPr>
          <a:xfrm>
            <a:off x="1041400" y="2207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try</a:t>
            </a: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490" name="Google Shape;490;p22"/>
          <p:cNvSpPr/>
          <p:nvPr/>
        </p:nvSpPr>
        <p:spPr>
          <a:xfrm>
            <a:off x="1041400" y="2435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1</a:t>
            </a:r>
            <a:r>
              <a:rPr b="0" i="0" lang="en-US" sz="1200" u="none" cap="none" strike="noStrike">
                <a:solidFill>
                  <a:srgbClr val="E8E4DA"/>
                </a:solidFill>
                <a:latin typeface="JetBrains Mono"/>
                <a:ea typeface="JetBrains Mono"/>
                <a:cs typeface="JetBrains Mono"/>
                <a:sym typeface="JetBrains Mono"/>
              </a:rPr>
              <a:t>          messaggioClient = dalClient.readLine();</a:t>
            </a:r>
            <a:endParaRPr b="0" i="0" sz="1200" u="none" cap="none" strike="noStrike">
              <a:solidFill>
                <a:schemeClr val="lt1"/>
              </a:solidFill>
              <a:latin typeface="JetBrains Mono"/>
              <a:ea typeface="JetBrains Mono"/>
              <a:cs typeface="JetBrains Mono"/>
              <a:sym typeface="JetBrains Mono"/>
            </a:endParaRPr>
          </a:p>
        </p:txBody>
      </p:sp>
      <p:sp>
        <p:nvSpPr>
          <p:cNvPr id="491" name="Google Shape;491;p22"/>
          <p:cNvSpPr/>
          <p:nvPr/>
        </p:nvSpPr>
        <p:spPr>
          <a:xfrm>
            <a:off x="1041400" y="2664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2</a:t>
            </a:r>
            <a:r>
              <a:rPr b="0" i="0" lang="en-US" sz="1200" u="none" cap="none" strike="noStrike">
                <a:solidFill>
                  <a:srgbClr val="E8E4DA"/>
                </a:solidFill>
                <a:latin typeface="JetBrains Mono"/>
                <a:ea typeface="JetBrains Mono"/>
                <a:cs typeface="JetBrains Mono"/>
                <a:sym typeface="JetBrains Mono"/>
              </a:rPr>
              <a:t>          messaggioServer = messaggioClient.toUpperCase();</a:t>
            </a:r>
            <a:endParaRPr b="0" i="0" sz="1200" u="none" cap="none" strike="noStrike">
              <a:solidFill>
                <a:schemeClr val="lt1"/>
              </a:solidFill>
              <a:latin typeface="JetBrains Mono"/>
              <a:ea typeface="JetBrains Mono"/>
              <a:cs typeface="JetBrains Mono"/>
              <a:sym typeface="JetBrains Mono"/>
            </a:endParaRPr>
          </a:p>
        </p:txBody>
      </p:sp>
      <p:sp>
        <p:nvSpPr>
          <p:cNvPr id="492" name="Google Shape;492;p22"/>
          <p:cNvSpPr/>
          <p:nvPr/>
        </p:nvSpPr>
        <p:spPr>
          <a:xfrm>
            <a:off x="1041400" y="2893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3</a:t>
            </a:r>
            <a:r>
              <a:rPr b="0" i="0" lang="en-US" sz="1200" u="none" cap="none" strike="noStrike">
                <a:solidFill>
                  <a:srgbClr val="E8E4DA"/>
                </a:solidFill>
                <a:latin typeface="JetBrains Mono"/>
                <a:ea typeface="JetBrains Mono"/>
                <a:cs typeface="JetBrains Mono"/>
                <a:sym typeface="JetBrains Mono"/>
              </a:rPr>
              <a:t>          versoClient.writeBytes(messaggioServer + </a:t>
            </a:r>
            <a:r>
              <a:rPr b="0" i="0" lang="en-US" sz="1200" u="none" cap="none" strike="noStrike">
                <a:solidFill>
                  <a:srgbClr val="9FD89A"/>
                </a:solidFill>
                <a:latin typeface="JetBrains Mono"/>
                <a:ea typeface="JetBrains Mono"/>
                <a:cs typeface="JetBrains Mono"/>
                <a:sym typeface="JetBrains Mono"/>
              </a:rPr>
              <a:t>"\n"</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493" name="Google Shape;493;p22"/>
          <p:cNvSpPr/>
          <p:nvPr/>
        </p:nvSpPr>
        <p:spPr>
          <a:xfrm>
            <a:off x="1041400" y="3121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System.out.println(</a:t>
            </a:r>
            <a:r>
              <a:rPr b="0" i="0" lang="en-US" sz="1200" u="none" cap="none" strike="noStrike">
                <a:solidFill>
                  <a:srgbClr val="9FD89A"/>
                </a:solidFill>
                <a:latin typeface="JetBrains Mono"/>
                <a:ea typeface="JetBrains Mono"/>
                <a:cs typeface="JetBrains Mono"/>
                <a:sym typeface="JetBrains Mono"/>
              </a:rPr>
              <a:t>"Server: chiusura connessione..."</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494" name="Google Shape;494;p22"/>
          <p:cNvSpPr/>
          <p:nvPr/>
        </p:nvSpPr>
        <p:spPr>
          <a:xfrm>
            <a:off x="1041400" y="33502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4</a:t>
            </a:r>
            <a:r>
              <a:rPr b="0" i="0" lang="en-US" sz="1200" u="none" cap="none" strike="noStrike">
                <a:solidFill>
                  <a:srgbClr val="E8E4DA"/>
                </a:solidFill>
                <a:latin typeface="JetBrains Mono"/>
                <a:ea typeface="JetBrains Mono"/>
                <a:cs typeface="JetBrains Mono"/>
                <a:sym typeface="JetBrains Mono"/>
              </a:rPr>
              <a:t>          client.close();</a:t>
            </a:r>
            <a:endParaRPr b="0" i="0" sz="1200" u="none" cap="none" strike="noStrike">
              <a:solidFill>
                <a:schemeClr val="lt1"/>
              </a:solidFill>
              <a:latin typeface="JetBrains Mono"/>
              <a:ea typeface="JetBrains Mono"/>
              <a:cs typeface="JetBrains Mono"/>
              <a:sym typeface="JetBrains Mono"/>
            </a:endParaRPr>
          </a:p>
        </p:txBody>
      </p:sp>
      <p:sp>
        <p:nvSpPr>
          <p:cNvPr id="495" name="Google Shape;495;p22"/>
          <p:cNvSpPr/>
          <p:nvPr/>
        </p:nvSpPr>
        <p:spPr>
          <a:xfrm>
            <a:off x="1041400" y="35788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 </a:t>
            </a:r>
            <a:r>
              <a:rPr b="0" i="0" lang="en-US" sz="1200" u="none" cap="none" strike="noStrike">
                <a:solidFill>
                  <a:srgbClr val="C4A7F5"/>
                </a:solidFill>
                <a:latin typeface="JetBrains Mono"/>
                <a:ea typeface="JetBrains Mono"/>
                <a:cs typeface="JetBrains Mono"/>
                <a:sym typeface="JetBrains Mono"/>
              </a:rPr>
              <a:t>catch</a:t>
            </a:r>
            <a:r>
              <a:rPr b="0" i="0" lang="en-US" sz="1200" u="none" cap="none" strike="noStrike">
                <a:solidFill>
                  <a:srgbClr val="E8E4DA"/>
                </a:solidFill>
                <a:latin typeface="JetBrains Mono"/>
                <a:ea typeface="JetBrains Mono"/>
                <a:cs typeface="JetBrains Mono"/>
                <a:sym typeface="JetBrains Mono"/>
              </a:rPr>
              <a:t> (Exception e) {</a:t>
            </a:r>
            <a:endParaRPr b="0" i="0" sz="1200" u="none" cap="none" strike="noStrike">
              <a:solidFill>
                <a:schemeClr val="lt1"/>
              </a:solidFill>
              <a:latin typeface="JetBrains Mono"/>
              <a:ea typeface="JetBrains Mono"/>
              <a:cs typeface="JetBrains Mono"/>
              <a:sym typeface="JetBrains Mono"/>
            </a:endParaRPr>
          </a:p>
        </p:txBody>
      </p:sp>
      <p:sp>
        <p:nvSpPr>
          <p:cNvPr id="496" name="Google Shape;496;p22"/>
          <p:cNvSpPr/>
          <p:nvPr/>
        </p:nvSpPr>
        <p:spPr>
          <a:xfrm>
            <a:off x="1041400" y="38074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System.out.println(e.getMessage());</a:t>
            </a:r>
            <a:endParaRPr b="0" i="0" sz="1200" u="none" cap="none" strike="noStrike">
              <a:solidFill>
                <a:schemeClr val="lt1"/>
              </a:solidFill>
              <a:latin typeface="JetBrains Mono"/>
              <a:ea typeface="JetBrains Mono"/>
              <a:cs typeface="JetBrains Mono"/>
              <a:sym typeface="JetBrains Mono"/>
            </a:endParaRPr>
          </a:p>
        </p:txBody>
      </p:sp>
      <p:sp>
        <p:nvSpPr>
          <p:cNvPr id="497" name="Google Shape;497;p22"/>
          <p:cNvSpPr/>
          <p:nvPr/>
        </p:nvSpPr>
        <p:spPr>
          <a:xfrm>
            <a:off x="1041400" y="40360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498" name="Google Shape;498;p22"/>
          <p:cNvSpPr/>
          <p:nvPr/>
        </p:nvSpPr>
        <p:spPr>
          <a:xfrm>
            <a:off x="1041400" y="4264620"/>
            <a:ext cx="6331204"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499" name="Google Shape;499;p22"/>
          <p:cNvSpPr/>
          <p:nvPr/>
        </p:nvSpPr>
        <p:spPr>
          <a:xfrm>
            <a:off x="7721600" y="1775420"/>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1</a:t>
            </a:r>
            <a:endParaRPr b="0" i="0" sz="1200" u="none" cap="none" strike="noStrike">
              <a:solidFill>
                <a:schemeClr val="lt1"/>
              </a:solidFill>
              <a:latin typeface="JetBrains Mono"/>
              <a:ea typeface="JetBrains Mono"/>
              <a:cs typeface="JetBrains Mono"/>
              <a:sym typeface="JetBrains Mono"/>
            </a:endParaRPr>
          </a:p>
        </p:txBody>
      </p:sp>
      <p:sp>
        <p:nvSpPr>
          <p:cNvPr id="500" name="Google Shape;500;p22"/>
          <p:cNvSpPr/>
          <p:nvPr/>
        </p:nvSpPr>
        <p:spPr>
          <a:xfrm>
            <a:off x="8117880" y="1775420"/>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readLine().</a:t>
            </a:r>
            <a:r>
              <a:rPr b="0" i="0" lang="en-US" sz="1300" u="none" cap="none" strike="noStrike">
                <a:solidFill>
                  <a:srgbClr val="D0D5DE"/>
                </a:solidFill>
                <a:latin typeface="IBM Plex Sans"/>
                <a:ea typeface="IBM Plex Sans"/>
                <a:cs typeface="IBM Plex Sans"/>
                <a:sym typeface="IBM Plex Sans"/>
              </a:rPr>
              <a:t> Bloccante: attende la riga inviata dal client.</a:t>
            </a:r>
            <a:endParaRPr b="0" i="0" sz="1300" u="none" cap="none" strike="noStrike">
              <a:solidFill>
                <a:schemeClr val="lt1"/>
              </a:solidFill>
              <a:latin typeface="JetBrains Mono"/>
              <a:ea typeface="JetBrains Mono"/>
              <a:cs typeface="JetBrains Mono"/>
              <a:sym typeface="JetBrains Mono"/>
            </a:endParaRPr>
          </a:p>
        </p:txBody>
      </p:sp>
      <p:sp>
        <p:nvSpPr>
          <p:cNvPr id="501" name="Google Shape;501;p22"/>
          <p:cNvSpPr/>
          <p:nvPr/>
        </p:nvSpPr>
        <p:spPr>
          <a:xfrm>
            <a:off x="7721600" y="2348111"/>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2</a:t>
            </a:r>
            <a:endParaRPr b="0" i="0" sz="1200" u="none" cap="none" strike="noStrike">
              <a:solidFill>
                <a:schemeClr val="lt1"/>
              </a:solidFill>
              <a:latin typeface="JetBrains Mono"/>
              <a:ea typeface="JetBrains Mono"/>
              <a:cs typeface="JetBrains Mono"/>
              <a:sym typeface="JetBrains Mono"/>
            </a:endParaRPr>
          </a:p>
        </p:txBody>
      </p:sp>
      <p:sp>
        <p:nvSpPr>
          <p:cNvPr id="502" name="Google Shape;502;p22"/>
          <p:cNvSpPr/>
          <p:nvPr/>
        </p:nvSpPr>
        <p:spPr>
          <a:xfrm>
            <a:off x="8117880" y="2348111"/>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toUpperCase().</a:t>
            </a:r>
            <a:r>
              <a:rPr b="0" i="0" lang="en-US" sz="1300" u="none" cap="none" strike="noStrike">
                <a:solidFill>
                  <a:srgbClr val="D0D5DE"/>
                </a:solidFill>
                <a:latin typeface="IBM Plex Sans"/>
                <a:ea typeface="IBM Plex Sans"/>
                <a:cs typeface="IBM Plex Sans"/>
                <a:sym typeface="IBM Plex Sans"/>
              </a:rPr>
              <a:t> Elaborazione della richiesta: converte la stringa in maiuscolo.</a:t>
            </a:r>
            <a:endParaRPr b="0" i="0" sz="1300" u="none" cap="none" strike="noStrike">
              <a:solidFill>
                <a:schemeClr val="lt1"/>
              </a:solidFill>
              <a:latin typeface="JetBrains Mono"/>
              <a:ea typeface="JetBrains Mono"/>
              <a:cs typeface="JetBrains Mono"/>
              <a:sym typeface="JetBrains Mono"/>
            </a:endParaRPr>
          </a:p>
        </p:txBody>
      </p:sp>
      <p:sp>
        <p:nvSpPr>
          <p:cNvPr id="503" name="Google Shape;503;p22"/>
          <p:cNvSpPr/>
          <p:nvPr/>
        </p:nvSpPr>
        <p:spPr>
          <a:xfrm>
            <a:off x="7721600" y="2920802"/>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3</a:t>
            </a:r>
            <a:endParaRPr b="0" i="0" sz="1200" u="none" cap="none" strike="noStrike">
              <a:solidFill>
                <a:schemeClr val="lt1"/>
              </a:solidFill>
              <a:latin typeface="JetBrains Mono"/>
              <a:ea typeface="JetBrains Mono"/>
              <a:cs typeface="JetBrains Mono"/>
              <a:sym typeface="JetBrains Mono"/>
            </a:endParaRPr>
          </a:p>
        </p:txBody>
      </p:sp>
      <p:sp>
        <p:nvSpPr>
          <p:cNvPr id="504" name="Google Shape;504;p22"/>
          <p:cNvSpPr/>
          <p:nvPr/>
        </p:nvSpPr>
        <p:spPr>
          <a:xfrm>
            <a:off x="8117880" y="2920802"/>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writeBytes().</a:t>
            </a:r>
            <a:r>
              <a:rPr b="0" i="0" lang="en-US" sz="1300" u="none" cap="none" strike="noStrike">
                <a:solidFill>
                  <a:srgbClr val="D0D5DE"/>
                </a:solidFill>
                <a:latin typeface="IBM Plex Sans"/>
                <a:ea typeface="IBM Plex Sans"/>
                <a:cs typeface="IBM Plex Sans"/>
                <a:sym typeface="IBM Plex Sans"/>
              </a:rPr>
              <a:t> Invia la risposta al client, terminata da "\n".</a:t>
            </a:r>
            <a:endParaRPr b="0" i="0" sz="1300" u="none" cap="none" strike="noStrike">
              <a:solidFill>
                <a:schemeClr val="lt1"/>
              </a:solidFill>
              <a:latin typeface="JetBrains Mono"/>
              <a:ea typeface="JetBrains Mono"/>
              <a:cs typeface="JetBrains Mono"/>
              <a:sym typeface="JetBrains Mono"/>
            </a:endParaRPr>
          </a:p>
        </p:txBody>
      </p:sp>
      <p:sp>
        <p:nvSpPr>
          <p:cNvPr id="505" name="Google Shape;505;p22"/>
          <p:cNvSpPr/>
          <p:nvPr/>
        </p:nvSpPr>
        <p:spPr>
          <a:xfrm>
            <a:off x="7721600" y="3493492"/>
            <a:ext cx="269280" cy="264120"/>
          </a:xfrm>
          <a:prstGeom prst="roundRect">
            <a:avLst>
              <a:gd fmla="val 19234" name="adj"/>
            </a:avLst>
          </a:prstGeom>
          <a:solidFill>
            <a:srgbClr val="B4470F"/>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F2EA"/>
              </a:buClr>
              <a:buSzPts val="1200"/>
              <a:buFont typeface="JetBrains Mono"/>
              <a:buNone/>
            </a:pPr>
            <a:r>
              <a:rPr b="1" i="0" lang="en-US" sz="1200" u="none" cap="none" strike="noStrike">
                <a:solidFill>
                  <a:srgbClr val="F5F2EA"/>
                </a:solidFill>
                <a:latin typeface="JetBrains Mono"/>
                <a:ea typeface="JetBrains Mono"/>
                <a:cs typeface="JetBrains Mono"/>
                <a:sym typeface="JetBrains Mono"/>
              </a:rPr>
              <a:t>4</a:t>
            </a:r>
            <a:endParaRPr b="0" i="0" sz="1200" u="none" cap="none" strike="noStrike">
              <a:solidFill>
                <a:schemeClr val="lt1"/>
              </a:solidFill>
              <a:latin typeface="JetBrains Mono"/>
              <a:ea typeface="JetBrains Mono"/>
              <a:cs typeface="JetBrains Mono"/>
              <a:sym typeface="JetBrains Mono"/>
            </a:endParaRPr>
          </a:p>
        </p:txBody>
      </p:sp>
      <p:sp>
        <p:nvSpPr>
          <p:cNvPr id="506" name="Google Shape;506;p22"/>
          <p:cNvSpPr/>
          <p:nvPr/>
        </p:nvSpPr>
        <p:spPr>
          <a:xfrm>
            <a:off x="8117880" y="3493492"/>
            <a:ext cx="335916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0D5DE"/>
              </a:buClr>
              <a:buSzPts val="1300"/>
              <a:buFont typeface="IBM Plex Sans"/>
              <a:buNone/>
            </a:pPr>
            <a:r>
              <a:rPr b="1" i="0" lang="en-US" sz="1300" u="none" cap="none" strike="noStrike">
                <a:solidFill>
                  <a:srgbClr val="D0D5DE"/>
                </a:solidFill>
                <a:latin typeface="IBM Plex Sans"/>
                <a:ea typeface="IBM Plex Sans"/>
                <a:cs typeface="IBM Plex Sans"/>
                <a:sym typeface="IBM Plex Sans"/>
              </a:rPr>
              <a:t>close().</a:t>
            </a:r>
            <a:r>
              <a:rPr b="0" i="0" lang="en-US" sz="1300" u="none" cap="none" strike="noStrike">
                <a:solidFill>
                  <a:srgbClr val="D0D5DE"/>
                </a:solidFill>
                <a:latin typeface="IBM Plex Sans"/>
                <a:ea typeface="IBM Plex Sans"/>
                <a:cs typeface="IBM Plex Sans"/>
                <a:sym typeface="IBM Plex Sans"/>
              </a:rPr>
              <a:t> Chiude il Socket del client: connessione terminata.</a:t>
            </a:r>
            <a:endParaRPr b="0" i="0" sz="1300" u="none" cap="none" strike="noStrike">
              <a:solidFill>
                <a:schemeClr val="lt1"/>
              </a:solidFill>
              <a:latin typeface="JetBrains Mono"/>
              <a:ea typeface="JetBrains Mono"/>
              <a:cs typeface="JetBrains Mono"/>
              <a:sym typeface="JetBrains Mono"/>
            </a:endParaRPr>
          </a:p>
        </p:txBody>
      </p:sp>
      <p:pic>
        <p:nvPicPr>
          <p:cNvPr descr="Lightbulb" id="507" name="Google Shape;507;p22"/>
          <p:cNvPicPr preferRelativeResize="0"/>
          <p:nvPr/>
        </p:nvPicPr>
        <p:blipFill rotWithShape="1">
          <a:blip r:embed="rId3">
            <a:alphaModFix/>
          </a:blip>
          <a:srcRect b="0" l="0" r="0" t="0"/>
          <a:stretch/>
        </p:blipFill>
        <p:spPr>
          <a:xfrm>
            <a:off x="812800" y="4950420"/>
            <a:ext cx="228600" cy="228600"/>
          </a:xfrm>
          <a:prstGeom prst="rect">
            <a:avLst/>
          </a:prstGeom>
          <a:noFill/>
          <a:ln>
            <a:noFill/>
          </a:ln>
        </p:spPr>
      </p:pic>
      <p:sp>
        <p:nvSpPr>
          <p:cNvPr id="508" name="Google Shape;508;p22"/>
          <p:cNvSpPr/>
          <p:nvPr/>
        </p:nvSpPr>
        <p:spPr>
          <a:xfrm>
            <a:off x="1193800" y="4950420"/>
            <a:ext cx="1049096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EB6C4"/>
              </a:buClr>
              <a:buSzPts val="1200"/>
              <a:buFont typeface="IBM Plex Sans"/>
              <a:buNone/>
            </a:pPr>
            <a:r>
              <a:rPr b="1" i="0" lang="en-US" sz="1200" u="none" cap="none" strike="noStrike">
                <a:solidFill>
                  <a:srgbClr val="AEB6C4"/>
                </a:solidFill>
                <a:latin typeface="IBM Plex Sans"/>
                <a:ea typeface="IBM Plex Sans"/>
                <a:cs typeface="IBM Plex Sans"/>
                <a:sym typeface="IBM Plex Sans"/>
              </a:rPr>
              <a:t>Ordine delle operazioni:</a:t>
            </a:r>
            <a:r>
              <a:rPr b="0" i="0" lang="en-US" sz="1200" u="none" cap="none" strike="noStrike">
                <a:solidFill>
                  <a:srgbClr val="AEB6C4"/>
                </a:solidFill>
                <a:latin typeface="IBM Plex Sans"/>
                <a:ea typeface="IBM Plex Sans"/>
                <a:cs typeface="IBM Plex Sans"/>
                <a:sym typeface="IBM Plex Sans"/>
              </a:rPr>
              <a:t> il client scrive e poi legge, il server legge e poi scrive. Se entrambi eseguissero prima readLine() si avrebbe un deadlock.</a:t>
            </a:r>
            <a:endParaRPr b="0" i="0" sz="1200" u="none" cap="none" strike="noStrike">
              <a:solidFill>
                <a:schemeClr val="lt1"/>
              </a:solidFill>
              <a:latin typeface="JetBrains Mono"/>
              <a:ea typeface="JetBrains Mono"/>
              <a:cs typeface="JetBrains Mono"/>
              <a:sym typeface="JetBrains Mono"/>
            </a:endParaRPr>
          </a:p>
        </p:txBody>
      </p:sp>
      <p:sp>
        <p:nvSpPr>
          <p:cNvPr id="509" name="Google Shape;509;p22"/>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510" name="Google Shape;510;p22"/>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22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515" name="Shape 515"/>
        <p:cNvGrpSpPr/>
        <p:nvPr/>
      </p:nvGrpSpPr>
      <p:grpSpPr>
        <a:xfrm>
          <a:off x="0" y="0"/>
          <a:ext cx="0" cy="0"/>
          <a:chOff x="0" y="0"/>
          <a:chExt cx="0" cy="0"/>
        </a:xfrm>
      </p:grpSpPr>
      <p:sp>
        <p:nvSpPr>
          <p:cNvPr id="516" name="Google Shape;516;p2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05 · L'AVVIO</a:t>
            </a:r>
            <a:endParaRPr b="0" i="0" sz="1200" u="none" cap="none" strike="noStrike">
              <a:solidFill>
                <a:schemeClr val="lt1"/>
              </a:solidFill>
              <a:latin typeface="JetBrains Mono"/>
              <a:ea typeface="JetBrains Mono"/>
              <a:cs typeface="JetBrains Mono"/>
              <a:sym typeface="JetBrains Mono"/>
            </a:endParaRPr>
          </a:p>
        </p:txBody>
      </p:sp>
      <p:sp>
        <p:nvSpPr>
          <p:cNvPr id="517" name="Google Shape;517;p23"/>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I due punti di ingresso</a:t>
            </a:r>
            <a:endParaRPr sz="3000"/>
          </a:p>
        </p:txBody>
      </p:sp>
      <p:sp>
        <p:nvSpPr>
          <p:cNvPr id="518" name="Google Shape;518;p23"/>
          <p:cNvSpPr/>
          <p:nvPr/>
        </p:nvSpPr>
        <p:spPr>
          <a:xfrm>
            <a:off x="812800" y="1775420"/>
            <a:ext cx="53370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1" i="0" lang="en-US" sz="1200" u="none" cap="none" strike="noStrike">
                <a:solidFill>
                  <a:srgbClr val="FF9A5C"/>
                </a:solidFill>
                <a:latin typeface="JetBrains Mono"/>
                <a:ea typeface="JetBrains Mono"/>
                <a:cs typeface="JetBrains Mono"/>
                <a:sym typeface="JetBrains Mono"/>
              </a:rPr>
              <a:t>MainServer · si avvia per primo</a:t>
            </a:r>
            <a:endParaRPr b="0" i="0" sz="1200" u="none" cap="none" strike="noStrike">
              <a:solidFill>
                <a:schemeClr val="lt1"/>
              </a:solidFill>
              <a:latin typeface="JetBrains Mono"/>
              <a:ea typeface="JetBrains Mono"/>
              <a:cs typeface="JetBrains Mono"/>
              <a:sym typeface="JetBrains Mono"/>
            </a:endParaRPr>
          </a:p>
        </p:txBody>
      </p:sp>
      <p:sp>
        <p:nvSpPr>
          <p:cNvPr id="519" name="Google Shape;519;p23"/>
          <p:cNvSpPr/>
          <p:nvPr/>
        </p:nvSpPr>
        <p:spPr>
          <a:xfrm>
            <a:off x="812800" y="2115741"/>
            <a:ext cx="5181600" cy="2006600"/>
          </a:xfrm>
          <a:prstGeom prst="roundRect">
            <a:avLst>
              <a:gd fmla="val 6329"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
          <p:cNvSpPr/>
          <p:nvPr/>
        </p:nvSpPr>
        <p:spPr>
          <a:xfrm>
            <a:off x="1041400" y="23189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4A7F5"/>
              </a:buClr>
              <a:buSzPts val="1200"/>
              <a:buFont typeface="JetBrains Mono"/>
              <a:buNone/>
            </a:pPr>
            <a:r>
              <a:rPr b="0" i="0" lang="en-US" sz="1200" u="none" cap="none" strike="noStrike">
                <a:solidFill>
                  <a:srgbClr val="C4A7F5"/>
                </a:solidFill>
                <a:latin typeface="JetBrains Mono"/>
                <a:ea typeface="JetBrains Mono"/>
                <a:cs typeface="JetBrains Mono"/>
                <a:sym typeface="JetBrains Mono"/>
              </a:rPr>
              <a:t>public class</a:t>
            </a:r>
            <a:r>
              <a:rPr b="0" i="0" lang="en-US" sz="1200" u="none" cap="none" strike="noStrike">
                <a:solidFill>
                  <a:srgbClr val="E8E4DA"/>
                </a:solidFill>
                <a:latin typeface="JetBrains Mono"/>
                <a:ea typeface="JetBrains Mono"/>
                <a:cs typeface="JetBrains Mono"/>
                <a:sym typeface="JetBrains Mono"/>
              </a:rPr>
              <a:t> MainServer {</a:t>
            </a:r>
            <a:endParaRPr b="0" i="0" sz="1200" u="none" cap="none" strike="noStrike">
              <a:solidFill>
                <a:schemeClr val="lt1"/>
              </a:solidFill>
              <a:latin typeface="JetBrains Mono"/>
              <a:ea typeface="JetBrains Mono"/>
              <a:cs typeface="JetBrains Mono"/>
              <a:sym typeface="JetBrains Mono"/>
            </a:endParaRPr>
          </a:p>
        </p:txBody>
      </p:sp>
      <p:sp>
        <p:nvSpPr>
          <p:cNvPr id="521" name="Google Shape;521;p23"/>
          <p:cNvSpPr/>
          <p:nvPr/>
        </p:nvSpPr>
        <p:spPr>
          <a:xfrm>
            <a:off x="1041400" y="25475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public static void</a:t>
            </a:r>
            <a:r>
              <a:rPr b="0" i="0" lang="en-US" sz="1200" u="none" cap="none" strike="noStrike">
                <a:solidFill>
                  <a:srgbClr val="E8E4DA"/>
                </a:solidFill>
                <a:latin typeface="JetBrains Mono"/>
                <a:ea typeface="JetBrains Mono"/>
                <a:cs typeface="JetBrains Mono"/>
                <a:sym typeface="JetBrains Mono"/>
              </a:rPr>
              <a:t> main(String[] args) {</a:t>
            </a:r>
            <a:endParaRPr b="0" i="0" sz="1200" u="none" cap="none" strike="noStrike">
              <a:solidFill>
                <a:schemeClr val="lt1"/>
              </a:solidFill>
              <a:latin typeface="JetBrains Mono"/>
              <a:ea typeface="JetBrains Mono"/>
              <a:cs typeface="JetBrains Mono"/>
              <a:sym typeface="JetBrains Mono"/>
            </a:endParaRPr>
          </a:p>
        </p:txBody>
      </p:sp>
      <p:sp>
        <p:nvSpPr>
          <p:cNvPr id="522" name="Google Shape;522;p23"/>
          <p:cNvSpPr/>
          <p:nvPr/>
        </p:nvSpPr>
        <p:spPr>
          <a:xfrm>
            <a:off x="1041400" y="27761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Server s =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Server();</a:t>
            </a:r>
            <a:endParaRPr b="0" i="0" sz="1200" u="none" cap="none" strike="noStrike">
              <a:solidFill>
                <a:schemeClr val="lt1"/>
              </a:solidFill>
              <a:latin typeface="JetBrains Mono"/>
              <a:ea typeface="JetBrains Mono"/>
              <a:cs typeface="JetBrains Mono"/>
              <a:sym typeface="JetBrains Mono"/>
            </a:endParaRPr>
          </a:p>
        </p:txBody>
      </p:sp>
      <p:sp>
        <p:nvSpPr>
          <p:cNvPr id="523" name="Google Shape;523;p23"/>
          <p:cNvSpPr/>
          <p:nvPr/>
        </p:nvSpPr>
        <p:spPr>
          <a:xfrm>
            <a:off x="1041400" y="30047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s.</a:t>
            </a:r>
            <a:r>
              <a:rPr b="0" i="0" lang="en-US" sz="1200" u="none" cap="none" strike="noStrike">
                <a:solidFill>
                  <a:srgbClr val="FF9A5C"/>
                </a:solidFill>
                <a:latin typeface="JetBrains Mono"/>
                <a:ea typeface="JetBrains Mono"/>
                <a:cs typeface="JetBrains Mono"/>
                <a:sym typeface="JetBrains Mono"/>
              </a:rPr>
              <a:t>attendi</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524" name="Google Shape;524;p23"/>
          <p:cNvSpPr/>
          <p:nvPr/>
        </p:nvSpPr>
        <p:spPr>
          <a:xfrm>
            <a:off x="1041400" y="32333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s.</a:t>
            </a:r>
            <a:r>
              <a:rPr b="0" i="0" lang="en-US" sz="1200" u="none" cap="none" strike="noStrike">
                <a:solidFill>
                  <a:srgbClr val="FF9A5C"/>
                </a:solidFill>
                <a:latin typeface="JetBrains Mono"/>
                <a:ea typeface="JetBrains Mono"/>
                <a:cs typeface="JetBrains Mono"/>
                <a:sym typeface="JetBrains Mono"/>
              </a:rPr>
              <a:t>comunica</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525" name="Google Shape;525;p23"/>
          <p:cNvSpPr/>
          <p:nvPr/>
        </p:nvSpPr>
        <p:spPr>
          <a:xfrm>
            <a:off x="1041400" y="34619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526" name="Google Shape;526;p23"/>
          <p:cNvSpPr/>
          <p:nvPr/>
        </p:nvSpPr>
        <p:spPr>
          <a:xfrm>
            <a:off x="1041400" y="36905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527" name="Google Shape;527;p23"/>
          <p:cNvSpPr/>
          <p:nvPr/>
        </p:nvSpPr>
        <p:spPr>
          <a:xfrm>
            <a:off x="812800" y="4249341"/>
            <a:ext cx="5337048" cy="4876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0D5DE"/>
              </a:buClr>
              <a:buSzPts val="1300"/>
              <a:buFont typeface="IBM Plex Sans"/>
              <a:buNone/>
            </a:pPr>
            <a:r>
              <a:rPr b="0" i="0" lang="en-US" sz="1300" u="none" cap="none" strike="noStrike">
                <a:solidFill>
                  <a:srgbClr val="D0D5DE"/>
                </a:solidFill>
                <a:latin typeface="IBM Plex Sans"/>
                <a:ea typeface="IBM Plex Sans"/>
                <a:cs typeface="IBM Plex Sans"/>
                <a:sym typeface="IBM Plex Sans"/>
              </a:rPr>
              <a:t>Istanzia Server, invoca attendi(), bloccante fino alla connessione di un client, poi comunica().</a:t>
            </a:r>
            <a:endParaRPr b="0" i="0" sz="1300" u="none" cap="none" strike="noStrike">
              <a:solidFill>
                <a:schemeClr val="lt1"/>
              </a:solidFill>
              <a:latin typeface="JetBrains Mono"/>
              <a:ea typeface="JetBrains Mono"/>
              <a:cs typeface="JetBrains Mono"/>
              <a:sym typeface="JetBrains Mono"/>
            </a:endParaRPr>
          </a:p>
        </p:txBody>
      </p:sp>
      <p:sp>
        <p:nvSpPr>
          <p:cNvPr id="528" name="Google Shape;528;p23"/>
          <p:cNvSpPr/>
          <p:nvPr/>
        </p:nvSpPr>
        <p:spPr>
          <a:xfrm>
            <a:off x="6197600" y="1775420"/>
            <a:ext cx="533704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1" i="0" lang="en-US" sz="1200" u="none" cap="none" strike="noStrike">
                <a:solidFill>
                  <a:srgbClr val="7FB2FF"/>
                </a:solidFill>
                <a:latin typeface="JetBrains Mono"/>
                <a:ea typeface="JetBrains Mono"/>
                <a:cs typeface="JetBrains Mono"/>
                <a:sym typeface="JetBrains Mono"/>
              </a:rPr>
              <a:t>MainClient · si avvia per secondo</a:t>
            </a:r>
            <a:endParaRPr b="0" i="0" sz="1200" u="none" cap="none" strike="noStrike">
              <a:solidFill>
                <a:schemeClr val="lt1"/>
              </a:solidFill>
              <a:latin typeface="JetBrains Mono"/>
              <a:ea typeface="JetBrains Mono"/>
              <a:cs typeface="JetBrains Mono"/>
              <a:sym typeface="JetBrains Mono"/>
            </a:endParaRPr>
          </a:p>
        </p:txBody>
      </p:sp>
      <p:sp>
        <p:nvSpPr>
          <p:cNvPr id="529" name="Google Shape;529;p23"/>
          <p:cNvSpPr/>
          <p:nvPr/>
        </p:nvSpPr>
        <p:spPr>
          <a:xfrm>
            <a:off x="6197600" y="2115741"/>
            <a:ext cx="5181600" cy="2006600"/>
          </a:xfrm>
          <a:prstGeom prst="roundRect">
            <a:avLst>
              <a:gd fmla="val 6329"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3"/>
          <p:cNvSpPr/>
          <p:nvPr/>
        </p:nvSpPr>
        <p:spPr>
          <a:xfrm>
            <a:off x="6426200" y="23189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4A7F5"/>
              </a:buClr>
              <a:buSzPts val="1200"/>
              <a:buFont typeface="JetBrains Mono"/>
              <a:buNone/>
            </a:pPr>
            <a:r>
              <a:rPr b="0" i="0" lang="en-US" sz="1200" u="none" cap="none" strike="noStrike">
                <a:solidFill>
                  <a:srgbClr val="C4A7F5"/>
                </a:solidFill>
                <a:latin typeface="JetBrains Mono"/>
                <a:ea typeface="JetBrains Mono"/>
                <a:cs typeface="JetBrains Mono"/>
                <a:sym typeface="JetBrains Mono"/>
              </a:rPr>
              <a:t>public class</a:t>
            </a:r>
            <a:r>
              <a:rPr b="0" i="0" lang="en-US" sz="1200" u="none" cap="none" strike="noStrike">
                <a:solidFill>
                  <a:srgbClr val="E8E4DA"/>
                </a:solidFill>
                <a:latin typeface="JetBrains Mono"/>
                <a:ea typeface="JetBrains Mono"/>
                <a:cs typeface="JetBrains Mono"/>
                <a:sym typeface="JetBrains Mono"/>
              </a:rPr>
              <a:t> MainClient {</a:t>
            </a:r>
            <a:endParaRPr b="0" i="0" sz="1200" u="none" cap="none" strike="noStrike">
              <a:solidFill>
                <a:schemeClr val="lt1"/>
              </a:solidFill>
              <a:latin typeface="JetBrains Mono"/>
              <a:ea typeface="JetBrains Mono"/>
              <a:cs typeface="JetBrains Mono"/>
              <a:sym typeface="JetBrains Mono"/>
            </a:endParaRPr>
          </a:p>
        </p:txBody>
      </p:sp>
      <p:sp>
        <p:nvSpPr>
          <p:cNvPr id="531" name="Google Shape;531;p23"/>
          <p:cNvSpPr/>
          <p:nvPr/>
        </p:nvSpPr>
        <p:spPr>
          <a:xfrm>
            <a:off x="6426200" y="25475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C4A7F5"/>
                </a:solidFill>
                <a:latin typeface="JetBrains Mono"/>
                <a:ea typeface="JetBrains Mono"/>
                <a:cs typeface="JetBrains Mono"/>
                <a:sym typeface="JetBrains Mono"/>
              </a:rPr>
              <a:t>public static void</a:t>
            </a:r>
            <a:r>
              <a:rPr b="0" i="0" lang="en-US" sz="1200" u="none" cap="none" strike="noStrike">
                <a:solidFill>
                  <a:srgbClr val="E8E4DA"/>
                </a:solidFill>
                <a:latin typeface="JetBrains Mono"/>
                <a:ea typeface="JetBrains Mono"/>
                <a:cs typeface="JetBrains Mono"/>
                <a:sym typeface="JetBrains Mono"/>
              </a:rPr>
              <a:t> main(String[] args) {</a:t>
            </a:r>
            <a:endParaRPr b="0" i="0" sz="1200" u="none" cap="none" strike="noStrike">
              <a:solidFill>
                <a:schemeClr val="lt1"/>
              </a:solidFill>
              <a:latin typeface="JetBrains Mono"/>
              <a:ea typeface="JetBrains Mono"/>
              <a:cs typeface="JetBrains Mono"/>
              <a:sym typeface="JetBrains Mono"/>
            </a:endParaRPr>
          </a:p>
        </p:txBody>
      </p:sp>
      <p:sp>
        <p:nvSpPr>
          <p:cNvPr id="532" name="Google Shape;532;p23"/>
          <p:cNvSpPr/>
          <p:nvPr/>
        </p:nvSpPr>
        <p:spPr>
          <a:xfrm>
            <a:off x="6426200" y="27761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Client c = </a:t>
            </a:r>
            <a:r>
              <a:rPr b="0" i="0" lang="en-US" sz="1200" u="none" cap="none" strike="noStrike">
                <a:solidFill>
                  <a:srgbClr val="C4A7F5"/>
                </a:solidFill>
                <a:latin typeface="JetBrains Mono"/>
                <a:ea typeface="JetBrains Mono"/>
                <a:cs typeface="JetBrains Mono"/>
                <a:sym typeface="JetBrains Mono"/>
              </a:rPr>
              <a:t>new</a:t>
            </a:r>
            <a:r>
              <a:rPr b="0" i="0" lang="en-US" sz="1200" u="none" cap="none" strike="noStrike">
                <a:solidFill>
                  <a:srgbClr val="E8E4DA"/>
                </a:solidFill>
                <a:latin typeface="JetBrains Mono"/>
                <a:ea typeface="JetBrains Mono"/>
                <a:cs typeface="JetBrains Mono"/>
                <a:sym typeface="JetBrains Mono"/>
              </a:rPr>
              <a:t> Client();</a:t>
            </a:r>
            <a:endParaRPr b="0" i="0" sz="1200" u="none" cap="none" strike="noStrike">
              <a:solidFill>
                <a:schemeClr val="lt1"/>
              </a:solidFill>
              <a:latin typeface="JetBrains Mono"/>
              <a:ea typeface="JetBrains Mono"/>
              <a:cs typeface="JetBrains Mono"/>
              <a:sym typeface="JetBrains Mono"/>
            </a:endParaRPr>
          </a:p>
        </p:txBody>
      </p:sp>
      <p:sp>
        <p:nvSpPr>
          <p:cNvPr id="533" name="Google Shape;533;p23"/>
          <p:cNvSpPr/>
          <p:nvPr/>
        </p:nvSpPr>
        <p:spPr>
          <a:xfrm>
            <a:off x="6426200" y="30047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c.</a:t>
            </a:r>
            <a:r>
              <a:rPr b="0" i="0" lang="en-US" sz="1200" u="none" cap="none" strike="noStrike">
                <a:solidFill>
                  <a:srgbClr val="7FB2FF"/>
                </a:solidFill>
                <a:latin typeface="JetBrains Mono"/>
                <a:ea typeface="JetBrains Mono"/>
                <a:cs typeface="JetBrains Mono"/>
                <a:sym typeface="JetBrains Mono"/>
              </a:rPr>
              <a:t>connetti</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534" name="Google Shape;534;p23"/>
          <p:cNvSpPr/>
          <p:nvPr/>
        </p:nvSpPr>
        <p:spPr>
          <a:xfrm>
            <a:off x="6426200" y="32333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c.</a:t>
            </a:r>
            <a:r>
              <a:rPr b="0" i="0" lang="en-US" sz="1200" u="none" cap="none" strike="noStrike">
                <a:solidFill>
                  <a:srgbClr val="7FB2FF"/>
                </a:solidFill>
                <a:latin typeface="JetBrains Mono"/>
                <a:ea typeface="JetBrains Mono"/>
                <a:cs typeface="JetBrains Mono"/>
                <a:sym typeface="JetBrains Mono"/>
              </a:rPr>
              <a:t>comunica</a:t>
            </a: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535" name="Google Shape;535;p23"/>
          <p:cNvSpPr/>
          <p:nvPr/>
        </p:nvSpPr>
        <p:spPr>
          <a:xfrm>
            <a:off x="6426200" y="34619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    }</a:t>
            </a:r>
            <a:endParaRPr b="0" i="0" sz="1200" u="none" cap="none" strike="noStrike">
              <a:solidFill>
                <a:schemeClr val="lt1"/>
              </a:solidFill>
              <a:latin typeface="JetBrains Mono"/>
              <a:ea typeface="JetBrains Mono"/>
              <a:cs typeface="JetBrains Mono"/>
              <a:sym typeface="JetBrains Mono"/>
            </a:endParaRPr>
          </a:p>
        </p:txBody>
      </p:sp>
      <p:sp>
        <p:nvSpPr>
          <p:cNvPr id="536" name="Google Shape;536;p23"/>
          <p:cNvSpPr/>
          <p:nvPr/>
        </p:nvSpPr>
        <p:spPr>
          <a:xfrm>
            <a:off x="6426200" y="3690541"/>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a:t>
            </a:r>
            <a:endParaRPr b="0" i="0" sz="1200" u="none" cap="none" strike="noStrike">
              <a:solidFill>
                <a:schemeClr val="lt1"/>
              </a:solidFill>
              <a:latin typeface="JetBrains Mono"/>
              <a:ea typeface="JetBrains Mono"/>
              <a:cs typeface="JetBrains Mono"/>
              <a:sym typeface="JetBrains Mono"/>
            </a:endParaRPr>
          </a:p>
        </p:txBody>
      </p:sp>
      <p:sp>
        <p:nvSpPr>
          <p:cNvPr id="537" name="Google Shape;537;p23"/>
          <p:cNvSpPr/>
          <p:nvPr/>
        </p:nvSpPr>
        <p:spPr>
          <a:xfrm>
            <a:off x="6197600" y="4249341"/>
            <a:ext cx="5337048" cy="4876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0D5DE"/>
              </a:buClr>
              <a:buSzPts val="1300"/>
              <a:buFont typeface="IBM Plex Sans"/>
              <a:buNone/>
            </a:pPr>
            <a:r>
              <a:rPr b="0" i="0" lang="en-US" sz="1300" u="none" cap="none" strike="noStrike">
                <a:solidFill>
                  <a:srgbClr val="D0D5DE"/>
                </a:solidFill>
                <a:latin typeface="IBM Plex Sans"/>
                <a:ea typeface="IBM Plex Sans"/>
                <a:cs typeface="IBM Plex Sans"/>
                <a:sym typeface="IBM Plex Sans"/>
              </a:rPr>
              <a:t>Istanzia Client, invoca connetti() verso il server già in ascolto, poi comunica().</a:t>
            </a:r>
            <a:endParaRPr b="0" i="0" sz="1300" u="none" cap="none" strike="noStrike">
              <a:solidFill>
                <a:schemeClr val="lt1"/>
              </a:solidFill>
              <a:latin typeface="JetBrains Mono"/>
              <a:ea typeface="JetBrains Mono"/>
              <a:cs typeface="JetBrains Mono"/>
              <a:sym typeface="JetBrains Mono"/>
            </a:endParaRPr>
          </a:p>
        </p:txBody>
      </p:sp>
      <p:sp>
        <p:nvSpPr>
          <p:cNvPr id="538" name="Google Shape;538;p23"/>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539" name="Google Shape;539;p23"/>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23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544" name="Shape 544"/>
        <p:cNvGrpSpPr/>
        <p:nvPr/>
      </p:nvGrpSpPr>
      <p:grpSpPr>
        <a:xfrm>
          <a:off x="0" y="0"/>
          <a:ext cx="0" cy="0"/>
          <a:chOff x="0" y="0"/>
          <a:chExt cx="0" cy="0"/>
        </a:xfrm>
      </p:grpSpPr>
      <p:sp>
        <p:nvSpPr>
          <p:cNvPr id="545" name="Google Shape;545;p2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05 · L'AVVIO</a:t>
            </a:r>
            <a:endParaRPr b="0" i="0" sz="1200" u="none" cap="none" strike="noStrike">
              <a:solidFill>
                <a:schemeClr val="lt1"/>
              </a:solidFill>
              <a:latin typeface="JetBrains Mono"/>
              <a:ea typeface="JetBrains Mono"/>
              <a:cs typeface="JetBrains Mono"/>
              <a:sym typeface="JetBrains Mono"/>
            </a:endParaRPr>
          </a:p>
        </p:txBody>
      </p:sp>
      <p:sp>
        <p:nvSpPr>
          <p:cNvPr id="546" name="Google Shape;546;p24"/>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Cosa si vede eseguendo l'esempio</a:t>
            </a:r>
            <a:endParaRPr sz="3000"/>
          </a:p>
        </p:txBody>
      </p:sp>
      <p:sp>
        <p:nvSpPr>
          <p:cNvPr id="547" name="Google Shape;547;p24"/>
          <p:cNvSpPr/>
          <p:nvPr/>
        </p:nvSpPr>
        <p:spPr>
          <a:xfrm>
            <a:off x="812800" y="1750020"/>
            <a:ext cx="5181600" cy="1346200"/>
          </a:xfrm>
          <a:prstGeom prst="roundRect">
            <a:avLst>
              <a:gd fmla="val 9434"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4"/>
          <p:cNvSpPr/>
          <p:nvPr/>
        </p:nvSpPr>
        <p:spPr>
          <a:xfrm>
            <a:off x="1041400" y="1927820"/>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9A5C"/>
              </a:buClr>
              <a:buSzPts val="1200"/>
              <a:buFont typeface="JetBrains Mono"/>
              <a:buNone/>
            </a:pPr>
            <a:r>
              <a:rPr b="1" i="0" lang="en-US" sz="1200" u="none" cap="none" strike="noStrike">
                <a:solidFill>
                  <a:srgbClr val="FF9A5C"/>
                </a:solidFill>
                <a:latin typeface="JetBrains Mono"/>
                <a:ea typeface="JetBrains Mono"/>
                <a:cs typeface="JetBrains Mono"/>
                <a:sym typeface="JetBrains Mono"/>
              </a:rPr>
              <a:t>Console del server</a:t>
            </a:r>
            <a:endParaRPr b="0" i="0" sz="1200" u="none" cap="none" strike="noStrike">
              <a:solidFill>
                <a:schemeClr val="lt1"/>
              </a:solidFill>
              <a:latin typeface="JetBrains Mono"/>
              <a:ea typeface="JetBrains Mono"/>
              <a:cs typeface="JetBrains Mono"/>
              <a:sym typeface="JetBrains Mono"/>
            </a:endParaRPr>
          </a:p>
        </p:txBody>
      </p:sp>
      <p:sp>
        <p:nvSpPr>
          <p:cNvPr id="549" name="Google Shape;549;p24"/>
          <p:cNvSpPr/>
          <p:nvPr/>
        </p:nvSpPr>
        <p:spPr>
          <a:xfrm>
            <a:off x="1041400" y="2232620"/>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Server partito...</a:t>
            </a:r>
            <a:endParaRPr b="0" i="0" sz="1200" u="none" cap="none" strike="noStrike">
              <a:solidFill>
                <a:schemeClr val="lt1"/>
              </a:solidFill>
              <a:latin typeface="JetBrains Mono"/>
              <a:ea typeface="JetBrains Mono"/>
              <a:cs typeface="JetBrains Mono"/>
              <a:sym typeface="JetBrains Mono"/>
            </a:endParaRPr>
          </a:p>
        </p:txBody>
      </p:sp>
      <p:sp>
        <p:nvSpPr>
          <p:cNvPr id="550" name="Google Shape;550;p24"/>
          <p:cNvSpPr/>
          <p:nvPr/>
        </p:nvSpPr>
        <p:spPr>
          <a:xfrm>
            <a:off x="1041400" y="2461220"/>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Server: chiusura connessione...</a:t>
            </a:r>
            <a:endParaRPr b="0" i="0" sz="1200" u="none" cap="none" strike="noStrike">
              <a:solidFill>
                <a:schemeClr val="lt1"/>
              </a:solidFill>
              <a:latin typeface="JetBrains Mono"/>
              <a:ea typeface="JetBrains Mono"/>
              <a:cs typeface="JetBrains Mono"/>
              <a:sym typeface="JetBrains Mono"/>
            </a:endParaRPr>
          </a:p>
        </p:txBody>
      </p:sp>
      <p:sp>
        <p:nvSpPr>
          <p:cNvPr id="551" name="Google Shape;551;p24"/>
          <p:cNvSpPr/>
          <p:nvPr/>
        </p:nvSpPr>
        <p:spPr>
          <a:xfrm>
            <a:off x="6197600" y="1750020"/>
            <a:ext cx="5181600" cy="1346200"/>
          </a:xfrm>
          <a:prstGeom prst="roundRect">
            <a:avLst>
              <a:gd fmla="val 9434" name="adj"/>
            </a:avLst>
          </a:prstGeom>
          <a:solidFill>
            <a:srgbClr val="1820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4"/>
          <p:cNvSpPr/>
          <p:nvPr/>
        </p:nvSpPr>
        <p:spPr>
          <a:xfrm>
            <a:off x="6426200" y="1927820"/>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FB2FF"/>
              </a:buClr>
              <a:buSzPts val="1200"/>
              <a:buFont typeface="JetBrains Mono"/>
              <a:buNone/>
            </a:pPr>
            <a:r>
              <a:rPr b="1" i="0" lang="en-US" sz="1200" u="none" cap="none" strike="noStrike">
                <a:solidFill>
                  <a:srgbClr val="7FB2FF"/>
                </a:solidFill>
                <a:latin typeface="JetBrains Mono"/>
                <a:ea typeface="JetBrains Mono"/>
                <a:cs typeface="JetBrains Mono"/>
                <a:sym typeface="JetBrains Mono"/>
              </a:rPr>
              <a:t>Console del client</a:t>
            </a:r>
            <a:endParaRPr b="0" i="0" sz="1200" u="none" cap="none" strike="noStrike">
              <a:solidFill>
                <a:schemeClr val="lt1"/>
              </a:solidFill>
              <a:latin typeface="JetBrains Mono"/>
              <a:ea typeface="JetBrains Mono"/>
              <a:cs typeface="JetBrains Mono"/>
              <a:sym typeface="JetBrains Mono"/>
            </a:endParaRPr>
          </a:p>
        </p:txBody>
      </p:sp>
      <p:sp>
        <p:nvSpPr>
          <p:cNvPr id="553" name="Google Shape;553;p24"/>
          <p:cNvSpPr/>
          <p:nvPr/>
        </p:nvSpPr>
        <p:spPr>
          <a:xfrm>
            <a:off x="6426200" y="2232620"/>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Messaggio per il server:</a:t>
            </a:r>
            <a:endParaRPr b="0" i="0" sz="1200" u="none" cap="none" strike="noStrike">
              <a:solidFill>
                <a:schemeClr val="lt1"/>
              </a:solidFill>
              <a:latin typeface="JetBrains Mono"/>
              <a:ea typeface="JetBrains Mono"/>
              <a:cs typeface="JetBrains Mono"/>
              <a:sym typeface="JetBrains Mono"/>
            </a:endParaRPr>
          </a:p>
        </p:txBody>
      </p:sp>
      <p:sp>
        <p:nvSpPr>
          <p:cNvPr id="554" name="Google Shape;554;p24"/>
          <p:cNvSpPr/>
          <p:nvPr/>
        </p:nvSpPr>
        <p:spPr>
          <a:xfrm>
            <a:off x="6426200" y="2461220"/>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9FD89A"/>
              </a:buClr>
              <a:buSzPts val="1200"/>
              <a:buFont typeface="JetBrains Mono"/>
              <a:buNone/>
            </a:pPr>
            <a:r>
              <a:rPr b="0" i="0" lang="en-US" sz="1200" u="none" cap="none" strike="noStrike">
                <a:solidFill>
                  <a:srgbClr val="9FD89A"/>
                </a:solidFill>
                <a:latin typeface="JetBrains Mono"/>
                <a:ea typeface="JetBrains Mono"/>
                <a:cs typeface="JetBrains Mono"/>
                <a:sym typeface="JetBrains Mono"/>
              </a:rPr>
              <a:t>ciao</a:t>
            </a:r>
            <a:r>
              <a:rPr b="0" i="0" lang="en-US" sz="1200" u="none" cap="none" strike="noStrike">
                <a:solidFill>
                  <a:srgbClr val="E8E4DA"/>
                </a:solidFill>
                <a:latin typeface="JetBrains Mono"/>
                <a:ea typeface="JetBrains Mono"/>
                <a:cs typeface="JetBrains Mono"/>
                <a:sym typeface="JetBrains Mono"/>
              </a:rPr>
              <a:t> </a:t>
            </a:r>
            <a:r>
              <a:rPr b="0" i="0" lang="en-US" sz="1200" u="none" cap="none" strike="noStrike">
                <a:solidFill>
                  <a:srgbClr val="8F98A8"/>
                </a:solidFill>
                <a:latin typeface="JetBrains Mono"/>
                <a:ea typeface="JetBrains Mono"/>
                <a:cs typeface="JetBrains Mono"/>
                <a:sym typeface="JetBrains Mono"/>
              </a:rPr>
              <a:t>← scritto dall'utente</a:t>
            </a:r>
            <a:endParaRPr b="0" i="0" sz="1200" u="none" cap="none" strike="noStrike">
              <a:solidFill>
                <a:schemeClr val="lt1"/>
              </a:solidFill>
              <a:latin typeface="JetBrains Mono"/>
              <a:ea typeface="JetBrains Mono"/>
              <a:cs typeface="JetBrains Mono"/>
              <a:sym typeface="JetBrains Mono"/>
            </a:endParaRPr>
          </a:p>
        </p:txBody>
      </p:sp>
      <p:sp>
        <p:nvSpPr>
          <p:cNvPr id="555" name="Google Shape;555;p24"/>
          <p:cNvSpPr/>
          <p:nvPr/>
        </p:nvSpPr>
        <p:spPr>
          <a:xfrm>
            <a:off x="6426200" y="2689820"/>
            <a:ext cx="4866132"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E8E4DA"/>
              </a:buClr>
              <a:buSzPts val="1200"/>
              <a:buFont typeface="JetBrains Mono"/>
              <a:buNone/>
            </a:pPr>
            <a:r>
              <a:rPr b="0" i="0" lang="en-US" sz="1200" u="none" cap="none" strike="noStrike">
                <a:solidFill>
                  <a:srgbClr val="E8E4DA"/>
                </a:solidFill>
                <a:latin typeface="JetBrains Mono"/>
                <a:ea typeface="JetBrains Mono"/>
                <a:cs typeface="JetBrains Mono"/>
                <a:sym typeface="JetBrains Mono"/>
              </a:rPr>
              <a:t>Risposta: CIAO</a:t>
            </a:r>
            <a:endParaRPr b="0" i="0" sz="1200" u="none" cap="none" strike="noStrike">
              <a:solidFill>
                <a:schemeClr val="lt1"/>
              </a:solidFill>
              <a:latin typeface="JetBrains Mono"/>
              <a:ea typeface="JetBrains Mono"/>
              <a:cs typeface="JetBrains Mono"/>
              <a:sym typeface="JetBrains Mono"/>
            </a:endParaRPr>
          </a:p>
        </p:txBody>
      </p:sp>
      <p:sp>
        <p:nvSpPr>
          <p:cNvPr id="556" name="Google Shape;556;p24"/>
          <p:cNvSpPr/>
          <p:nvPr/>
        </p:nvSpPr>
        <p:spPr>
          <a:xfrm>
            <a:off x="815975" y="3327995"/>
            <a:ext cx="2520950" cy="1001911"/>
          </a:xfrm>
          <a:prstGeom prst="roundRect">
            <a:avLst>
              <a:gd fmla="val 9824" name="adj"/>
            </a:avLst>
          </a:prstGeom>
          <a:solidFill>
            <a:srgbClr val="2E1D12"/>
          </a:solidFill>
          <a:ln cap="flat" cmpd="sng" w="9525">
            <a:solidFill>
              <a:srgbClr val="6B3F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4"/>
          <p:cNvSpPr/>
          <p:nvPr/>
        </p:nvSpPr>
        <p:spPr>
          <a:xfrm>
            <a:off x="996950" y="3483570"/>
            <a:ext cx="22237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1" i="0" lang="en-US" sz="1200" u="none" cap="none" strike="noStrike">
                <a:solidFill>
                  <a:srgbClr val="FF9A5C"/>
                </a:solidFill>
                <a:latin typeface="JetBrains Mono"/>
                <a:ea typeface="JetBrains Mono"/>
                <a:cs typeface="JetBrains Mono"/>
                <a:sym typeface="JetBrains Mono"/>
              </a:rPr>
              <a:t>1 · Server</a:t>
            </a:r>
            <a:endParaRPr b="0" i="0" sz="1200" u="none" cap="none" strike="noStrike">
              <a:solidFill>
                <a:schemeClr val="lt1"/>
              </a:solidFill>
              <a:latin typeface="JetBrains Mono"/>
              <a:ea typeface="JetBrains Mono"/>
              <a:cs typeface="JetBrains Mono"/>
              <a:sym typeface="JetBrains Mono"/>
            </a:endParaRPr>
          </a:p>
        </p:txBody>
      </p:sp>
      <p:sp>
        <p:nvSpPr>
          <p:cNvPr id="558" name="Google Shape;558;p24"/>
          <p:cNvSpPr/>
          <p:nvPr/>
        </p:nvSpPr>
        <p:spPr>
          <a:xfrm>
            <a:off x="996950" y="3747691"/>
            <a:ext cx="222377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0D5DE"/>
              </a:buClr>
              <a:buSzPts val="1200"/>
              <a:buFont typeface="IBM Plex Sans"/>
              <a:buNone/>
            </a:pPr>
            <a:r>
              <a:rPr b="0" i="0" lang="en-US" sz="1200" u="none" cap="none" strike="noStrike">
                <a:solidFill>
                  <a:srgbClr val="D0D5DE"/>
                </a:solidFill>
                <a:latin typeface="IBM Plex Sans"/>
                <a:ea typeface="IBM Plex Sans"/>
                <a:cs typeface="IBM Plex Sans"/>
                <a:sym typeface="IBM Plex Sans"/>
              </a:rPr>
              <a:t>Stampa "Server partito..." e si blocca su accept().</a:t>
            </a:r>
            <a:endParaRPr b="0" i="0" sz="1200" u="none" cap="none" strike="noStrike">
              <a:solidFill>
                <a:schemeClr val="lt1"/>
              </a:solidFill>
              <a:latin typeface="JetBrains Mono"/>
              <a:ea typeface="JetBrains Mono"/>
              <a:cs typeface="JetBrains Mono"/>
              <a:sym typeface="JetBrains Mono"/>
            </a:endParaRPr>
          </a:p>
        </p:txBody>
      </p:sp>
      <p:sp>
        <p:nvSpPr>
          <p:cNvPr id="559" name="Google Shape;559;p24"/>
          <p:cNvSpPr/>
          <p:nvPr/>
        </p:nvSpPr>
        <p:spPr>
          <a:xfrm>
            <a:off x="3495675" y="3327995"/>
            <a:ext cx="2520950" cy="1001911"/>
          </a:xfrm>
          <a:prstGeom prst="roundRect">
            <a:avLst>
              <a:gd fmla="val 9824" name="adj"/>
            </a:avLst>
          </a:prstGeom>
          <a:solidFill>
            <a:srgbClr val="14233F"/>
          </a:solidFill>
          <a:ln cap="flat" cmpd="sng" w="9525">
            <a:solidFill>
              <a:srgbClr val="2C4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4"/>
          <p:cNvSpPr/>
          <p:nvPr/>
        </p:nvSpPr>
        <p:spPr>
          <a:xfrm>
            <a:off x="3676650" y="3483570"/>
            <a:ext cx="22237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1" i="0" lang="en-US" sz="1200" u="none" cap="none" strike="noStrike">
                <a:solidFill>
                  <a:srgbClr val="7FB2FF"/>
                </a:solidFill>
                <a:latin typeface="JetBrains Mono"/>
                <a:ea typeface="JetBrains Mono"/>
                <a:cs typeface="JetBrains Mono"/>
                <a:sym typeface="JetBrains Mono"/>
              </a:rPr>
              <a:t>2 · Client</a:t>
            </a:r>
            <a:endParaRPr b="0" i="0" sz="1200" u="none" cap="none" strike="noStrike">
              <a:solidFill>
                <a:schemeClr val="lt1"/>
              </a:solidFill>
              <a:latin typeface="JetBrains Mono"/>
              <a:ea typeface="JetBrains Mono"/>
              <a:cs typeface="JetBrains Mono"/>
              <a:sym typeface="JetBrains Mono"/>
            </a:endParaRPr>
          </a:p>
        </p:txBody>
      </p:sp>
      <p:sp>
        <p:nvSpPr>
          <p:cNvPr id="561" name="Google Shape;561;p24"/>
          <p:cNvSpPr/>
          <p:nvPr/>
        </p:nvSpPr>
        <p:spPr>
          <a:xfrm>
            <a:off x="3676650" y="3747691"/>
            <a:ext cx="222377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0D5DE"/>
              </a:buClr>
              <a:buSzPts val="1200"/>
              <a:buFont typeface="IBM Plex Sans"/>
              <a:buNone/>
            </a:pPr>
            <a:r>
              <a:rPr b="0" i="0" lang="en-US" sz="1200" u="none" cap="none" strike="noStrike">
                <a:solidFill>
                  <a:srgbClr val="D0D5DE"/>
                </a:solidFill>
                <a:latin typeface="IBM Plex Sans"/>
                <a:ea typeface="IBM Plex Sans"/>
                <a:cs typeface="IBM Plex Sans"/>
                <a:sym typeface="IBM Plex Sans"/>
              </a:rPr>
              <a:t>Apre la connessione e legge "ciao" da System.in.</a:t>
            </a:r>
            <a:endParaRPr b="0" i="0" sz="1200" u="none" cap="none" strike="noStrike">
              <a:solidFill>
                <a:schemeClr val="lt1"/>
              </a:solidFill>
              <a:latin typeface="JetBrains Mono"/>
              <a:ea typeface="JetBrains Mono"/>
              <a:cs typeface="JetBrains Mono"/>
              <a:sym typeface="JetBrains Mono"/>
            </a:endParaRPr>
          </a:p>
        </p:txBody>
      </p:sp>
      <p:sp>
        <p:nvSpPr>
          <p:cNvPr id="562" name="Google Shape;562;p24"/>
          <p:cNvSpPr/>
          <p:nvPr/>
        </p:nvSpPr>
        <p:spPr>
          <a:xfrm>
            <a:off x="6175375" y="3327995"/>
            <a:ext cx="2520950" cy="1001911"/>
          </a:xfrm>
          <a:prstGeom prst="roundRect">
            <a:avLst>
              <a:gd fmla="val 9824" name="adj"/>
            </a:avLst>
          </a:prstGeom>
          <a:solidFill>
            <a:srgbClr val="2E1D12"/>
          </a:solidFill>
          <a:ln cap="flat" cmpd="sng" w="9525">
            <a:solidFill>
              <a:srgbClr val="6B3F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4"/>
          <p:cNvSpPr/>
          <p:nvPr/>
        </p:nvSpPr>
        <p:spPr>
          <a:xfrm>
            <a:off x="6356350" y="3483570"/>
            <a:ext cx="22237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1" i="0" lang="en-US" sz="1200" u="none" cap="none" strike="noStrike">
                <a:solidFill>
                  <a:srgbClr val="FF9A5C"/>
                </a:solidFill>
                <a:latin typeface="JetBrains Mono"/>
                <a:ea typeface="JetBrains Mono"/>
                <a:cs typeface="JetBrains Mono"/>
                <a:sym typeface="JetBrains Mono"/>
              </a:rPr>
              <a:t>3 · Server</a:t>
            </a:r>
            <a:endParaRPr b="0" i="0" sz="1200" u="none" cap="none" strike="noStrike">
              <a:solidFill>
                <a:schemeClr val="lt1"/>
              </a:solidFill>
              <a:latin typeface="JetBrains Mono"/>
              <a:ea typeface="JetBrains Mono"/>
              <a:cs typeface="JetBrains Mono"/>
              <a:sym typeface="JetBrains Mono"/>
            </a:endParaRPr>
          </a:p>
        </p:txBody>
      </p:sp>
      <p:sp>
        <p:nvSpPr>
          <p:cNvPr id="564" name="Google Shape;564;p24"/>
          <p:cNvSpPr/>
          <p:nvPr/>
        </p:nvSpPr>
        <p:spPr>
          <a:xfrm>
            <a:off x="6356350" y="3747691"/>
            <a:ext cx="222377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0D5DE"/>
              </a:buClr>
              <a:buSzPts val="1200"/>
              <a:buFont typeface="IBM Plex Sans"/>
              <a:buNone/>
            </a:pPr>
            <a:r>
              <a:rPr b="0" i="0" lang="en-US" sz="1200" u="none" cap="none" strike="noStrike">
                <a:solidFill>
                  <a:srgbClr val="D0D5DE"/>
                </a:solidFill>
                <a:latin typeface="IBM Plex Sans"/>
                <a:ea typeface="IBM Plex Sans"/>
                <a:cs typeface="IBM Plex Sans"/>
                <a:sym typeface="IBM Plex Sans"/>
              </a:rPr>
              <a:t>Riceve "ciao", applica toUpperCase() e invia "CIAO".</a:t>
            </a:r>
            <a:endParaRPr b="0" i="0" sz="1200" u="none" cap="none" strike="noStrike">
              <a:solidFill>
                <a:schemeClr val="lt1"/>
              </a:solidFill>
              <a:latin typeface="JetBrains Mono"/>
              <a:ea typeface="JetBrains Mono"/>
              <a:cs typeface="JetBrains Mono"/>
              <a:sym typeface="JetBrains Mono"/>
            </a:endParaRPr>
          </a:p>
        </p:txBody>
      </p:sp>
      <p:sp>
        <p:nvSpPr>
          <p:cNvPr id="565" name="Google Shape;565;p24"/>
          <p:cNvSpPr/>
          <p:nvPr/>
        </p:nvSpPr>
        <p:spPr>
          <a:xfrm>
            <a:off x="8855075" y="3327995"/>
            <a:ext cx="2520950" cy="1001911"/>
          </a:xfrm>
          <a:prstGeom prst="roundRect">
            <a:avLst>
              <a:gd fmla="val 9824" name="adj"/>
            </a:avLst>
          </a:prstGeom>
          <a:solidFill>
            <a:srgbClr val="14233F"/>
          </a:solidFill>
          <a:ln cap="flat" cmpd="sng" w="9525">
            <a:solidFill>
              <a:srgbClr val="2C4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4"/>
          <p:cNvSpPr/>
          <p:nvPr/>
        </p:nvSpPr>
        <p:spPr>
          <a:xfrm>
            <a:off x="9036050" y="3483570"/>
            <a:ext cx="222377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FB2FF"/>
              </a:buClr>
              <a:buSzPts val="1200"/>
              <a:buFont typeface="JetBrains Mono"/>
              <a:buNone/>
            </a:pPr>
            <a:r>
              <a:rPr b="1" i="0" lang="en-US" sz="1200" u="none" cap="none" strike="noStrike">
                <a:solidFill>
                  <a:srgbClr val="7FB2FF"/>
                </a:solidFill>
                <a:latin typeface="JetBrains Mono"/>
                <a:ea typeface="JetBrains Mono"/>
                <a:cs typeface="JetBrains Mono"/>
                <a:sym typeface="JetBrains Mono"/>
              </a:rPr>
              <a:t>4 · Client</a:t>
            </a:r>
            <a:endParaRPr b="0" i="0" sz="1200" u="none" cap="none" strike="noStrike">
              <a:solidFill>
                <a:schemeClr val="lt1"/>
              </a:solidFill>
              <a:latin typeface="JetBrains Mono"/>
              <a:ea typeface="JetBrains Mono"/>
              <a:cs typeface="JetBrains Mono"/>
              <a:sym typeface="JetBrains Mono"/>
            </a:endParaRPr>
          </a:p>
        </p:txBody>
      </p:sp>
      <p:sp>
        <p:nvSpPr>
          <p:cNvPr id="567" name="Google Shape;567;p24"/>
          <p:cNvSpPr/>
          <p:nvPr/>
        </p:nvSpPr>
        <p:spPr>
          <a:xfrm>
            <a:off x="9036050" y="3747691"/>
            <a:ext cx="222377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0D5DE"/>
              </a:buClr>
              <a:buSzPts val="1200"/>
              <a:buFont typeface="IBM Plex Sans"/>
              <a:buNone/>
            </a:pPr>
            <a:r>
              <a:rPr b="0" i="0" lang="en-US" sz="1200" u="none" cap="none" strike="noStrike">
                <a:solidFill>
                  <a:srgbClr val="D0D5DE"/>
                </a:solidFill>
                <a:latin typeface="IBM Plex Sans"/>
                <a:ea typeface="IBM Plex Sans"/>
                <a:cs typeface="IBM Plex Sans"/>
                <a:sym typeface="IBM Plex Sans"/>
              </a:rPr>
              <a:t>Riceve e stampa la risposta. Entrambi chiudono il socket.</a:t>
            </a:r>
            <a:endParaRPr b="0" i="0" sz="1200" u="none" cap="none" strike="noStrike">
              <a:solidFill>
                <a:schemeClr val="lt1"/>
              </a:solidFill>
              <a:latin typeface="JetBrains Mono"/>
              <a:ea typeface="JetBrains Mono"/>
              <a:cs typeface="JetBrains Mono"/>
              <a:sym typeface="JetBrains Mono"/>
            </a:endParaRPr>
          </a:p>
        </p:txBody>
      </p:sp>
      <p:sp>
        <p:nvSpPr>
          <p:cNvPr id="568" name="Google Shape;568;p24"/>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569" name="Google Shape;569;p24"/>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24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FE6"/>
        </a:solidFill>
      </p:bgPr>
    </p:bg>
    <p:spTree>
      <p:nvGrpSpPr>
        <p:cNvPr id="574" name="Shape 574"/>
        <p:cNvGrpSpPr/>
        <p:nvPr/>
      </p:nvGrpSpPr>
      <p:grpSpPr>
        <a:xfrm>
          <a:off x="0" y="0"/>
          <a:ext cx="0" cy="0"/>
          <a:chOff x="0" y="0"/>
          <a:chExt cx="0" cy="0"/>
        </a:xfrm>
      </p:grpSpPr>
      <p:sp>
        <p:nvSpPr>
          <p:cNvPr id="575" name="Google Shape;575;p2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470F"/>
              </a:buClr>
              <a:buSzPts val="1200"/>
              <a:buFont typeface="JetBrains Mono"/>
              <a:buNone/>
            </a:pPr>
            <a:r>
              <a:rPr b="1" i="0" lang="en-US" sz="1200" u="none" cap="none" strike="noStrike">
                <a:solidFill>
                  <a:srgbClr val="B4470F"/>
                </a:solidFill>
                <a:latin typeface="JetBrains Mono"/>
                <a:ea typeface="JetBrains Mono"/>
                <a:cs typeface="JetBrains Mono"/>
                <a:sym typeface="JetBrains Mono"/>
              </a:rPr>
              <a:t>05 · L'AVVIO</a:t>
            </a:r>
            <a:endParaRPr b="0" i="0" sz="1200" u="none" cap="none" strike="noStrike">
              <a:solidFill>
                <a:schemeClr val="lt1"/>
              </a:solidFill>
              <a:latin typeface="JetBrains Mono"/>
              <a:ea typeface="JetBrains Mono"/>
              <a:cs typeface="JetBrains Mono"/>
              <a:sym typeface="JetBrains Mono"/>
            </a:endParaRPr>
          </a:p>
        </p:txBody>
      </p:sp>
      <p:sp>
        <p:nvSpPr>
          <p:cNvPr id="576" name="Google Shape;576;p25"/>
          <p:cNvSpPr txBox="1"/>
          <p:nvPr>
            <p:ph type="title"/>
          </p:nvPr>
        </p:nvSpPr>
        <p:spPr>
          <a:xfrm>
            <a:off x="812800" y="2134890"/>
            <a:ext cx="10883392" cy="2006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141A24"/>
              </a:buClr>
              <a:buSzPts val="7800"/>
              <a:buFont typeface="IBM Plex Sans"/>
              <a:buNone/>
            </a:pPr>
            <a:r>
              <a:rPr b="1" i="0" lang="en-US" sz="7800">
                <a:solidFill>
                  <a:srgbClr val="141A24"/>
                </a:solidFill>
                <a:latin typeface="IBM Plex Sans"/>
                <a:ea typeface="IBM Plex Sans"/>
                <a:cs typeface="IBM Plex Sans"/>
                <a:sym typeface="IBM Plex Sans"/>
              </a:rPr>
              <a:t>Prima il </a:t>
            </a:r>
            <a:r>
              <a:rPr b="1" i="0" lang="en-US" sz="7800">
                <a:solidFill>
                  <a:srgbClr val="B4470F"/>
                </a:solidFill>
                <a:latin typeface="IBM Plex Sans"/>
                <a:ea typeface="IBM Plex Sans"/>
                <a:cs typeface="IBM Plex Sans"/>
                <a:sym typeface="IBM Plex Sans"/>
              </a:rPr>
              <a:t>server</a:t>
            </a:r>
            <a:r>
              <a:rPr b="1" i="0" lang="en-US" sz="7800">
                <a:solidFill>
                  <a:srgbClr val="141A24"/>
                </a:solidFill>
                <a:latin typeface="IBM Plex Sans"/>
                <a:ea typeface="IBM Plex Sans"/>
                <a:cs typeface="IBM Plex Sans"/>
                <a:sym typeface="IBM Plex Sans"/>
              </a:rPr>
              <a:t>.</a:t>
            </a:r>
            <a:endParaRPr sz="7800"/>
          </a:p>
          <a:p>
            <a:pPr indent="0" lvl="0" marL="0" rtl="0" algn="l">
              <a:lnSpc>
                <a:spcPct val="100000"/>
              </a:lnSpc>
              <a:spcBef>
                <a:spcPts val="0"/>
              </a:spcBef>
              <a:spcAft>
                <a:spcPts val="0"/>
              </a:spcAft>
              <a:buClr>
                <a:srgbClr val="141A24"/>
              </a:buClr>
              <a:buSzPts val="7800"/>
              <a:buFont typeface="IBM Plex Sans"/>
              <a:buNone/>
            </a:pPr>
            <a:r>
              <a:rPr b="1" i="0" lang="en-US" sz="7800">
                <a:solidFill>
                  <a:srgbClr val="141A24"/>
                </a:solidFill>
                <a:latin typeface="IBM Plex Sans"/>
                <a:ea typeface="IBM Plex Sans"/>
                <a:cs typeface="IBM Plex Sans"/>
                <a:sym typeface="IBM Plex Sans"/>
              </a:rPr>
              <a:t>Poi il </a:t>
            </a:r>
            <a:r>
              <a:rPr b="1" i="0" lang="en-US" sz="7800">
                <a:solidFill>
                  <a:srgbClr val="2563C9"/>
                </a:solidFill>
                <a:latin typeface="IBM Plex Sans"/>
                <a:ea typeface="IBM Plex Sans"/>
                <a:cs typeface="IBM Plex Sans"/>
                <a:sym typeface="IBM Plex Sans"/>
              </a:rPr>
              <a:t>client</a:t>
            </a:r>
            <a:r>
              <a:rPr b="1" i="0" lang="en-US" sz="7800">
                <a:solidFill>
                  <a:srgbClr val="141A24"/>
                </a:solidFill>
                <a:latin typeface="IBM Plex Sans"/>
                <a:ea typeface="IBM Plex Sans"/>
                <a:cs typeface="IBM Plex Sans"/>
                <a:sym typeface="IBM Plex Sans"/>
              </a:rPr>
              <a:t>.</a:t>
            </a:r>
            <a:endParaRPr sz="7800"/>
          </a:p>
        </p:txBody>
      </p:sp>
      <p:sp>
        <p:nvSpPr>
          <p:cNvPr id="577" name="Google Shape;577;p25"/>
          <p:cNvSpPr/>
          <p:nvPr/>
        </p:nvSpPr>
        <p:spPr>
          <a:xfrm>
            <a:off x="812800" y="5224859"/>
            <a:ext cx="9156700" cy="64254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A4250"/>
              </a:buClr>
              <a:buSzPts val="1800"/>
              <a:buFont typeface="IBM Plex Sans"/>
              <a:buNone/>
            </a:pPr>
            <a:r>
              <a:rPr b="0" i="0" lang="en-US" sz="1800" u="none" cap="none" strike="noStrike">
                <a:solidFill>
                  <a:srgbClr val="3A4250"/>
                </a:solidFill>
                <a:latin typeface="IBM Plex Sans"/>
                <a:ea typeface="IBM Plex Sans"/>
                <a:cs typeface="IBM Plex Sans"/>
                <a:sym typeface="IBM Plex Sans"/>
              </a:rPr>
              <a:t>Senza un ServerSocket in ascolto sulla porta, new Socket() lancia una ConnectException: "Connection refused".</a:t>
            </a:r>
            <a:endParaRPr b="0" i="0" sz="1800" u="none" cap="none" strike="noStrike">
              <a:solidFill>
                <a:schemeClr val="lt1"/>
              </a:solidFill>
              <a:latin typeface="JetBrains Mono"/>
              <a:ea typeface="JetBrains Mono"/>
              <a:cs typeface="JetBrains Mono"/>
              <a:sym typeface="JetBrains Mono"/>
            </a:endParaRPr>
          </a:p>
        </p:txBody>
      </p:sp>
      <p:sp>
        <p:nvSpPr>
          <p:cNvPr id="578" name="Google Shape;578;p25"/>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F6673"/>
              </a:buClr>
              <a:buSzPts val="1200"/>
              <a:buFont typeface="JetBrains Mono"/>
              <a:buNone/>
            </a:pPr>
            <a:r>
              <a:rPr b="0" i="0" lang="en-US" sz="1200" u="none" cap="none" strike="noStrike">
                <a:solidFill>
                  <a:srgbClr val="5F6673"/>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579" name="Google Shape;579;p25"/>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F6673"/>
              </a:buClr>
              <a:buSzPts val="1200"/>
              <a:buFont typeface="JetBrains Mono"/>
              <a:buNone/>
            </a:pPr>
            <a:r>
              <a:rPr b="0" i="0" lang="en-US" sz="1200" u="none" cap="none" strike="noStrike">
                <a:solidFill>
                  <a:srgbClr val="5F6673"/>
                </a:solidFill>
                <a:latin typeface="JetBrains Mono"/>
                <a:ea typeface="JetBrains Mono"/>
                <a:cs typeface="JetBrains Mono"/>
                <a:sym typeface="JetBrains Mono"/>
              </a:rPr>
              <a:t>25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320"/>
        </a:solidFill>
      </p:bgPr>
    </p:bg>
    <p:spTree>
      <p:nvGrpSpPr>
        <p:cNvPr id="584" name="Shape 584"/>
        <p:cNvGrpSpPr/>
        <p:nvPr/>
      </p:nvGrpSpPr>
      <p:grpSpPr>
        <a:xfrm>
          <a:off x="0" y="0"/>
          <a:ext cx="0" cy="0"/>
          <a:chOff x="0" y="0"/>
          <a:chExt cx="0" cy="0"/>
        </a:xfrm>
      </p:grpSpPr>
      <p:sp>
        <p:nvSpPr>
          <p:cNvPr id="585" name="Google Shape;585;p2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9A5C"/>
              </a:buClr>
              <a:buSzPts val="1200"/>
              <a:buFont typeface="JetBrains Mono"/>
              <a:buNone/>
            </a:pPr>
            <a:r>
              <a:rPr b="0" i="0" lang="en-US" sz="1200" u="none" cap="none" strike="noStrike">
                <a:solidFill>
                  <a:srgbClr val="FF9A5C"/>
                </a:solidFill>
                <a:latin typeface="JetBrains Mono"/>
                <a:ea typeface="JetBrains Mono"/>
                <a:cs typeface="JetBrains Mono"/>
                <a:sym typeface="JetBrains Mono"/>
              </a:rPr>
              <a:t>IN CHIUSURA</a:t>
            </a:r>
            <a:endParaRPr b="0" i="0" sz="1200" u="none" cap="none" strike="noStrike">
              <a:solidFill>
                <a:schemeClr val="lt1"/>
              </a:solidFill>
              <a:latin typeface="JetBrains Mono"/>
              <a:ea typeface="JetBrains Mono"/>
              <a:cs typeface="JetBrains Mono"/>
              <a:sym typeface="JetBrains Mono"/>
            </a:endParaRPr>
          </a:p>
        </p:txBody>
      </p:sp>
      <p:sp>
        <p:nvSpPr>
          <p:cNvPr id="586" name="Google Shape;586;p26"/>
          <p:cNvSpPr txBox="1"/>
          <p:nvPr>
            <p:ph type="title"/>
          </p:nvPr>
        </p:nvSpPr>
        <p:spPr>
          <a:xfrm>
            <a:off x="812800" y="11023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2EFE6"/>
              </a:buClr>
              <a:buSzPts val="3000"/>
              <a:buFont typeface="IBM Plex Sans"/>
              <a:buNone/>
            </a:pPr>
            <a:r>
              <a:rPr b="1" i="0" lang="en-US" sz="3000">
                <a:solidFill>
                  <a:srgbClr val="F2EFE6"/>
                </a:solidFill>
                <a:latin typeface="IBM Plex Sans"/>
                <a:ea typeface="IBM Plex Sans"/>
                <a:cs typeface="IBM Plex Sans"/>
                <a:sym typeface="IBM Plex Sans"/>
              </a:rPr>
              <a:t>Tre cose da non dimenticare</a:t>
            </a:r>
            <a:endParaRPr sz="3000"/>
          </a:p>
        </p:txBody>
      </p:sp>
      <p:sp>
        <p:nvSpPr>
          <p:cNvPr id="587" name="Google Shape;587;p26"/>
          <p:cNvSpPr/>
          <p:nvPr/>
        </p:nvSpPr>
        <p:spPr>
          <a:xfrm>
            <a:off x="812800" y="2667050"/>
            <a:ext cx="3418484" cy="1041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FB2FF"/>
              </a:buClr>
              <a:buSzPts val="8000"/>
              <a:buFont typeface="JetBrains Mono"/>
              <a:buNone/>
            </a:pPr>
            <a:r>
              <a:rPr b="1" i="0" lang="en-US" sz="8000" u="none" cap="none" strike="noStrike">
                <a:solidFill>
                  <a:srgbClr val="7FB2FF"/>
                </a:solidFill>
                <a:latin typeface="JetBrains Mono"/>
                <a:ea typeface="JetBrains Mono"/>
                <a:cs typeface="JetBrains Mono"/>
                <a:sym typeface="JetBrains Mono"/>
              </a:rPr>
              <a:t>1</a:t>
            </a:r>
            <a:endParaRPr b="0" i="0" sz="8000" u="none" cap="none" strike="noStrike">
              <a:solidFill>
                <a:schemeClr val="lt1"/>
              </a:solidFill>
              <a:latin typeface="JetBrains Mono"/>
              <a:ea typeface="JetBrains Mono"/>
              <a:cs typeface="JetBrains Mono"/>
              <a:sym typeface="JetBrains Mono"/>
            </a:endParaRPr>
          </a:p>
        </p:txBody>
      </p:sp>
      <p:sp>
        <p:nvSpPr>
          <p:cNvPr id="588" name="Google Shape;588;p26"/>
          <p:cNvSpPr/>
          <p:nvPr/>
        </p:nvSpPr>
        <p:spPr>
          <a:xfrm>
            <a:off x="812800" y="3784650"/>
            <a:ext cx="3418484" cy="34667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2EFE6"/>
              </a:buClr>
              <a:buSzPts val="2200"/>
              <a:buFont typeface="IBM Plex Sans"/>
              <a:buNone/>
            </a:pPr>
            <a:r>
              <a:rPr b="1" i="0" lang="en-US" sz="2200" u="none" cap="none" strike="noStrike">
                <a:solidFill>
                  <a:srgbClr val="F2EFE6"/>
                </a:solidFill>
                <a:latin typeface="IBM Plex Sans"/>
                <a:ea typeface="IBM Plex Sans"/>
                <a:cs typeface="IBM Plex Sans"/>
                <a:sym typeface="IBM Plex Sans"/>
              </a:rPr>
              <a:t>Stessa porta</a:t>
            </a:r>
            <a:endParaRPr b="0" i="0" sz="2200" u="none" cap="none" strike="noStrike">
              <a:solidFill>
                <a:schemeClr val="lt1"/>
              </a:solidFill>
              <a:latin typeface="JetBrains Mono"/>
              <a:ea typeface="JetBrains Mono"/>
              <a:cs typeface="JetBrains Mono"/>
              <a:sym typeface="JetBrains Mono"/>
            </a:endParaRPr>
          </a:p>
        </p:txBody>
      </p:sp>
      <p:sp>
        <p:nvSpPr>
          <p:cNvPr id="589" name="Google Shape;589;p26"/>
          <p:cNvSpPr/>
          <p:nvPr/>
        </p:nvSpPr>
        <p:spPr>
          <a:xfrm>
            <a:off x="812800" y="4207520"/>
            <a:ext cx="3418484"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AEB6C4"/>
              </a:buClr>
              <a:buSzPts val="1400"/>
              <a:buFont typeface="IBM Plex Sans"/>
              <a:buNone/>
            </a:pPr>
            <a:r>
              <a:rPr b="0" i="0" lang="en-US" sz="1400" u="none" cap="none" strike="noStrike">
                <a:solidFill>
                  <a:srgbClr val="AEB6C4"/>
                </a:solidFill>
                <a:latin typeface="IBM Plex Sans"/>
                <a:ea typeface="IBM Plex Sans"/>
                <a:cs typeface="IBM Plex Sans"/>
                <a:sym typeface="IBM Plex Sans"/>
              </a:rPr>
              <a:t>Identica nel client e nel server.</a:t>
            </a:r>
            <a:endParaRPr b="0" i="0" sz="1400" u="none" cap="none" strike="noStrike">
              <a:solidFill>
                <a:schemeClr val="lt1"/>
              </a:solidFill>
              <a:latin typeface="JetBrains Mono"/>
              <a:ea typeface="JetBrains Mono"/>
              <a:cs typeface="JetBrains Mono"/>
              <a:sym typeface="JetBrains Mono"/>
            </a:endParaRPr>
          </a:p>
        </p:txBody>
      </p:sp>
      <p:sp>
        <p:nvSpPr>
          <p:cNvPr id="590" name="Google Shape;590;p26"/>
          <p:cNvSpPr/>
          <p:nvPr/>
        </p:nvSpPr>
        <p:spPr>
          <a:xfrm>
            <a:off x="4436517" y="2667050"/>
            <a:ext cx="3418484" cy="1041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9FD89A"/>
              </a:buClr>
              <a:buSzPts val="8000"/>
              <a:buFont typeface="JetBrains Mono"/>
              <a:buNone/>
            </a:pPr>
            <a:r>
              <a:rPr b="1" i="0" lang="en-US" sz="8000" u="none" cap="none" strike="noStrike">
                <a:solidFill>
                  <a:srgbClr val="9FD89A"/>
                </a:solidFill>
                <a:latin typeface="JetBrains Mono"/>
                <a:ea typeface="JetBrains Mono"/>
                <a:cs typeface="JetBrains Mono"/>
                <a:sym typeface="JetBrains Mono"/>
              </a:rPr>
              <a:t>2</a:t>
            </a:r>
            <a:endParaRPr b="0" i="0" sz="8000" u="none" cap="none" strike="noStrike">
              <a:solidFill>
                <a:schemeClr val="lt1"/>
              </a:solidFill>
              <a:latin typeface="JetBrains Mono"/>
              <a:ea typeface="JetBrains Mono"/>
              <a:cs typeface="JetBrains Mono"/>
              <a:sym typeface="JetBrains Mono"/>
            </a:endParaRPr>
          </a:p>
        </p:txBody>
      </p:sp>
      <p:sp>
        <p:nvSpPr>
          <p:cNvPr id="591" name="Google Shape;591;p26"/>
          <p:cNvSpPr/>
          <p:nvPr/>
        </p:nvSpPr>
        <p:spPr>
          <a:xfrm>
            <a:off x="4436517" y="3784650"/>
            <a:ext cx="3418484" cy="34667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2EFE6"/>
              </a:buClr>
              <a:buSzPts val="2200"/>
              <a:buFont typeface="IBM Plex Sans"/>
              <a:buNone/>
            </a:pPr>
            <a:r>
              <a:rPr b="1" i="0" lang="en-US" sz="2200" u="none" cap="none" strike="noStrike">
                <a:solidFill>
                  <a:srgbClr val="F2EFE6"/>
                </a:solidFill>
                <a:latin typeface="IBM Plex Sans"/>
                <a:ea typeface="IBM Plex Sans"/>
                <a:cs typeface="IBM Plex Sans"/>
                <a:sym typeface="IBM Plex Sans"/>
              </a:rPr>
              <a:t>"\n" in fondo</a:t>
            </a:r>
            <a:endParaRPr b="0" i="0" sz="2200" u="none" cap="none" strike="noStrike">
              <a:solidFill>
                <a:schemeClr val="lt1"/>
              </a:solidFill>
              <a:latin typeface="JetBrains Mono"/>
              <a:ea typeface="JetBrains Mono"/>
              <a:cs typeface="JetBrains Mono"/>
              <a:sym typeface="JetBrains Mono"/>
            </a:endParaRPr>
          </a:p>
        </p:txBody>
      </p:sp>
      <p:sp>
        <p:nvSpPr>
          <p:cNvPr id="592" name="Google Shape;592;p26"/>
          <p:cNvSpPr/>
          <p:nvPr/>
        </p:nvSpPr>
        <p:spPr>
          <a:xfrm>
            <a:off x="4436517" y="4207520"/>
            <a:ext cx="3418484"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AEB6C4"/>
              </a:buClr>
              <a:buSzPts val="1400"/>
              <a:buFont typeface="IBM Plex Sans"/>
              <a:buNone/>
            </a:pPr>
            <a:r>
              <a:rPr b="0" i="0" lang="en-US" sz="1400" u="none" cap="none" strike="noStrike">
                <a:solidFill>
                  <a:srgbClr val="AEB6C4"/>
                </a:solidFill>
                <a:latin typeface="IBM Plex Sans"/>
                <a:ea typeface="IBM Plex Sans"/>
                <a:cs typeface="IBM Plex Sans"/>
                <a:sym typeface="IBM Plex Sans"/>
              </a:rPr>
              <a:t>Terminatore di ogni messaggio.</a:t>
            </a:r>
            <a:endParaRPr b="0" i="0" sz="1400" u="none" cap="none" strike="noStrike">
              <a:solidFill>
                <a:schemeClr val="lt1"/>
              </a:solidFill>
              <a:latin typeface="JetBrains Mono"/>
              <a:ea typeface="JetBrains Mono"/>
              <a:cs typeface="JetBrains Mono"/>
              <a:sym typeface="JetBrains Mono"/>
            </a:endParaRPr>
          </a:p>
        </p:txBody>
      </p:sp>
      <p:sp>
        <p:nvSpPr>
          <p:cNvPr id="593" name="Google Shape;593;p26"/>
          <p:cNvSpPr/>
          <p:nvPr/>
        </p:nvSpPr>
        <p:spPr>
          <a:xfrm>
            <a:off x="8060234" y="2667050"/>
            <a:ext cx="3418535" cy="1041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F9A5C"/>
              </a:buClr>
              <a:buSzPts val="8000"/>
              <a:buFont typeface="JetBrains Mono"/>
              <a:buNone/>
            </a:pPr>
            <a:r>
              <a:rPr b="1" i="0" lang="en-US" sz="8000" u="none" cap="none" strike="noStrike">
                <a:solidFill>
                  <a:srgbClr val="FF9A5C"/>
                </a:solidFill>
                <a:latin typeface="JetBrains Mono"/>
                <a:ea typeface="JetBrains Mono"/>
                <a:cs typeface="JetBrains Mono"/>
                <a:sym typeface="JetBrains Mono"/>
              </a:rPr>
              <a:t>3</a:t>
            </a:r>
            <a:endParaRPr b="0" i="0" sz="8000" u="none" cap="none" strike="noStrike">
              <a:solidFill>
                <a:schemeClr val="lt1"/>
              </a:solidFill>
              <a:latin typeface="JetBrains Mono"/>
              <a:ea typeface="JetBrains Mono"/>
              <a:cs typeface="JetBrains Mono"/>
              <a:sym typeface="JetBrains Mono"/>
            </a:endParaRPr>
          </a:p>
        </p:txBody>
      </p:sp>
      <p:sp>
        <p:nvSpPr>
          <p:cNvPr id="594" name="Google Shape;594;p26"/>
          <p:cNvSpPr/>
          <p:nvPr/>
        </p:nvSpPr>
        <p:spPr>
          <a:xfrm>
            <a:off x="8060234" y="3784650"/>
            <a:ext cx="3418535" cy="34667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F2EFE6"/>
              </a:buClr>
              <a:buSzPts val="2200"/>
              <a:buFont typeface="IBM Plex Sans"/>
              <a:buNone/>
            </a:pPr>
            <a:r>
              <a:rPr b="1" i="0" lang="en-US" sz="2200" u="none" cap="none" strike="noStrike">
                <a:solidFill>
                  <a:srgbClr val="F2EFE6"/>
                </a:solidFill>
                <a:latin typeface="IBM Plex Sans"/>
                <a:ea typeface="IBM Plex Sans"/>
                <a:cs typeface="IBM Plex Sans"/>
                <a:sym typeface="IBM Plex Sans"/>
              </a:rPr>
              <a:t>Server per primo</a:t>
            </a:r>
            <a:endParaRPr b="0" i="0" sz="2200" u="none" cap="none" strike="noStrike">
              <a:solidFill>
                <a:schemeClr val="lt1"/>
              </a:solidFill>
              <a:latin typeface="JetBrains Mono"/>
              <a:ea typeface="JetBrains Mono"/>
              <a:cs typeface="JetBrains Mono"/>
              <a:sym typeface="JetBrains Mono"/>
            </a:endParaRPr>
          </a:p>
        </p:txBody>
      </p:sp>
      <p:sp>
        <p:nvSpPr>
          <p:cNvPr id="595" name="Google Shape;595;p26"/>
          <p:cNvSpPr/>
          <p:nvPr/>
        </p:nvSpPr>
        <p:spPr>
          <a:xfrm>
            <a:off x="8060234" y="4207520"/>
            <a:ext cx="3418535"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AEB6C4"/>
              </a:buClr>
              <a:buSzPts val="1400"/>
              <a:buFont typeface="IBM Plex Sans"/>
              <a:buNone/>
            </a:pPr>
            <a:r>
              <a:rPr b="0" i="0" lang="en-US" sz="1400" u="none" cap="none" strike="noStrike">
                <a:solidFill>
                  <a:srgbClr val="AEB6C4"/>
                </a:solidFill>
                <a:latin typeface="IBM Plex Sans"/>
                <a:ea typeface="IBM Plex Sans"/>
                <a:cs typeface="IBM Plex Sans"/>
                <a:sym typeface="IBM Plex Sans"/>
              </a:rPr>
              <a:t>In ascolto prima dell'avvio del client.</a:t>
            </a:r>
            <a:endParaRPr b="0" i="0" sz="1400" u="none" cap="none" strike="noStrike">
              <a:solidFill>
                <a:schemeClr val="lt1"/>
              </a:solidFill>
              <a:latin typeface="JetBrains Mono"/>
              <a:ea typeface="JetBrains Mono"/>
              <a:cs typeface="JetBrains Mono"/>
              <a:sym typeface="JetBrains Mono"/>
            </a:endParaRPr>
          </a:p>
        </p:txBody>
      </p:sp>
      <p:sp>
        <p:nvSpPr>
          <p:cNvPr id="596" name="Google Shape;596;p26"/>
          <p:cNvSpPr/>
          <p:nvPr/>
        </p:nvSpPr>
        <p:spPr>
          <a:xfrm>
            <a:off x="812800" y="559311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0D5DE"/>
              </a:buClr>
              <a:buSzPts val="1400"/>
              <a:buFont typeface="IBM Plex Sans"/>
              <a:buNone/>
            </a:pPr>
            <a:r>
              <a:rPr b="0" i="0" lang="en-US" sz="1400" u="none" cap="none" strike="noStrike">
                <a:solidFill>
                  <a:srgbClr val="D0D5DE"/>
                </a:solidFill>
                <a:latin typeface="IBM Plex Sans"/>
                <a:ea typeface="IBM Plex Sans"/>
                <a:cs typeface="IBM Plex Sans"/>
                <a:sym typeface="IBM Plex Sans"/>
              </a:rPr>
              <a:t>Il contenuto di comunica(), i metodi e gli attributi sono liberamente modificabili.</a:t>
            </a:r>
            <a:endParaRPr b="0" i="0" sz="1400" u="none" cap="none" strike="noStrike">
              <a:solidFill>
                <a:schemeClr val="lt1"/>
              </a:solidFill>
              <a:latin typeface="JetBrains Mono"/>
              <a:ea typeface="JetBrains Mono"/>
              <a:cs typeface="JetBrains Mono"/>
              <a:sym typeface="JetBrains Mono"/>
            </a:endParaRPr>
          </a:p>
        </p:txBody>
      </p:sp>
      <p:sp>
        <p:nvSpPr>
          <p:cNvPr id="597" name="Google Shape;597;p26"/>
          <p:cNvSpPr/>
          <p:nvPr/>
        </p:nvSpPr>
        <p:spPr>
          <a:xfrm>
            <a:off x="812800" y="6238280"/>
            <a:ext cx="5232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Socket TCP in Java</a:t>
            </a:r>
            <a:endParaRPr b="0" i="0" sz="1200" u="none" cap="none" strike="noStrike">
              <a:solidFill>
                <a:schemeClr val="lt1"/>
              </a:solidFill>
              <a:latin typeface="JetBrains Mono"/>
              <a:ea typeface="JetBrains Mono"/>
              <a:cs typeface="JetBrains Mono"/>
              <a:sym typeface="JetBrains Mono"/>
            </a:endParaRPr>
          </a:p>
        </p:txBody>
      </p:sp>
      <p:sp>
        <p:nvSpPr>
          <p:cNvPr id="598" name="Google Shape;598;p26"/>
          <p:cNvSpPr/>
          <p:nvPr/>
        </p:nvSpPr>
        <p:spPr>
          <a:xfrm>
            <a:off x="10058400" y="6238280"/>
            <a:ext cx="1320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A93A4"/>
              </a:buClr>
              <a:buSzPts val="1200"/>
              <a:buFont typeface="JetBrains Mono"/>
              <a:buNone/>
            </a:pPr>
            <a:r>
              <a:rPr b="0" i="0" lang="en-US" sz="1200" u="none" cap="none" strike="noStrike">
                <a:solidFill>
                  <a:srgbClr val="8A93A4"/>
                </a:solidFill>
                <a:latin typeface="JetBrains Mono"/>
                <a:ea typeface="JetBrains Mono"/>
                <a:cs typeface="JetBrains Mono"/>
                <a:sym typeface="JetBrains Mono"/>
              </a:rPr>
              <a:t>26 / 26</a:t>
            </a:r>
            <a:endParaRPr b="0" i="0" sz="1200" u="none" cap="none" strike="noStrike">
              <a:solidFill>
                <a:schemeClr val="lt1"/>
              </a:solidFill>
              <a:latin typeface="JetBrains Mono"/>
              <a:ea typeface="JetBrains Mono"/>
              <a:cs typeface="JetBrains Mono"/>
              <a:sym typeface="JetBrains Mono"/>
            </a:endParaRPr>
          </a:p>
        </p:txBody>
      </p:sp>
    </p:spTree>
  </p:cSld>
  <p:clrMapOvr>
    <a:masterClrMapping/>
  </p:clrMapOvr>
</p:sld>
</file>

<file path=ppt/theme/theme1.xml><?xml version="1.0" encoding="utf-8"?>
<a:theme xmlns:a="http://schemas.openxmlformats.org/drawingml/2006/main" xmlns:r="http://schemas.openxmlformats.org/officeDocument/2006/relationships" name="Socket TCP in Java">
  <a:themeElements>
    <a:clrScheme name="Socket TCP in Java">
      <a:dk1>
        <a:srgbClr val="0E1320"/>
      </a:dk1>
      <a:lt1>
        <a:srgbClr val="F2EFE6"/>
      </a:lt1>
      <a:dk2>
        <a:srgbClr val="252934"/>
      </a:dk2>
      <a:lt2>
        <a:srgbClr val="B9B8B5"/>
      </a:lt2>
      <a:accent1>
        <a:srgbClr val="FF9A5C"/>
      </a:accent1>
      <a:accent2>
        <a:srgbClr val="7FB2FF"/>
      </a:accent2>
      <a:accent3>
        <a:srgbClr val="2563C9"/>
      </a:accent3>
      <a:accent4>
        <a:srgbClr val="B4470F"/>
      </a:accent4>
      <a:accent5>
        <a:srgbClr val="9FD89A"/>
      </a:accent5>
      <a:accent6>
        <a:srgbClr val="14233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cket TCP in Java">
  <a:themeElements>
    <a:clrScheme name="Socket TCP in Java">
      <a:dk1>
        <a:srgbClr val="0E1320"/>
      </a:dk1>
      <a:lt1>
        <a:srgbClr val="F2EFE6"/>
      </a:lt1>
      <a:dk2>
        <a:srgbClr val="252934"/>
      </a:dk2>
      <a:lt2>
        <a:srgbClr val="B9B8B5"/>
      </a:lt2>
      <a:accent1>
        <a:srgbClr val="FF9A5C"/>
      </a:accent1>
      <a:accent2>
        <a:srgbClr val="7FB2FF"/>
      </a:accent2>
      <a:accent3>
        <a:srgbClr val="2563C9"/>
      </a:accent3>
      <a:accent4>
        <a:srgbClr val="B4470F"/>
      </a:accent4>
      <a:accent5>
        <a:srgbClr val="9FD89A"/>
      </a:accent5>
      <a:accent6>
        <a:srgbClr val="14233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2026-10-11T14:23:01Z</dcterms:created>
</cp:coreProperties>
</file>